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1.xml" ContentType="application/vnd.openxmlformats-officedocument.themeOverr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34"/>
  </p:notesMasterIdLst>
  <p:sldIdLst>
    <p:sldId id="256" r:id="rId2"/>
    <p:sldId id="258" r:id="rId3"/>
    <p:sldId id="283" r:id="rId4"/>
    <p:sldId id="260" r:id="rId5"/>
    <p:sldId id="262" r:id="rId6"/>
    <p:sldId id="261" r:id="rId7"/>
    <p:sldId id="263" r:id="rId8"/>
    <p:sldId id="264" r:id="rId9"/>
    <p:sldId id="265" r:id="rId10"/>
    <p:sldId id="266" r:id="rId11"/>
    <p:sldId id="267" r:id="rId12"/>
    <p:sldId id="268" r:id="rId13"/>
    <p:sldId id="269" r:id="rId14"/>
    <p:sldId id="276" r:id="rId15"/>
    <p:sldId id="270" r:id="rId16"/>
    <p:sldId id="277" r:id="rId17"/>
    <p:sldId id="271" r:id="rId18"/>
    <p:sldId id="279" r:id="rId19"/>
    <p:sldId id="278" r:id="rId20"/>
    <p:sldId id="280" r:id="rId21"/>
    <p:sldId id="281" r:id="rId22"/>
    <p:sldId id="284" r:id="rId23"/>
    <p:sldId id="272" r:id="rId24"/>
    <p:sldId id="282" r:id="rId25"/>
    <p:sldId id="273" r:id="rId26"/>
    <p:sldId id="285" r:id="rId27"/>
    <p:sldId id="286" r:id="rId28"/>
    <p:sldId id="274" r:id="rId29"/>
    <p:sldId id="287" r:id="rId30"/>
    <p:sldId id="288" r:id="rId31"/>
    <p:sldId id="275" r:id="rId32"/>
    <p:sldId id="289"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CC"/>
    <a:srgbClr val="FFFF00"/>
    <a:srgbClr val="12485F"/>
    <a:srgbClr val="0402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01" autoAdjust="0"/>
    <p:restoredTop sz="94660"/>
  </p:normalViewPr>
  <p:slideViewPr>
    <p:cSldViewPr>
      <p:cViewPr varScale="1">
        <p:scale>
          <a:sx n="84" d="100"/>
          <a:sy n="84" d="100"/>
        </p:scale>
        <p:origin x="720" y="96"/>
      </p:cViewPr>
      <p:guideLst>
        <p:guide orient="horz" pos="2160"/>
        <p:guide pos="3840"/>
      </p:guideLst>
    </p:cSldViewPr>
  </p:slideViewPr>
  <p:notesTextViewPr>
    <p:cViewPr>
      <p:scale>
        <a:sx n="1" d="1"/>
        <a:sy n="1" d="1"/>
      </p:scale>
      <p:origin x="0" y="0"/>
    </p:cViewPr>
  </p:notesTextViewPr>
  <p:gridSpacing cx="64801" cy="64801"/>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F30100-54DF-4354-965B-BB1C056A0D6F}" type="datetimeFigureOut">
              <a:rPr lang="es-MX" smtClean="0"/>
              <a:t>05/11/2025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55D153-7C9E-41AC-B19C-C27435611925}" type="slidenum">
              <a:rPr lang="es-MX" smtClean="0"/>
              <a:t>‹Nº›</a:t>
            </a:fld>
            <a:endParaRPr lang="es-MX"/>
          </a:p>
        </p:txBody>
      </p:sp>
    </p:spTree>
    <p:extLst>
      <p:ext uri="{BB962C8B-B14F-4D97-AF65-F5344CB8AC3E}">
        <p14:creationId xmlns:p14="http://schemas.microsoft.com/office/powerpoint/2010/main" val="1517517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fld id="{8755D153-7C9E-41AC-B19C-C27435611925}" type="slidenum">
              <a:rPr lang="es-MX" smtClean="0"/>
              <a:t>8</a:t>
            </a:fld>
            <a:endParaRPr lang="es-MX"/>
          </a:p>
        </p:txBody>
      </p:sp>
    </p:spTree>
    <p:extLst>
      <p:ext uri="{BB962C8B-B14F-4D97-AF65-F5344CB8AC3E}">
        <p14:creationId xmlns:p14="http://schemas.microsoft.com/office/powerpoint/2010/main" val="20545023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fld id="{8755D153-7C9E-41AC-B19C-C27435611925}" type="slidenum">
              <a:rPr lang="es-MX" smtClean="0"/>
              <a:t>13</a:t>
            </a:fld>
            <a:endParaRPr lang="es-MX"/>
          </a:p>
        </p:txBody>
      </p:sp>
    </p:spTree>
    <p:extLst>
      <p:ext uri="{BB962C8B-B14F-4D97-AF65-F5344CB8AC3E}">
        <p14:creationId xmlns:p14="http://schemas.microsoft.com/office/powerpoint/2010/main" val="7999987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fld id="{8755D153-7C9E-41AC-B19C-C27435611925}" type="slidenum">
              <a:rPr lang="es-MX" smtClean="0"/>
              <a:t>23</a:t>
            </a:fld>
            <a:endParaRPr lang="es-MX"/>
          </a:p>
        </p:txBody>
      </p:sp>
    </p:spTree>
    <p:extLst>
      <p:ext uri="{BB962C8B-B14F-4D97-AF65-F5344CB8AC3E}">
        <p14:creationId xmlns:p14="http://schemas.microsoft.com/office/powerpoint/2010/main" val="33174770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7" name="Date Placeholder 6"/>
          <p:cNvSpPr>
            <a:spLocks noGrp="1"/>
          </p:cNvSpPr>
          <p:nvPr>
            <p:ph type="dt" sz="half" idx="10"/>
          </p:nvPr>
        </p:nvSpPr>
        <p:spPr/>
        <p:txBody>
          <a:bodyPr/>
          <a:lstStyle/>
          <a:p>
            <a:fld id="{C907AD00-24D9-4D2B-B983-B0DB44DB9A4B}" type="datetimeFigureOut">
              <a:rPr lang="es-MX" smtClean="0"/>
              <a:t>05/11/2025</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F5E92AB2-0618-400D-8557-41098000F286}" type="slidenum">
              <a:rPr lang="es-MX" smtClean="0"/>
              <a:t>‹Nº›</a:t>
            </a:fld>
            <a:endParaRPr lang="es-MX"/>
          </a:p>
        </p:txBody>
      </p:sp>
    </p:spTree>
    <p:extLst>
      <p:ext uri="{BB962C8B-B14F-4D97-AF65-F5344CB8AC3E}">
        <p14:creationId xmlns:p14="http://schemas.microsoft.com/office/powerpoint/2010/main" val="11336558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907AD00-24D9-4D2B-B983-B0DB44DB9A4B}" type="datetimeFigureOut">
              <a:rPr lang="es-MX" smtClean="0"/>
              <a:t>05/11/2025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F5E92AB2-0618-400D-8557-41098000F286}" type="slidenum">
              <a:rPr lang="es-MX" smtClean="0"/>
              <a:t>‹Nº›</a:t>
            </a:fld>
            <a:endParaRPr lang="es-MX"/>
          </a:p>
        </p:txBody>
      </p:sp>
    </p:spTree>
    <p:extLst>
      <p:ext uri="{BB962C8B-B14F-4D97-AF65-F5344CB8AC3E}">
        <p14:creationId xmlns:p14="http://schemas.microsoft.com/office/powerpoint/2010/main" val="35084074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s-ES"/>
              <a:t>Haga clic para modificar el estilo de título del patrón</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C907AD00-24D9-4D2B-B983-B0DB44DB9A4B}" type="datetimeFigureOut">
              <a:rPr lang="es-MX" smtClean="0"/>
              <a:t>05/11/2025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F5E92AB2-0618-400D-8557-41098000F286}" type="slidenum">
              <a:rPr lang="es-MX" smtClean="0"/>
              <a:t>‹Nº›</a:t>
            </a:fld>
            <a:endParaRPr lang="es-MX"/>
          </a:p>
        </p:txBody>
      </p:sp>
    </p:spTree>
    <p:extLst>
      <p:ext uri="{BB962C8B-B14F-4D97-AF65-F5344CB8AC3E}">
        <p14:creationId xmlns:p14="http://schemas.microsoft.com/office/powerpoint/2010/main" val="4190341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C907AD00-24D9-4D2B-B983-B0DB44DB9A4B}" type="datetimeFigureOut">
              <a:rPr lang="es-MX" smtClean="0"/>
              <a:t>05/11/2025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F5E92AB2-0618-400D-8557-41098000F286}" type="slidenum">
              <a:rPr lang="es-MX" smtClean="0"/>
              <a:t>‹Nº›</a:t>
            </a:fld>
            <a:endParaRPr lang="es-MX"/>
          </a:p>
        </p:txBody>
      </p:sp>
    </p:spTree>
    <p:extLst>
      <p:ext uri="{BB962C8B-B14F-4D97-AF65-F5344CB8AC3E}">
        <p14:creationId xmlns:p14="http://schemas.microsoft.com/office/powerpoint/2010/main" val="1761761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120000" y="2505075"/>
            <a:ext cx="5025216"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s-ES"/>
              <a:t>Haga clic para modificar los estilos de texto del patrón</a:t>
            </a:r>
          </a:p>
        </p:txBody>
      </p:sp>
      <p:sp>
        <p:nvSpPr>
          <p:cNvPr id="6" name="Content Placeholder 5"/>
          <p:cNvSpPr>
            <a:spLocks noGrp="1"/>
          </p:cNvSpPr>
          <p:nvPr>
            <p:ph sz="quarter" idx="4"/>
          </p:nvPr>
        </p:nvSpPr>
        <p:spPr>
          <a:xfrm>
            <a:off x="6319840" y="2505075"/>
            <a:ext cx="503554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C907AD00-24D9-4D2B-B983-B0DB44DB9A4B}" type="datetimeFigureOut">
              <a:rPr lang="es-MX" smtClean="0"/>
              <a:t>05/11/2025</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F5E92AB2-0618-400D-8557-41098000F286}" type="slidenum">
              <a:rPr lang="es-MX" smtClean="0"/>
              <a:t>‹Nº›</a:t>
            </a:fld>
            <a:endParaRPr lang="es-MX"/>
          </a:p>
        </p:txBody>
      </p:sp>
    </p:spTree>
    <p:extLst>
      <p:ext uri="{BB962C8B-B14F-4D97-AF65-F5344CB8AC3E}">
        <p14:creationId xmlns:p14="http://schemas.microsoft.com/office/powerpoint/2010/main" val="14478512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C907AD00-24D9-4D2B-B983-B0DB44DB9A4B}" type="datetimeFigureOut">
              <a:rPr lang="es-MX" smtClean="0"/>
              <a:t>05/11/2025</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F5E92AB2-0618-400D-8557-41098000F286}" type="slidenum">
              <a:rPr lang="es-MX" smtClean="0"/>
              <a:t>‹Nº›</a:t>
            </a:fld>
            <a:endParaRPr lang="es-MX"/>
          </a:p>
        </p:txBody>
      </p:sp>
    </p:spTree>
    <p:extLst>
      <p:ext uri="{BB962C8B-B14F-4D97-AF65-F5344CB8AC3E}">
        <p14:creationId xmlns:p14="http://schemas.microsoft.com/office/powerpoint/2010/main" val="3406669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07AD00-24D9-4D2B-B983-B0DB44DB9A4B}" type="datetimeFigureOut">
              <a:rPr lang="es-MX" smtClean="0"/>
              <a:t>05/11/2025</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F5E92AB2-0618-400D-8557-41098000F286}" type="slidenum">
              <a:rPr lang="es-MX" smtClean="0"/>
              <a:t>‹Nº›</a:t>
            </a:fld>
            <a:endParaRPr lang="es-MX"/>
          </a:p>
        </p:txBody>
      </p:sp>
    </p:spTree>
    <p:extLst>
      <p:ext uri="{BB962C8B-B14F-4D97-AF65-F5344CB8AC3E}">
        <p14:creationId xmlns:p14="http://schemas.microsoft.com/office/powerpoint/2010/main" val="27746275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907AD00-24D9-4D2B-B983-B0DB44DB9A4B}" type="datetimeFigureOut">
              <a:rPr lang="es-MX" smtClean="0"/>
              <a:t>05/11/2025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F5E92AB2-0618-400D-8557-41098000F286}" type="slidenum">
              <a:rPr lang="es-MX" smtClean="0"/>
              <a:t>‹Nº›</a:t>
            </a:fld>
            <a:endParaRPr lang="es-MX"/>
          </a:p>
        </p:txBody>
      </p:sp>
    </p:spTree>
    <p:extLst>
      <p:ext uri="{BB962C8B-B14F-4D97-AF65-F5344CB8AC3E}">
        <p14:creationId xmlns:p14="http://schemas.microsoft.com/office/powerpoint/2010/main" val="2551061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907AD00-24D9-4D2B-B983-B0DB44DB9A4B}" type="datetimeFigureOut">
              <a:rPr lang="es-MX" smtClean="0"/>
              <a:t>05/11/2025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F5E92AB2-0618-400D-8557-41098000F286}" type="slidenum">
              <a:rPr lang="es-MX" smtClean="0"/>
              <a:t>‹Nº›</a:t>
            </a:fld>
            <a:endParaRPr lang="es-MX"/>
          </a:p>
        </p:txBody>
      </p:sp>
    </p:spTree>
    <p:extLst>
      <p:ext uri="{BB962C8B-B14F-4D97-AF65-F5344CB8AC3E}">
        <p14:creationId xmlns:p14="http://schemas.microsoft.com/office/powerpoint/2010/main" val="3624609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907AD00-24D9-4D2B-B983-B0DB44DB9A4B}" type="datetimeFigureOut">
              <a:rPr lang="es-MX" smtClean="0"/>
              <a:t>05/11/2025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F5E92AB2-0618-400D-8557-41098000F286}" type="slidenum">
              <a:rPr lang="es-MX" smtClean="0"/>
              <a:t>‹Nº›</a:t>
            </a:fld>
            <a:endParaRPr lang="es-MX"/>
          </a:p>
        </p:txBody>
      </p:sp>
    </p:spTree>
    <p:extLst>
      <p:ext uri="{BB962C8B-B14F-4D97-AF65-F5344CB8AC3E}">
        <p14:creationId xmlns:p14="http://schemas.microsoft.com/office/powerpoint/2010/main" val="2620240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907AD00-24D9-4D2B-B983-B0DB44DB9A4B}" type="datetimeFigureOut">
              <a:rPr lang="es-MX" smtClean="0"/>
              <a:t>05/11/2025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F5E92AB2-0618-400D-8557-41098000F286}" type="slidenum">
              <a:rPr lang="es-MX" smtClean="0"/>
              <a:t>‹Nº›</a:t>
            </a:fld>
            <a:endParaRPr lang="es-MX"/>
          </a:p>
        </p:txBody>
      </p:sp>
    </p:spTree>
    <p:extLst>
      <p:ext uri="{BB962C8B-B14F-4D97-AF65-F5344CB8AC3E}">
        <p14:creationId xmlns:p14="http://schemas.microsoft.com/office/powerpoint/2010/main" val="23607719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907AD00-24D9-4D2B-B983-B0DB44DB9A4B}" type="datetimeFigureOut">
              <a:rPr lang="es-MX" smtClean="0"/>
              <a:t>05/11/2025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F5E92AB2-0618-400D-8557-41098000F286}" type="slidenum">
              <a:rPr lang="es-MX" smtClean="0"/>
              <a:t>‹Nº›</a:t>
            </a:fld>
            <a:endParaRPr lang="es-MX"/>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7813156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907AD00-24D9-4D2B-B983-B0DB44DB9A4B}" type="datetimeFigureOut">
              <a:rPr lang="es-MX" smtClean="0"/>
              <a:t>05/11/2025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F5E92AB2-0618-400D-8557-41098000F286}" type="slidenum">
              <a:rPr lang="es-MX" smtClean="0"/>
              <a:t>‹Nº›</a:t>
            </a:fld>
            <a:endParaRPr lang="es-MX"/>
          </a:p>
        </p:txBody>
      </p:sp>
    </p:spTree>
    <p:extLst>
      <p:ext uri="{BB962C8B-B14F-4D97-AF65-F5344CB8AC3E}">
        <p14:creationId xmlns:p14="http://schemas.microsoft.com/office/powerpoint/2010/main" val="2484394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s-ES"/>
              <a:t>Haga clic para modificar los estilos de texto del patrón</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s-ES"/>
              <a:t>Haga clic para modificar los estilos de texto del patrón</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C907AD00-24D9-4D2B-B983-B0DB44DB9A4B}" type="datetimeFigureOut">
              <a:rPr lang="es-MX" smtClean="0"/>
              <a:t>05/11/2025</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F5E92AB2-0618-400D-8557-41098000F286}" type="slidenum">
              <a:rPr lang="es-MX" smtClean="0"/>
              <a:t>‹Nº›</a:t>
            </a:fld>
            <a:endParaRPr lang="es-MX"/>
          </a:p>
        </p:txBody>
      </p:sp>
    </p:spTree>
    <p:extLst>
      <p:ext uri="{BB962C8B-B14F-4D97-AF65-F5344CB8AC3E}">
        <p14:creationId xmlns:p14="http://schemas.microsoft.com/office/powerpoint/2010/main" val="221938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C907AD00-24D9-4D2B-B983-B0DB44DB9A4B}" type="datetimeFigureOut">
              <a:rPr lang="es-MX" smtClean="0"/>
              <a:t>05/11/2025</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F5E92AB2-0618-400D-8557-41098000F286}" type="slidenum">
              <a:rPr lang="es-MX" smtClean="0"/>
              <a:t>‹Nº›</a:t>
            </a:fld>
            <a:endParaRPr lang="es-MX"/>
          </a:p>
        </p:txBody>
      </p:sp>
    </p:spTree>
    <p:extLst>
      <p:ext uri="{BB962C8B-B14F-4D97-AF65-F5344CB8AC3E}">
        <p14:creationId xmlns:p14="http://schemas.microsoft.com/office/powerpoint/2010/main" val="4236041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907AD00-24D9-4D2B-B983-B0DB44DB9A4B}" type="datetimeFigureOut">
              <a:rPr lang="es-MX" smtClean="0"/>
              <a:t>05/11/2025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F5E92AB2-0618-400D-8557-41098000F286}" type="slidenum">
              <a:rPr lang="es-MX" smtClean="0"/>
              <a:t>‹Nº›</a:t>
            </a:fld>
            <a:endParaRPr lang="es-MX"/>
          </a:p>
        </p:txBody>
      </p:sp>
    </p:spTree>
    <p:extLst>
      <p:ext uri="{BB962C8B-B14F-4D97-AF65-F5344CB8AC3E}">
        <p14:creationId xmlns:p14="http://schemas.microsoft.com/office/powerpoint/2010/main" val="9049578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907AD00-24D9-4D2B-B983-B0DB44DB9A4B}" type="datetimeFigureOut">
              <a:rPr lang="es-MX" smtClean="0"/>
              <a:t>05/11/2025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F5E92AB2-0618-400D-8557-41098000F286}" type="slidenum">
              <a:rPr lang="es-MX" smtClean="0"/>
              <a:t>‹Nº›</a:t>
            </a:fld>
            <a:endParaRPr lang="es-MX"/>
          </a:p>
        </p:txBody>
      </p:sp>
    </p:spTree>
    <p:extLst>
      <p:ext uri="{BB962C8B-B14F-4D97-AF65-F5344CB8AC3E}">
        <p14:creationId xmlns:p14="http://schemas.microsoft.com/office/powerpoint/2010/main" val="18482293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C907AD00-24D9-4D2B-B983-B0DB44DB9A4B}" type="datetimeFigureOut">
              <a:rPr lang="es-MX" smtClean="0"/>
              <a:t>05/11/2025</a:t>
            </a:fld>
            <a:endParaRPr lang="es-MX"/>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s-MX"/>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F5E92AB2-0618-400D-8557-41098000F286}" type="slidenum">
              <a:rPr lang="es-MX" smtClean="0"/>
              <a:t>‹Nº›</a:t>
            </a:fld>
            <a:endParaRPr lang="es-MX"/>
          </a:p>
        </p:txBody>
      </p:sp>
    </p:spTree>
    <p:extLst>
      <p:ext uri="{BB962C8B-B14F-4D97-AF65-F5344CB8AC3E}">
        <p14:creationId xmlns:p14="http://schemas.microsoft.com/office/powerpoint/2010/main" val="4172684457"/>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jp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jpe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emf"/><Relationship Id="rId7" Type="http://schemas.openxmlformats.org/officeDocument/2006/relationships/image" Target="../media/image40.png"/><Relationship Id="rId2" Type="http://schemas.openxmlformats.org/officeDocument/2006/relationships/image" Target="../media/image35.emf"/><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emf"/></Relationships>
</file>

<file path=ppt/slides/_rels/slide1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1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1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2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notesSlide" Target="../notesSlides/notesSlide3.xml"/><Relationship Id="rId7" Type="http://schemas.openxmlformats.org/officeDocument/2006/relationships/image" Target="../media/image67.png"/><Relationship Id="rId2" Type="http://schemas.openxmlformats.org/officeDocument/2006/relationships/slideLayout" Target="../slideLayouts/slideLayout2.xml"/><Relationship Id="rId1" Type="http://schemas.openxmlformats.org/officeDocument/2006/relationships/themeOverride" Target="../theme/themeOverride1.xml"/><Relationship Id="rId6" Type="http://schemas.openxmlformats.org/officeDocument/2006/relationships/image" Target="../media/image66.png"/><Relationship Id="rId11" Type="http://schemas.openxmlformats.org/officeDocument/2006/relationships/image" Target="../media/image71.png"/><Relationship Id="rId5" Type="http://schemas.openxmlformats.org/officeDocument/2006/relationships/image" Target="../media/image65.png"/><Relationship Id="rId10" Type="http://schemas.openxmlformats.org/officeDocument/2006/relationships/image" Target="../media/image70.png"/><Relationship Id="rId4" Type="http://schemas.openxmlformats.org/officeDocument/2006/relationships/image" Target="../media/image1.png"/><Relationship Id="rId9" Type="http://schemas.openxmlformats.org/officeDocument/2006/relationships/image" Target="../media/image69.png"/></Relationships>
</file>

<file path=ppt/slides/_rels/slide2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2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 Id="rId5" Type="http://schemas.openxmlformats.org/officeDocument/2006/relationships/image" Target="../media/image78.png"/><Relationship Id="rId4" Type="http://schemas.openxmlformats.org/officeDocument/2006/relationships/image" Target="../media/image77.png"/></Relationships>
</file>

<file path=ppt/slides/_rels/slide26.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image" Target="../media/image79.png"/><Relationship Id="rId1" Type="http://schemas.openxmlformats.org/officeDocument/2006/relationships/slideLayout" Target="../slideLayouts/slideLayout2.xml"/><Relationship Id="rId4" Type="http://schemas.openxmlformats.org/officeDocument/2006/relationships/image" Target="../media/image81.png"/></Relationships>
</file>

<file path=ppt/slides/_rels/slide27.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 Id="rId4" Type="http://schemas.openxmlformats.org/officeDocument/2006/relationships/image" Target="../media/image84.png"/></Relationships>
</file>

<file path=ppt/slides/_rels/slide28.xml.rels><?xml version="1.0" encoding="UTF-8" standalone="yes"?>
<Relationships xmlns="http://schemas.openxmlformats.org/package/2006/relationships"><Relationship Id="rId8" Type="http://schemas.openxmlformats.org/officeDocument/2006/relationships/image" Target="../media/image91.png"/><Relationship Id="rId13" Type="http://schemas.openxmlformats.org/officeDocument/2006/relationships/image" Target="../media/image96.png"/><Relationship Id="rId3" Type="http://schemas.openxmlformats.org/officeDocument/2006/relationships/image" Target="../media/image86.png"/><Relationship Id="rId7" Type="http://schemas.openxmlformats.org/officeDocument/2006/relationships/image" Target="../media/image90.png"/><Relationship Id="rId12" Type="http://schemas.openxmlformats.org/officeDocument/2006/relationships/image" Target="../media/image95.png"/><Relationship Id="rId2" Type="http://schemas.openxmlformats.org/officeDocument/2006/relationships/image" Target="../media/image85.png"/><Relationship Id="rId1" Type="http://schemas.openxmlformats.org/officeDocument/2006/relationships/slideLayout" Target="../slideLayouts/slideLayout2.xml"/><Relationship Id="rId6" Type="http://schemas.openxmlformats.org/officeDocument/2006/relationships/image" Target="../media/image89.png"/><Relationship Id="rId11" Type="http://schemas.openxmlformats.org/officeDocument/2006/relationships/image" Target="../media/image94.png"/><Relationship Id="rId5" Type="http://schemas.openxmlformats.org/officeDocument/2006/relationships/image" Target="../media/image88.png"/><Relationship Id="rId15" Type="http://schemas.openxmlformats.org/officeDocument/2006/relationships/image" Target="../media/image98.png"/><Relationship Id="rId10" Type="http://schemas.openxmlformats.org/officeDocument/2006/relationships/image" Target="../media/image93.png"/><Relationship Id="rId4" Type="http://schemas.openxmlformats.org/officeDocument/2006/relationships/image" Target="../media/image87.png"/><Relationship Id="rId9" Type="http://schemas.openxmlformats.org/officeDocument/2006/relationships/image" Target="../media/image92.png"/><Relationship Id="rId14" Type="http://schemas.openxmlformats.org/officeDocument/2006/relationships/image" Target="../media/image97.png"/></Relationships>
</file>

<file path=ppt/slides/_rels/slide29.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image" Target="../media/image100.png"/><Relationship Id="rId7" Type="http://schemas.openxmlformats.org/officeDocument/2006/relationships/image" Target="../media/image104.png"/><Relationship Id="rId2" Type="http://schemas.openxmlformats.org/officeDocument/2006/relationships/image" Target="../media/image99.png"/><Relationship Id="rId1" Type="http://schemas.openxmlformats.org/officeDocument/2006/relationships/slideLayout" Target="../slideLayouts/slideLayout2.xml"/><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101.png"/><Relationship Id="rId9" Type="http://schemas.openxmlformats.org/officeDocument/2006/relationships/image" Target="../media/image106.png"/></Relationships>
</file>

<file path=ppt/slides/_rels/slide30.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2.xml"/><Relationship Id="rId6" Type="http://schemas.openxmlformats.org/officeDocument/2006/relationships/image" Target="../media/image111.png"/><Relationship Id="rId5" Type="http://schemas.openxmlformats.org/officeDocument/2006/relationships/image" Target="../media/image110.png"/><Relationship Id="rId4" Type="http://schemas.openxmlformats.org/officeDocument/2006/relationships/image" Target="../media/image109.png"/></Relationships>
</file>

<file path=ppt/slides/_rels/slide31.xml.rels><?xml version="1.0" encoding="UTF-8" standalone="yes"?>
<Relationships xmlns="http://schemas.openxmlformats.org/package/2006/relationships"><Relationship Id="rId3" Type="http://schemas.openxmlformats.org/officeDocument/2006/relationships/image" Target="../media/image113.png"/><Relationship Id="rId7" Type="http://schemas.openxmlformats.org/officeDocument/2006/relationships/image" Target="../media/image117.png"/><Relationship Id="rId2" Type="http://schemas.openxmlformats.org/officeDocument/2006/relationships/image" Target="../media/image112.png"/><Relationship Id="rId1" Type="http://schemas.openxmlformats.org/officeDocument/2006/relationships/slideLayout" Target="../slideLayouts/slideLayout2.xml"/><Relationship Id="rId6" Type="http://schemas.openxmlformats.org/officeDocument/2006/relationships/image" Target="../media/image116.png"/><Relationship Id="rId5" Type="http://schemas.openxmlformats.org/officeDocument/2006/relationships/image" Target="../media/image115.png"/><Relationship Id="rId4" Type="http://schemas.openxmlformats.org/officeDocument/2006/relationships/image" Target="../media/image114.png"/></Relationships>
</file>

<file path=ppt/slides/_rels/slide32.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2.xml"/><Relationship Id="rId5" Type="http://schemas.openxmlformats.org/officeDocument/2006/relationships/image" Target="../media/image121.png"/><Relationship Id="rId4" Type="http://schemas.openxmlformats.org/officeDocument/2006/relationships/image" Target="../media/image1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ángulo 15">
            <a:extLst>
              <a:ext uri="{FF2B5EF4-FFF2-40B4-BE49-F238E27FC236}">
                <a16:creationId xmlns:a16="http://schemas.microsoft.com/office/drawing/2014/main" id="{76B33425-25E0-2B1C-2D59-BCF2B6F4745D}"/>
              </a:ext>
            </a:extLst>
          </p:cNvPr>
          <p:cNvSpPr/>
          <p:nvPr/>
        </p:nvSpPr>
        <p:spPr>
          <a:xfrm>
            <a:off x="0" y="0"/>
            <a:ext cx="12192000" cy="6858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MX"/>
          </a:p>
        </p:txBody>
      </p:sp>
      <p:grpSp>
        <p:nvGrpSpPr>
          <p:cNvPr id="15" name="Grupo 14">
            <a:extLst>
              <a:ext uri="{FF2B5EF4-FFF2-40B4-BE49-F238E27FC236}">
                <a16:creationId xmlns:a16="http://schemas.microsoft.com/office/drawing/2014/main" id="{844BF272-D083-A97F-68BD-F787C5E29DA5}"/>
              </a:ext>
            </a:extLst>
          </p:cNvPr>
          <p:cNvGrpSpPr/>
          <p:nvPr/>
        </p:nvGrpSpPr>
        <p:grpSpPr>
          <a:xfrm>
            <a:off x="976721" y="0"/>
            <a:ext cx="10286999" cy="6858000"/>
            <a:chOff x="-1" y="0"/>
            <a:chExt cx="10286999" cy="6858000"/>
          </a:xfrm>
        </p:grpSpPr>
        <p:pic>
          <p:nvPicPr>
            <p:cNvPr id="10" name="Imagen 9">
              <a:extLst>
                <a:ext uri="{FF2B5EF4-FFF2-40B4-BE49-F238E27FC236}">
                  <a16:creationId xmlns:a16="http://schemas.microsoft.com/office/drawing/2014/main" id="{B7C0987F-3EE3-9927-46B8-B1FD97E2B7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0286999" cy="6858000"/>
            </a:xfrm>
            <a:prstGeom prst="rect">
              <a:avLst/>
            </a:prstGeom>
          </p:spPr>
        </p:pic>
        <p:sp>
          <p:nvSpPr>
            <p:cNvPr id="11" name="Rectángulo 10">
              <a:extLst>
                <a:ext uri="{FF2B5EF4-FFF2-40B4-BE49-F238E27FC236}">
                  <a16:creationId xmlns:a16="http://schemas.microsoft.com/office/drawing/2014/main" id="{EB465BF0-253B-5149-C25C-239225E0CFE9}"/>
                </a:ext>
              </a:extLst>
            </p:cNvPr>
            <p:cNvSpPr/>
            <p:nvPr/>
          </p:nvSpPr>
          <p:spPr>
            <a:xfrm rot="21014927">
              <a:off x="4104581" y="4315573"/>
              <a:ext cx="1313758" cy="3176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a:t>NUMBERS </a:t>
              </a:r>
            </a:p>
          </p:txBody>
        </p:sp>
        <p:sp>
          <p:nvSpPr>
            <p:cNvPr id="14" name="Rectángulo 13">
              <a:extLst>
                <a:ext uri="{FF2B5EF4-FFF2-40B4-BE49-F238E27FC236}">
                  <a16:creationId xmlns:a16="http://schemas.microsoft.com/office/drawing/2014/main" id="{06514F2A-591E-95FA-4AEE-D7743D7365D1}"/>
                </a:ext>
              </a:extLst>
            </p:cNvPr>
            <p:cNvSpPr/>
            <p:nvPr/>
          </p:nvSpPr>
          <p:spPr>
            <a:xfrm>
              <a:off x="4087168" y="4919423"/>
              <a:ext cx="1166419" cy="3660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a:t>STRINGS </a:t>
              </a:r>
            </a:p>
          </p:txBody>
        </p:sp>
      </p:grpSp>
      <p:sp>
        <p:nvSpPr>
          <p:cNvPr id="17" name="CuadroTexto 16">
            <a:extLst>
              <a:ext uri="{FF2B5EF4-FFF2-40B4-BE49-F238E27FC236}">
                <a16:creationId xmlns:a16="http://schemas.microsoft.com/office/drawing/2014/main" id="{42BC6DEE-7554-1739-1716-93DACF208A91}"/>
              </a:ext>
            </a:extLst>
          </p:cNvPr>
          <p:cNvSpPr txBox="1"/>
          <p:nvPr/>
        </p:nvSpPr>
        <p:spPr>
          <a:xfrm>
            <a:off x="8962483" y="6488668"/>
            <a:ext cx="2462438" cy="369332"/>
          </a:xfrm>
          <a:prstGeom prst="rect">
            <a:avLst/>
          </a:prstGeom>
          <a:noFill/>
        </p:spPr>
        <p:txBody>
          <a:bodyPr wrap="square" rtlCol="0">
            <a:spAutoFit/>
          </a:bodyPr>
          <a:lstStyle/>
          <a:p>
            <a:pPr algn="ctr"/>
            <a:r>
              <a:rPr lang="es-MX" b="1">
                <a:solidFill>
                  <a:srgbClr val="FFFF00"/>
                </a:solidFill>
              </a:rPr>
              <a:t>Rodrigo Charalla</a:t>
            </a:r>
          </a:p>
        </p:txBody>
      </p:sp>
    </p:spTree>
    <p:extLst>
      <p:ext uri="{BB962C8B-B14F-4D97-AF65-F5344CB8AC3E}">
        <p14:creationId xmlns:p14="http://schemas.microsoft.com/office/powerpoint/2010/main" val="4871138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B05BF-6776-2ACC-27FA-A58717A5F35E}"/>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F8C3638-0171-2D71-0EB0-597E8713E883}"/>
              </a:ext>
            </a:extLst>
          </p:cNvPr>
          <p:cNvSpPr>
            <a:spLocks noGrp="1"/>
          </p:cNvSpPr>
          <p:nvPr>
            <p:ph idx="1"/>
          </p:nvPr>
        </p:nvSpPr>
        <p:spPr>
          <a:xfrm>
            <a:off x="824603" y="2651388"/>
            <a:ext cx="4533900" cy="2916045"/>
          </a:xfrm>
        </p:spPr>
        <p:txBody>
          <a:bodyPr vert="horz" lIns="91440" tIns="45720" rIns="91440" bIns="45720" rtlCol="0">
            <a:normAutofit/>
          </a:bodyPr>
          <a:lstStyle/>
          <a:p>
            <a:pPr marL="0" indent="0" defTabSz="457200">
              <a:buNone/>
            </a:pPr>
            <a:r>
              <a:rPr lang="es-ES" sz="2200" b="1">
                <a:solidFill>
                  <a:schemeClr val="tx1"/>
                </a:solidFill>
                <a:latin typeface="Lato Black" panose="020F0A02020204030203" pitchFamily="34" charset="0"/>
              </a:rPr>
              <a:t>13.1 Requisitos</a:t>
            </a:r>
          </a:p>
          <a:p>
            <a:pPr marL="0" indent="0" defTabSz="457200">
              <a:buNone/>
            </a:pPr>
            <a:r>
              <a:rPr lang="es-ES" sz="2200" b="1">
                <a:solidFill>
                  <a:schemeClr val="tx1"/>
                </a:solidFill>
                <a:latin typeface="Lato Black" panose="020F0A02020204030203" pitchFamily="34" charset="0"/>
              </a:rPr>
              <a:t>13.2 Haciendo números</a:t>
            </a:r>
          </a:p>
          <a:p>
            <a:pPr marL="0" indent="0" defTabSz="457200">
              <a:buNone/>
            </a:pPr>
            <a:r>
              <a:rPr lang="es-ES" sz="2200" b="1">
                <a:solidFill>
                  <a:schemeClr val="tx1"/>
                </a:solidFill>
                <a:latin typeface="Lato Black" panose="020F0A02020204030203" pitchFamily="34" charset="0"/>
              </a:rPr>
              <a:t>13.3 Conteo</a:t>
            </a:r>
          </a:p>
          <a:p>
            <a:pPr marL="0" indent="0" defTabSz="457200">
              <a:buNone/>
            </a:pPr>
            <a:r>
              <a:rPr lang="es-ES" sz="2200" b="1">
                <a:solidFill>
                  <a:schemeClr val="tx1"/>
                </a:solidFill>
                <a:latin typeface="Lato Black" panose="020F0A02020204030203" pitchFamily="34" charset="0"/>
              </a:rPr>
              <a:t>13.4 Transformaciones numéricas</a:t>
            </a:r>
          </a:p>
          <a:p>
            <a:pPr marL="0" indent="0" defTabSz="457200">
              <a:buNone/>
            </a:pPr>
            <a:r>
              <a:rPr lang="es-ES" sz="2200" b="1">
                <a:solidFill>
                  <a:schemeClr val="tx1"/>
                </a:solidFill>
                <a:latin typeface="Lato Black" panose="020F0A02020204030203" pitchFamily="34" charset="0"/>
              </a:rPr>
              <a:t>13.5 Transformaciones generales</a:t>
            </a:r>
          </a:p>
          <a:p>
            <a:pPr marL="0" indent="0" defTabSz="457200">
              <a:buNone/>
            </a:pPr>
            <a:r>
              <a:rPr lang="es-ES" sz="2200" b="1">
                <a:solidFill>
                  <a:schemeClr val="tx1"/>
                </a:solidFill>
                <a:latin typeface="Lato Black" panose="020F0A02020204030203" pitchFamily="34" charset="0"/>
              </a:rPr>
              <a:t>13.6 Resúmenes numéricos </a:t>
            </a:r>
          </a:p>
        </p:txBody>
      </p:sp>
      <p:sp>
        <p:nvSpPr>
          <p:cNvPr id="5" name="CuadroTexto 4">
            <a:extLst>
              <a:ext uri="{FF2B5EF4-FFF2-40B4-BE49-F238E27FC236}">
                <a16:creationId xmlns:a16="http://schemas.microsoft.com/office/drawing/2014/main" id="{5E807C40-40DC-504B-CB3B-603F6C22ED97}"/>
              </a:ext>
            </a:extLst>
          </p:cNvPr>
          <p:cNvSpPr txBox="1"/>
          <p:nvPr/>
        </p:nvSpPr>
        <p:spPr>
          <a:xfrm>
            <a:off x="5358503" y="2651388"/>
            <a:ext cx="5662374" cy="2527239"/>
          </a:xfrm>
          <a:prstGeom prst="rect">
            <a:avLst/>
          </a:prstGeom>
        </p:spPr>
        <p:txBody>
          <a:bodyPr vert="horz" lIns="91440" tIns="45720" rIns="91440" bIns="45720" rtlCol="0">
            <a:normAutofit fontScale="92500" lnSpcReduction="10000"/>
          </a:bodyPr>
          <a:lstStyle>
            <a:lvl1pPr indent="0">
              <a:lnSpc>
                <a:spcPct val="90000"/>
              </a:lnSpc>
              <a:spcBef>
                <a:spcPts val="1000"/>
              </a:spcBef>
              <a:buFont typeface="Arial" panose="020B0604020202020204" pitchFamily="34" charset="0"/>
              <a:buNone/>
              <a:defRPr sz="24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s-ES" b="1">
                <a:latin typeface="Lato Black" panose="020F0A02020204030203" pitchFamily="34" charset="0"/>
              </a:rPr>
              <a:t>14.1 Introducción</a:t>
            </a:r>
          </a:p>
          <a:p>
            <a:r>
              <a:rPr lang="es-ES" b="1">
                <a:latin typeface="Lato Black" panose="020F0A02020204030203" pitchFamily="34" charset="0"/>
              </a:rPr>
              <a:t>14.2 Creando una cadena de caracteres</a:t>
            </a:r>
          </a:p>
          <a:p>
            <a:r>
              <a:rPr lang="es-ES" b="1">
                <a:latin typeface="Lato Black" panose="020F0A02020204030203" pitchFamily="34" charset="0"/>
              </a:rPr>
              <a:t>14.3 Crear muchas cadenas de caracteres a            partir de datos</a:t>
            </a:r>
          </a:p>
          <a:p>
            <a:r>
              <a:rPr lang="es-ES" b="1">
                <a:latin typeface="Lato Black" panose="020F0A02020204030203" pitchFamily="34" charset="0"/>
              </a:rPr>
              <a:t>14.4 Extraer datos de cadenas de caracteres</a:t>
            </a:r>
          </a:p>
          <a:p>
            <a:r>
              <a:rPr lang="es-ES" b="1">
                <a:latin typeface="Lato Black" panose="020F0A02020204030203" pitchFamily="34" charset="0"/>
              </a:rPr>
              <a:t>14.5 Letras</a:t>
            </a:r>
          </a:p>
        </p:txBody>
      </p:sp>
      <p:sp>
        <p:nvSpPr>
          <p:cNvPr id="7" name="CuadroTexto 6">
            <a:extLst>
              <a:ext uri="{FF2B5EF4-FFF2-40B4-BE49-F238E27FC236}">
                <a16:creationId xmlns:a16="http://schemas.microsoft.com/office/drawing/2014/main" id="{7823932F-3C9D-6E09-6D13-EFB565E3BB5B}"/>
              </a:ext>
            </a:extLst>
          </p:cNvPr>
          <p:cNvSpPr txBox="1"/>
          <p:nvPr/>
        </p:nvSpPr>
        <p:spPr>
          <a:xfrm>
            <a:off x="838200" y="960008"/>
            <a:ext cx="6096000" cy="584775"/>
          </a:xfrm>
          <a:prstGeom prst="rect">
            <a:avLst/>
          </a:prstGeom>
          <a:noFill/>
        </p:spPr>
        <p:txBody>
          <a:bodyPr wrap="square">
            <a:spAutoFit/>
          </a:bodyPr>
          <a:lstStyle/>
          <a:p>
            <a:pPr marL="0" indent="0">
              <a:buNone/>
            </a:pPr>
            <a:r>
              <a:rPr lang="es-ES" sz="3200">
                <a:solidFill>
                  <a:srgbClr val="FFFF00"/>
                </a:solidFill>
                <a:latin typeface="Montserrat SemiBold" panose="00000700000000000000" pitchFamily="2" charset="0"/>
              </a:rPr>
              <a:t>Tabla de contenidos</a:t>
            </a:r>
          </a:p>
        </p:txBody>
      </p:sp>
      <p:sp>
        <p:nvSpPr>
          <p:cNvPr id="2" name="CuadroTexto 1">
            <a:extLst>
              <a:ext uri="{FF2B5EF4-FFF2-40B4-BE49-F238E27FC236}">
                <a16:creationId xmlns:a16="http://schemas.microsoft.com/office/drawing/2014/main" id="{3002A7CB-84EF-AD67-540E-2994D3177EBB}"/>
              </a:ext>
            </a:extLst>
          </p:cNvPr>
          <p:cNvSpPr txBox="1"/>
          <p:nvPr/>
        </p:nvSpPr>
        <p:spPr>
          <a:xfrm>
            <a:off x="855916" y="1805698"/>
            <a:ext cx="3944063" cy="584775"/>
          </a:xfrm>
          <a:prstGeom prst="rect">
            <a:avLst/>
          </a:prstGeom>
          <a:noFill/>
        </p:spPr>
        <p:txBody>
          <a:bodyPr wrap="square">
            <a:spAutoFit/>
          </a:bodyPr>
          <a:lstStyle/>
          <a:p>
            <a:r>
              <a:rPr lang="es-ES" sz="3200">
                <a:solidFill>
                  <a:srgbClr val="CC00CC"/>
                </a:solidFill>
                <a:highlight>
                  <a:srgbClr val="FFFF00"/>
                </a:highlight>
                <a:latin typeface="Montserrat SemiBold" panose="00000700000000000000" pitchFamily="2" charset="0"/>
              </a:rPr>
              <a:t> 13. Números.</a:t>
            </a:r>
          </a:p>
        </p:txBody>
      </p:sp>
      <p:sp>
        <p:nvSpPr>
          <p:cNvPr id="8" name="CuadroTexto 7">
            <a:extLst>
              <a:ext uri="{FF2B5EF4-FFF2-40B4-BE49-F238E27FC236}">
                <a16:creationId xmlns:a16="http://schemas.microsoft.com/office/drawing/2014/main" id="{94443DCB-DB16-ED23-D984-64BE1E0B7AA0}"/>
              </a:ext>
            </a:extLst>
          </p:cNvPr>
          <p:cNvSpPr txBox="1"/>
          <p:nvPr/>
        </p:nvSpPr>
        <p:spPr>
          <a:xfrm>
            <a:off x="5358502" y="1805698"/>
            <a:ext cx="2616729" cy="584775"/>
          </a:xfrm>
          <a:prstGeom prst="rect">
            <a:avLst/>
          </a:prstGeom>
          <a:noFill/>
        </p:spPr>
        <p:txBody>
          <a:bodyPr wrap="square">
            <a:spAutoFit/>
          </a:bodyPr>
          <a:lstStyle/>
          <a:p>
            <a:pPr marL="0" indent="0">
              <a:buNone/>
            </a:pPr>
            <a:r>
              <a:rPr lang="es-ES" sz="3200">
                <a:solidFill>
                  <a:srgbClr val="FFFF00"/>
                </a:solidFill>
                <a:highlight>
                  <a:srgbClr val="800080"/>
                </a:highlight>
                <a:latin typeface="Montserrat SemiBold" panose="00000700000000000000" pitchFamily="2" charset="0"/>
              </a:rPr>
              <a:t>14. Strings.</a:t>
            </a:r>
          </a:p>
        </p:txBody>
      </p:sp>
    </p:spTree>
    <p:extLst>
      <p:ext uri="{BB962C8B-B14F-4D97-AF65-F5344CB8AC3E}">
        <p14:creationId xmlns:p14="http://schemas.microsoft.com/office/powerpoint/2010/main" val="3850667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fade">
                                      <p:cBhvr>
                                        <p:cTn id="30" dur="500"/>
                                        <p:tgtEl>
                                          <p:spTgt spid="3">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500"/>
                                        <p:tgtEl>
                                          <p:spTgt spid="3">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500"/>
                                        <p:tgtEl>
                                          <p:spTgt spid="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5">
                                            <p:txEl>
                                              <p:pRg st="0" end="0"/>
                                            </p:txEl>
                                          </p:spTgt>
                                        </p:tgtEl>
                                        <p:attrNameLst>
                                          <p:attrName>style.visibility</p:attrName>
                                        </p:attrNameLst>
                                      </p:cBhvr>
                                      <p:to>
                                        <p:strVal val="visible"/>
                                      </p:to>
                                    </p:set>
                                    <p:animEffect transition="in" filter="fade">
                                      <p:cBhvr>
                                        <p:cTn id="43" dur="500"/>
                                        <p:tgtEl>
                                          <p:spTgt spid="5">
                                            <p:txEl>
                                              <p:pRg st="0" end="0"/>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5">
                                            <p:txEl>
                                              <p:pRg st="1" end="1"/>
                                            </p:txEl>
                                          </p:spTgt>
                                        </p:tgtEl>
                                        <p:attrNameLst>
                                          <p:attrName>style.visibility</p:attrName>
                                        </p:attrNameLst>
                                      </p:cBhvr>
                                      <p:to>
                                        <p:strVal val="visible"/>
                                      </p:to>
                                    </p:set>
                                    <p:animEffect transition="in" filter="fade">
                                      <p:cBhvr>
                                        <p:cTn id="46" dur="500"/>
                                        <p:tgtEl>
                                          <p:spTgt spid="5">
                                            <p:txEl>
                                              <p:pRg st="1" end="1"/>
                                            </p:txEl>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5">
                                            <p:txEl>
                                              <p:pRg st="2" end="2"/>
                                            </p:txEl>
                                          </p:spTgt>
                                        </p:tgtEl>
                                        <p:attrNameLst>
                                          <p:attrName>style.visibility</p:attrName>
                                        </p:attrNameLst>
                                      </p:cBhvr>
                                      <p:to>
                                        <p:strVal val="visible"/>
                                      </p:to>
                                    </p:set>
                                    <p:animEffect transition="in" filter="fade">
                                      <p:cBhvr>
                                        <p:cTn id="49" dur="500"/>
                                        <p:tgtEl>
                                          <p:spTgt spid="5">
                                            <p:txEl>
                                              <p:pRg st="2" end="2"/>
                                            </p:txEl>
                                          </p:spTgt>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5">
                                            <p:txEl>
                                              <p:pRg st="3" end="3"/>
                                            </p:txEl>
                                          </p:spTgt>
                                        </p:tgtEl>
                                        <p:attrNameLst>
                                          <p:attrName>style.visibility</p:attrName>
                                        </p:attrNameLst>
                                      </p:cBhvr>
                                      <p:to>
                                        <p:strVal val="visible"/>
                                      </p:to>
                                    </p:set>
                                    <p:animEffect transition="in" filter="fade">
                                      <p:cBhvr>
                                        <p:cTn id="52" dur="500"/>
                                        <p:tgtEl>
                                          <p:spTgt spid="5">
                                            <p:txEl>
                                              <p:pRg st="3" end="3"/>
                                            </p:txEl>
                                          </p:spTgt>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5">
                                            <p:txEl>
                                              <p:pRg st="4" end="4"/>
                                            </p:txEl>
                                          </p:spTgt>
                                        </p:tgtEl>
                                        <p:attrNameLst>
                                          <p:attrName>style.visibility</p:attrName>
                                        </p:attrNameLst>
                                      </p:cBhvr>
                                      <p:to>
                                        <p:strVal val="visible"/>
                                      </p:to>
                                    </p:set>
                                    <p:animEffect transition="in" filter="fade">
                                      <p:cBhvr>
                                        <p:cTn id="55"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build="allAtOnce"/>
      <p:bldP spid="2" grpId="0"/>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6" name="Picture 8" descr="Czym jest data science consulting? - Capgemini Poland">
            <a:extLst>
              <a:ext uri="{FF2B5EF4-FFF2-40B4-BE49-F238E27FC236}">
                <a16:creationId xmlns:a16="http://schemas.microsoft.com/office/drawing/2014/main" id="{50A2D1D9-772B-F9CE-F40F-1F0E82124E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 r="40534"/>
          <a:stretch>
            <a:fillRect/>
          </a:stretch>
        </p:blipFill>
        <p:spPr bwMode="auto">
          <a:xfrm>
            <a:off x="6096000" y="0"/>
            <a:ext cx="6091294" cy="6858000"/>
          </a:xfrm>
          <a:prstGeom prst="rect">
            <a:avLst/>
          </a:prstGeom>
          <a:blipFill>
            <a:blip r:embed="rId3">
              <a:alphaModFix amt="0"/>
            </a:blip>
            <a:tile tx="0" ty="0" sx="100000" sy="100000" flip="none" algn="tl"/>
          </a:blipFill>
        </p:spPr>
      </p:pic>
      <p:sp>
        <p:nvSpPr>
          <p:cNvPr id="5" name="CuadroTexto 4">
            <a:extLst>
              <a:ext uri="{FF2B5EF4-FFF2-40B4-BE49-F238E27FC236}">
                <a16:creationId xmlns:a16="http://schemas.microsoft.com/office/drawing/2014/main" id="{63AF53A0-879C-52BB-D9D2-36310A0A9EDC}"/>
              </a:ext>
            </a:extLst>
          </p:cNvPr>
          <p:cNvSpPr txBox="1"/>
          <p:nvPr/>
        </p:nvSpPr>
        <p:spPr>
          <a:xfrm>
            <a:off x="3047048" y="2716189"/>
            <a:ext cx="6097904" cy="1107996"/>
          </a:xfrm>
          <a:prstGeom prst="rect">
            <a:avLst/>
          </a:prstGeom>
          <a:noFill/>
        </p:spPr>
        <p:txBody>
          <a:bodyPr wrap="square">
            <a:spAutoFit/>
          </a:bodyPr>
          <a:lstStyle/>
          <a:p>
            <a:r>
              <a:rPr lang="es-ES" sz="6600">
                <a:solidFill>
                  <a:srgbClr val="CC00CC"/>
                </a:solidFill>
                <a:highlight>
                  <a:srgbClr val="FFFF00"/>
                </a:highlight>
                <a:latin typeface="Montserrat SemiBold" panose="00000700000000000000" pitchFamily="2" charset="0"/>
              </a:rPr>
              <a:t> 13. Números.</a:t>
            </a:r>
          </a:p>
        </p:txBody>
      </p:sp>
    </p:spTree>
    <p:extLst>
      <p:ext uri="{BB962C8B-B14F-4D97-AF65-F5344CB8AC3E}">
        <p14:creationId xmlns:p14="http://schemas.microsoft.com/office/powerpoint/2010/main" val="5208691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CA4636E-A42E-957A-82F5-AA42E8288402}"/>
              </a:ext>
            </a:extLst>
          </p:cNvPr>
          <p:cNvSpPr txBox="1"/>
          <p:nvPr/>
        </p:nvSpPr>
        <p:spPr>
          <a:xfrm>
            <a:off x="898353" y="837565"/>
            <a:ext cx="5767289" cy="646331"/>
          </a:xfrm>
          <a:prstGeom prst="rect">
            <a:avLst/>
          </a:prstGeom>
          <a:noFill/>
        </p:spPr>
        <p:txBody>
          <a:bodyPr wrap="square" rtlCol="0">
            <a:spAutoFit/>
          </a:bodyPr>
          <a:lstStyle/>
          <a:p>
            <a:r>
              <a:rPr lang="es-MX"/>
              <a:t>parse_double() función convierte de strings a double</a:t>
            </a:r>
          </a:p>
          <a:p>
            <a:r>
              <a:rPr lang="es-MX"/>
              <a:t>parse_number() </a:t>
            </a:r>
          </a:p>
        </p:txBody>
      </p:sp>
      <p:grpSp>
        <p:nvGrpSpPr>
          <p:cNvPr id="13" name="Grupo 12">
            <a:extLst>
              <a:ext uri="{FF2B5EF4-FFF2-40B4-BE49-F238E27FC236}">
                <a16:creationId xmlns:a16="http://schemas.microsoft.com/office/drawing/2014/main" id="{5180AD0C-7E17-AC27-D456-6CD73BAF7198}"/>
              </a:ext>
            </a:extLst>
          </p:cNvPr>
          <p:cNvGrpSpPr/>
          <p:nvPr/>
        </p:nvGrpSpPr>
        <p:grpSpPr>
          <a:xfrm>
            <a:off x="911920" y="2197781"/>
            <a:ext cx="8923831" cy="4363059"/>
            <a:chOff x="976721" y="1225766"/>
            <a:chExt cx="8923831" cy="4363059"/>
          </a:xfrm>
        </p:grpSpPr>
        <p:pic>
          <p:nvPicPr>
            <p:cNvPr id="6" name="Imagen 5">
              <a:extLst>
                <a:ext uri="{FF2B5EF4-FFF2-40B4-BE49-F238E27FC236}">
                  <a16:creationId xmlns:a16="http://schemas.microsoft.com/office/drawing/2014/main" id="{F51FCB6B-9D03-6B50-E17A-F95A8614DC6E}"/>
                </a:ext>
              </a:extLst>
            </p:cNvPr>
            <p:cNvPicPr>
              <a:picLocks noChangeAspect="1"/>
            </p:cNvPicPr>
            <p:nvPr/>
          </p:nvPicPr>
          <p:blipFill>
            <a:blip r:embed="rId2"/>
            <a:srcRect l="13514"/>
            <a:stretch>
              <a:fillRect/>
            </a:stretch>
          </p:blipFill>
          <p:spPr>
            <a:xfrm>
              <a:off x="976721" y="1225766"/>
              <a:ext cx="4147264" cy="1909528"/>
            </a:xfrm>
            <a:prstGeom prst="rect">
              <a:avLst/>
            </a:prstGeom>
          </p:spPr>
        </p:pic>
        <p:pic>
          <p:nvPicPr>
            <p:cNvPr id="12" name="Imagen 11">
              <a:extLst>
                <a:ext uri="{FF2B5EF4-FFF2-40B4-BE49-F238E27FC236}">
                  <a16:creationId xmlns:a16="http://schemas.microsoft.com/office/drawing/2014/main" id="{442E48B6-2CE3-40B1-1E5A-C1BD220B2840}"/>
                </a:ext>
              </a:extLst>
            </p:cNvPr>
            <p:cNvPicPr>
              <a:picLocks noChangeAspect="1"/>
            </p:cNvPicPr>
            <p:nvPr/>
          </p:nvPicPr>
          <p:blipFill>
            <a:blip r:embed="rId3"/>
            <a:stretch>
              <a:fillRect/>
            </a:stretch>
          </p:blipFill>
          <p:spPr>
            <a:xfrm>
              <a:off x="5318388" y="1225766"/>
              <a:ext cx="4582164" cy="4363059"/>
            </a:xfrm>
            <a:prstGeom prst="rect">
              <a:avLst/>
            </a:prstGeom>
          </p:spPr>
        </p:pic>
      </p:grpSp>
      <p:sp>
        <p:nvSpPr>
          <p:cNvPr id="3" name="CuadroTexto 2">
            <a:extLst>
              <a:ext uri="{FF2B5EF4-FFF2-40B4-BE49-F238E27FC236}">
                <a16:creationId xmlns:a16="http://schemas.microsoft.com/office/drawing/2014/main" id="{9AED27AC-B23C-F25A-9F36-262625F5D692}"/>
              </a:ext>
            </a:extLst>
          </p:cNvPr>
          <p:cNvSpPr txBox="1"/>
          <p:nvPr/>
        </p:nvSpPr>
        <p:spPr>
          <a:xfrm>
            <a:off x="911920" y="1543148"/>
            <a:ext cx="4147263" cy="646331"/>
          </a:xfrm>
          <a:prstGeom prst="rect">
            <a:avLst/>
          </a:prstGeom>
          <a:noFill/>
        </p:spPr>
        <p:txBody>
          <a:bodyPr wrap="square">
            <a:spAutoFit/>
          </a:bodyPr>
          <a:lstStyle/>
          <a:p>
            <a:r>
              <a:rPr lang="es-MX"/>
              <a:t>cuando tenga números escritos como cadenas</a:t>
            </a:r>
          </a:p>
        </p:txBody>
      </p:sp>
      <p:sp>
        <p:nvSpPr>
          <p:cNvPr id="7" name="CuadroTexto 6">
            <a:extLst>
              <a:ext uri="{FF2B5EF4-FFF2-40B4-BE49-F238E27FC236}">
                <a16:creationId xmlns:a16="http://schemas.microsoft.com/office/drawing/2014/main" id="{68D77077-DEEB-476B-58C7-2442DBE50B6B}"/>
              </a:ext>
            </a:extLst>
          </p:cNvPr>
          <p:cNvSpPr txBox="1"/>
          <p:nvPr/>
        </p:nvSpPr>
        <p:spPr>
          <a:xfrm>
            <a:off x="5151417" y="1551450"/>
            <a:ext cx="4684334" cy="646331"/>
          </a:xfrm>
          <a:prstGeom prst="rect">
            <a:avLst/>
          </a:prstGeom>
          <a:noFill/>
        </p:spPr>
        <p:txBody>
          <a:bodyPr wrap="square">
            <a:spAutoFit/>
          </a:bodyPr>
          <a:lstStyle/>
          <a:p>
            <a:r>
              <a:rPr lang="es-MX"/>
              <a:t>cuando la cadena contenga texto no numérico que desee ignorar. </a:t>
            </a:r>
          </a:p>
        </p:txBody>
      </p:sp>
      <p:sp>
        <p:nvSpPr>
          <p:cNvPr id="9" name="CuadroTexto 8">
            <a:extLst>
              <a:ext uri="{FF2B5EF4-FFF2-40B4-BE49-F238E27FC236}">
                <a16:creationId xmlns:a16="http://schemas.microsoft.com/office/drawing/2014/main" id="{155AB9B4-22DC-22B6-A948-9FE188B5700B}"/>
              </a:ext>
            </a:extLst>
          </p:cNvPr>
          <p:cNvSpPr txBox="1"/>
          <p:nvPr/>
        </p:nvSpPr>
        <p:spPr>
          <a:xfrm>
            <a:off x="847118" y="314345"/>
            <a:ext cx="6097836" cy="523220"/>
          </a:xfrm>
          <a:prstGeom prst="rect">
            <a:avLst/>
          </a:prstGeom>
          <a:noFill/>
        </p:spPr>
        <p:txBody>
          <a:bodyPr wrap="square">
            <a:spAutoFit/>
          </a:bodyPr>
          <a:lstStyle/>
          <a:p>
            <a:pPr marL="0" indent="0" defTabSz="457200">
              <a:buNone/>
            </a:pPr>
            <a:r>
              <a:rPr lang="es-ES" sz="2800">
                <a:solidFill>
                  <a:srgbClr val="FFFF00"/>
                </a:solidFill>
                <a:latin typeface="Montserrat SemiBold" panose="00000700000000000000" pitchFamily="2" charset="0"/>
              </a:rPr>
              <a:t>1. y 2. Haciendo números</a:t>
            </a:r>
          </a:p>
        </p:txBody>
      </p:sp>
    </p:spTree>
    <p:extLst>
      <p:ext uri="{BB962C8B-B14F-4D97-AF65-F5344CB8AC3E}">
        <p14:creationId xmlns:p14="http://schemas.microsoft.com/office/powerpoint/2010/main" val="1195198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E029C1C6-3A3A-7D5D-4B43-545108EF587A}"/>
              </a:ext>
            </a:extLst>
          </p:cNvPr>
          <p:cNvPicPr>
            <a:picLocks noChangeAspect="1"/>
          </p:cNvPicPr>
          <p:nvPr/>
        </p:nvPicPr>
        <p:blipFill>
          <a:blip r:embed="rId2"/>
          <a:stretch>
            <a:fillRect/>
          </a:stretch>
        </p:blipFill>
        <p:spPr>
          <a:xfrm>
            <a:off x="1430328" y="436904"/>
            <a:ext cx="7905722" cy="5984191"/>
          </a:xfrm>
          <a:prstGeom prst="rect">
            <a:avLst/>
          </a:prstGeom>
        </p:spPr>
      </p:pic>
    </p:spTree>
    <p:extLst>
      <p:ext uri="{BB962C8B-B14F-4D97-AF65-F5344CB8AC3E}">
        <p14:creationId xmlns:p14="http://schemas.microsoft.com/office/powerpoint/2010/main" val="30855927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8E76D879-9C7F-65D7-E8EC-07DF0CE33589}"/>
              </a:ext>
            </a:extLst>
          </p:cNvPr>
          <p:cNvPicPr>
            <a:picLocks noChangeAspect="1"/>
          </p:cNvPicPr>
          <p:nvPr/>
        </p:nvPicPr>
        <p:blipFill>
          <a:blip r:embed="rId2"/>
          <a:stretch>
            <a:fillRect/>
          </a:stretch>
        </p:blipFill>
        <p:spPr>
          <a:xfrm>
            <a:off x="1495129" y="1776574"/>
            <a:ext cx="8188600" cy="3304851"/>
          </a:xfrm>
          <a:prstGeom prst="rect">
            <a:avLst/>
          </a:prstGeom>
        </p:spPr>
      </p:pic>
      <p:sp>
        <p:nvSpPr>
          <p:cNvPr id="3" name="CuadroTexto 2">
            <a:extLst>
              <a:ext uri="{FF2B5EF4-FFF2-40B4-BE49-F238E27FC236}">
                <a16:creationId xmlns:a16="http://schemas.microsoft.com/office/drawing/2014/main" id="{264E875A-E0E9-5019-3940-22EE1213BBD9}"/>
              </a:ext>
            </a:extLst>
          </p:cNvPr>
          <p:cNvSpPr txBox="1"/>
          <p:nvPr/>
        </p:nvSpPr>
        <p:spPr>
          <a:xfrm>
            <a:off x="1495129" y="1290567"/>
            <a:ext cx="6097904" cy="369332"/>
          </a:xfrm>
          <a:prstGeom prst="rect">
            <a:avLst/>
          </a:prstGeom>
          <a:noFill/>
        </p:spPr>
        <p:txBody>
          <a:bodyPr wrap="square">
            <a:spAutoFit/>
          </a:bodyPr>
          <a:lstStyle/>
          <a:p>
            <a:r>
              <a:rPr lang="es-MX"/>
              <a:t>Diccionario de Data Flights</a:t>
            </a:r>
          </a:p>
        </p:txBody>
      </p:sp>
    </p:spTree>
    <p:extLst>
      <p:ext uri="{BB962C8B-B14F-4D97-AF65-F5344CB8AC3E}">
        <p14:creationId xmlns:p14="http://schemas.microsoft.com/office/powerpoint/2010/main" val="15112020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7E8C9740-204A-821F-644C-EE3402CB02DD}"/>
              </a:ext>
            </a:extLst>
          </p:cNvPr>
          <p:cNvPicPr>
            <a:picLocks noChangeAspect="1"/>
          </p:cNvPicPr>
          <p:nvPr/>
        </p:nvPicPr>
        <p:blipFill>
          <a:blip r:embed="rId2"/>
          <a:stretch>
            <a:fillRect/>
          </a:stretch>
        </p:blipFill>
        <p:spPr>
          <a:xfrm>
            <a:off x="976721" y="1549771"/>
            <a:ext cx="2502217" cy="4212065"/>
          </a:xfrm>
          <a:prstGeom prst="rect">
            <a:avLst/>
          </a:prstGeom>
        </p:spPr>
      </p:pic>
      <p:pic>
        <p:nvPicPr>
          <p:cNvPr id="7" name="Imagen 6">
            <a:extLst>
              <a:ext uri="{FF2B5EF4-FFF2-40B4-BE49-F238E27FC236}">
                <a16:creationId xmlns:a16="http://schemas.microsoft.com/office/drawing/2014/main" id="{E6457556-93CC-CE59-3009-E5D3188649A8}"/>
              </a:ext>
            </a:extLst>
          </p:cNvPr>
          <p:cNvPicPr>
            <a:picLocks noChangeAspect="1"/>
          </p:cNvPicPr>
          <p:nvPr/>
        </p:nvPicPr>
        <p:blipFill>
          <a:blip r:embed="rId3"/>
          <a:stretch>
            <a:fillRect/>
          </a:stretch>
        </p:blipFill>
        <p:spPr>
          <a:xfrm>
            <a:off x="4087169" y="1549771"/>
            <a:ext cx="3878638" cy="4212065"/>
          </a:xfrm>
          <a:prstGeom prst="rect">
            <a:avLst/>
          </a:prstGeom>
        </p:spPr>
      </p:pic>
      <p:sp>
        <p:nvSpPr>
          <p:cNvPr id="9" name="CuadroTexto 8">
            <a:extLst>
              <a:ext uri="{FF2B5EF4-FFF2-40B4-BE49-F238E27FC236}">
                <a16:creationId xmlns:a16="http://schemas.microsoft.com/office/drawing/2014/main" id="{77B2D016-0999-E741-932C-8E4CACDEBC23}"/>
              </a:ext>
            </a:extLst>
          </p:cNvPr>
          <p:cNvSpPr txBox="1"/>
          <p:nvPr/>
        </p:nvSpPr>
        <p:spPr>
          <a:xfrm>
            <a:off x="937567" y="1096164"/>
            <a:ext cx="2527239" cy="369332"/>
          </a:xfrm>
          <a:prstGeom prst="rect">
            <a:avLst/>
          </a:prstGeom>
          <a:noFill/>
        </p:spPr>
        <p:txBody>
          <a:bodyPr wrap="square">
            <a:spAutoFit/>
          </a:bodyPr>
          <a:lstStyle/>
          <a:p>
            <a:r>
              <a:rPr lang="es-MX"/>
              <a:t>count() : Cálculo rapido</a:t>
            </a:r>
          </a:p>
        </p:txBody>
      </p:sp>
      <p:sp>
        <p:nvSpPr>
          <p:cNvPr id="10" name="CuadroTexto 9">
            <a:extLst>
              <a:ext uri="{FF2B5EF4-FFF2-40B4-BE49-F238E27FC236}">
                <a16:creationId xmlns:a16="http://schemas.microsoft.com/office/drawing/2014/main" id="{14A1F5B1-0C74-359D-FF0C-FADB987A385B}"/>
              </a:ext>
            </a:extLst>
          </p:cNvPr>
          <p:cNvSpPr txBox="1"/>
          <p:nvPr/>
        </p:nvSpPr>
        <p:spPr>
          <a:xfrm>
            <a:off x="4087169" y="1096164"/>
            <a:ext cx="4471269" cy="369332"/>
          </a:xfrm>
          <a:prstGeom prst="rect">
            <a:avLst/>
          </a:prstGeom>
          <a:noFill/>
        </p:spPr>
        <p:txBody>
          <a:bodyPr wrap="square">
            <a:spAutoFit/>
          </a:bodyPr>
          <a:lstStyle/>
          <a:p>
            <a:r>
              <a:rPr lang="es-MX"/>
              <a:t>n() : Cálculo con mas calculos</a:t>
            </a:r>
          </a:p>
        </p:txBody>
      </p:sp>
      <p:sp>
        <p:nvSpPr>
          <p:cNvPr id="12" name="CuadroTexto 11">
            <a:extLst>
              <a:ext uri="{FF2B5EF4-FFF2-40B4-BE49-F238E27FC236}">
                <a16:creationId xmlns:a16="http://schemas.microsoft.com/office/drawing/2014/main" id="{D2CAA5CB-AA69-76DC-26D2-9610797497DE}"/>
              </a:ext>
            </a:extLst>
          </p:cNvPr>
          <p:cNvSpPr txBox="1"/>
          <p:nvPr/>
        </p:nvSpPr>
        <p:spPr>
          <a:xfrm>
            <a:off x="6549607" y="3753005"/>
            <a:ext cx="2268035" cy="1754326"/>
          </a:xfrm>
          <a:prstGeom prst="rect">
            <a:avLst/>
          </a:prstGeom>
          <a:noFill/>
        </p:spPr>
        <p:txBody>
          <a:bodyPr wrap="square">
            <a:spAutoFit/>
          </a:bodyPr>
          <a:lstStyle/>
          <a:p>
            <a:r>
              <a:rPr lang="es-MX"/>
              <a:t>n() es una función de resumen especial que no acepta ningún argumento y funciona solo dentro de verbos dplyr.</a:t>
            </a:r>
          </a:p>
        </p:txBody>
      </p:sp>
      <p:sp>
        <p:nvSpPr>
          <p:cNvPr id="15" name="CuadroTexto 14">
            <a:extLst>
              <a:ext uri="{FF2B5EF4-FFF2-40B4-BE49-F238E27FC236}">
                <a16:creationId xmlns:a16="http://schemas.microsoft.com/office/drawing/2014/main" id="{3D0B8663-6E1F-CAA1-B0FD-BE6CBE10C743}"/>
              </a:ext>
            </a:extLst>
          </p:cNvPr>
          <p:cNvSpPr txBox="1"/>
          <p:nvPr/>
        </p:nvSpPr>
        <p:spPr>
          <a:xfrm>
            <a:off x="847118" y="314345"/>
            <a:ext cx="6097836" cy="523220"/>
          </a:xfrm>
          <a:prstGeom prst="rect">
            <a:avLst/>
          </a:prstGeom>
          <a:noFill/>
        </p:spPr>
        <p:txBody>
          <a:bodyPr wrap="square">
            <a:spAutoFit/>
          </a:bodyPr>
          <a:lstStyle/>
          <a:p>
            <a:pPr marL="0" indent="0" defTabSz="457200">
              <a:buNone/>
            </a:pPr>
            <a:r>
              <a:rPr lang="es-ES" sz="2800">
                <a:solidFill>
                  <a:srgbClr val="FFFF00"/>
                </a:solidFill>
                <a:latin typeface="Montserrat SemiBold" panose="00000700000000000000" pitchFamily="2" charset="0"/>
              </a:rPr>
              <a:t>3. Conteo</a:t>
            </a:r>
          </a:p>
        </p:txBody>
      </p:sp>
      <p:sp>
        <p:nvSpPr>
          <p:cNvPr id="16" name="CuadroTexto 15">
            <a:extLst>
              <a:ext uri="{FF2B5EF4-FFF2-40B4-BE49-F238E27FC236}">
                <a16:creationId xmlns:a16="http://schemas.microsoft.com/office/drawing/2014/main" id="{40FEF7D0-7344-5015-B023-94039E5DF5E2}"/>
              </a:ext>
            </a:extLst>
          </p:cNvPr>
          <p:cNvSpPr txBox="1"/>
          <p:nvPr/>
        </p:nvSpPr>
        <p:spPr>
          <a:xfrm>
            <a:off x="847118" y="6043760"/>
            <a:ext cx="3175249" cy="430887"/>
          </a:xfrm>
          <a:prstGeom prst="rect">
            <a:avLst/>
          </a:prstGeom>
          <a:noFill/>
        </p:spPr>
        <p:txBody>
          <a:bodyPr wrap="square">
            <a:spAutoFit/>
          </a:bodyPr>
          <a:lstStyle/>
          <a:p>
            <a:pPr marL="342900" indent="-342900">
              <a:buAutoNum type="arabicPeriod"/>
            </a:pPr>
            <a:r>
              <a:rPr lang="es-MX" sz="1100">
                <a:latin typeface="Montserrat Light" panose="00000400000000000000" pitchFamily="2" charset="0"/>
              </a:rPr>
              <a:t>dest: aeropuerto de destino</a:t>
            </a:r>
          </a:p>
          <a:p>
            <a:pPr marL="342900" indent="-342900">
              <a:buAutoNum type="arabicPeriod"/>
            </a:pPr>
            <a:r>
              <a:rPr lang="es-MX" sz="1100">
                <a:latin typeface="Montserrat Light" panose="00000400000000000000" pitchFamily="2" charset="0"/>
              </a:rPr>
              <a:t>arr_delay: retraso de llegada (min)</a:t>
            </a:r>
          </a:p>
        </p:txBody>
      </p:sp>
    </p:spTree>
    <p:extLst>
      <p:ext uri="{BB962C8B-B14F-4D97-AF65-F5344CB8AC3E}">
        <p14:creationId xmlns:p14="http://schemas.microsoft.com/office/powerpoint/2010/main" val="2229715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88B9BBDD-B0F6-64E2-C7B0-09C0AB519AB6}"/>
              </a:ext>
            </a:extLst>
          </p:cNvPr>
          <p:cNvPicPr>
            <a:picLocks noChangeAspect="1"/>
          </p:cNvPicPr>
          <p:nvPr/>
        </p:nvPicPr>
        <p:blipFill>
          <a:blip r:embed="rId3"/>
          <a:stretch>
            <a:fillRect/>
          </a:stretch>
        </p:blipFill>
        <p:spPr>
          <a:xfrm>
            <a:off x="650809" y="1593195"/>
            <a:ext cx="4905860" cy="4471269"/>
          </a:xfrm>
          <a:prstGeom prst="rect">
            <a:avLst/>
          </a:prstGeom>
        </p:spPr>
      </p:pic>
      <p:sp>
        <p:nvSpPr>
          <p:cNvPr id="8" name="CuadroTexto 7">
            <a:extLst>
              <a:ext uri="{FF2B5EF4-FFF2-40B4-BE49-F238E27FC236}">
                <a16:creationId xmlns:a16="http://schemas.microsoft.com/office/drawing/2014/main" id="{A55D0FD1-DD9A-59F6-04D9-F9B6AE76D7CD}"/>
              </a:ext>
            </a:extLst>
          </p:cNvPr>
          <p:cNvSpPr txBox="1"/>
          <p:nvPr/>
        </p:nvSpPr>
        <p:spPr>
          <a:xfrm>
            <a:off x="609757" y="579435"/>
            <a:ext cx="2268035" cy="646331"/>
          </a:xfrm>
          <a:prstGeom prst="rect">
            <a:avLst/>
          </a:prstGeom>
          <a:noFill/>
        </p:spPr>
        <p:txBody>
          <a:bodyPr wrap="square">
            <a:spAutoFit/>
          </a:bodyPr>
          <a:lstStyle/>
          <a:p>
            <a:r>
              <a:rPr lang="es-MX"/>
              <a:t>Otras funciones variantes de conteo:</a:t>
            </a:r>
          </a:p>
        </p:txBody>
      </p:sp>
      <p:sp>
        <p:nvSpPr>
          <p:cNvPr id="9" name="CuadroTexto 8">
            <a:extLst>
              <a:ext uri="{FF2B5EF4-FFF2-40B4-BE49-F238E27FC236}">
                <a16:creationId xmlns:a16="http://schemas.microsoft.com/office/drawing/2014/main" id="{CD91488F-F243-7609-D9BC-61427C3D1C4D}"/>
              </a:ext>
            </a:extLst>
          </p:cNvPr>
          <p:cNvSpPr txBox="1"/>
          <p:nvPr/>
        </p:nvSpPr>
        <p:spPr>
          <a:xfrm>
            <a:off x="609757" y="6150642"/>
            <a:ext cx="3175249" cy="600164"/>
          </a:xfrm>
          <a:prstGeom prst="rect">
            <a:avLst/>
          </a:prstGeom>
          <a:noFill/>
        </p:spPr>
        <p:txBody>
          <a:bodyPr wrap="square">
            <a:spAutoFit/>
          </a:bodyPr>
          <a:lstStyle/>
          <a:p>
            <a:pPr marL="342900" indent="-342900">
              <a:buAutoNum type="arabicPeriod"/>
            </a:pPr>
            <a:r>
              <a:rPr lang="es-MX" sz="1100">
                <a:latin typeface="Montserrat Light" panose="00000400000000000000" pitchFamily="2" charset="0"/>
              </a:rPr>
              <a:t>dest: aeropuerto de destino</a:t>
            </a:r>
          </a:p>
          <a:p>
            <a:pPr marL="342900" indent="-342900">
              <a:buAutoNum type="arabicPeriod"/>
            </a:pPr>
            <a:r>
              <a:rPr lang="es-MX" sz="1100">
                <a:latin typeface="Montserrat Light" panose="00000400000000000000" pitchFamily="2" charset="0"/>
              </a:rPr>
              <a:t>carriers: código de aerolínea </a:t>
            </a:r>
          </a:p>
          <a:p>
            <a:pPr marL="342900" indent="-342900">
              <a:buAutoNum type="arabicPeriod"/>
            </a:pPr>
            <a:r>
              <a:rPr lang="es-MX" sz="1100">
                <a:latin typeface="Montserrat Light" panose="00000400000000000000" pitchFamily="2" charset="0"/>
              </a:rPr>
              <a:t>dep_time: hora real de salida</a:t>
            </a:r>
          </a:p>
        </p:txBody>
      </p:sp>
      <p:sp>
        <p:nvSpPr>
          <p:cNvPr id="10" name="CuadroTexto 9">
            <a:extLst>
              <a:ext uri="{FF2B5EF4-FFF2-40B4-BE49-F238E27FC236}">
                <a16:creationId xmlns:a16="http://schemas.microsoft.com/office/drawing/2014/main" id="{82852422-57CF-4FD2-81EF-2AF98B4BD2EA}"/>
              </a:ext>
            </a:extLst>
          </p:cNvPr>
          <p:cNvSpPr txBox="1"/>
          <p:nvPr/>
        </p:nvSpPr>
        <p:spPr>
          <a:xfrm>
            <a:off x="627224" y="1225766"/>
            <a:ext cx="5079970" cy="369332"/>
          </a:xfrm>
          <a:prstGeom prst="rect">
            <a:avLst/>
          </a:prstGeom>
          <a:noFill/>
        </p:spPr>
        <p:txBody>
          <a:bodyPr wrap="square">
            <a:spAutoFit/>
          </a:bodyPr>
          <a:lstStyle/>
          <a:p>
            <a:r>
              <a:rPr lang="es-MX"/>
              <a:t>n_distinct(x): cuenta valores únicos de una variable</a:t>
            </a:r>
          </a:p>
        </p:txBody>
      </p:sp>
      <p:sp>
        <p:nvSpPr>
          <p:cNvPr id="17" name="CuadroTexto 16">
            <a:extLst>
              <a:ext uri="{FF2B5EF4-FFF2-40B4-BE49-F238E27FC236}">
                <a16:creationId xmlns:a16="http://schemas.microsoft.com/office/drawing/2014/main" id="{AA073D8A-951C-66B7-CF13-6DBA033ED86D}"/>
              </a:ext>
            </a:extLst>
          </p:cNvPr>
          <p:cNvSpPr txBox="1"/>
          <p:nvPr/>
        </p:nvSpPr>
        <p:spPr>
          <a:xfrm>
            <a:off x="6073807" y="1225766"/>
            <a:ext cx="5467383" cy="369332"/>
          </a:xfrm>
          <a:prstGeom prst="rect">
            <a:avLst/>
          </a:prstGeom>
          <a:noFill/>
        </p:spPr>
        <p:txBody>
          <a:bodyPr wrap="square">
            <a:spAutoFit/>
          </a:bodyPr>
          <a:lstStyle/>
          <a:p>
            <a:r>
              <a:rPr lang="es-MX"/>
              <a:t>conteo de NA´s:</a:t>
            </a:r>
          </a:p>
        </p:txBody>
      </p:sp>
      <p:pic>
        <p:nvPicPr>
          <p:cNvPr id="19" name="Imagen 18">
            <a:extLst>
              <a:ext uri="{FF2B5EF4-FFF2-40B4-BE49-F238E27FC236}">
                <a16:creationId xmlns:a16="http://schemas.microsoft.com/office/drawing/2014/main" id="{6A906D3C-0549-C5A6-8D86-012457A8BBC9}"/>
              </a:ext>
            </a:extLst>
          </p:cNvPr>
          <p:cNvPicPr>
            <a:picLocks noChangeAspect="1"/>
          </p:cNvPicPr>
          <p:nvPr/>
        </p:nvPicPr>
        <p:blipFill>
          <a:blip r:embed="rId4"/>
          <a:stretch>
            <a:fillRect/>
          </a:stretch>
        </p:blipFill>
        <p:spPr>
          <a:xfrm>
            <a:off x="6160800" y="1593195"/>
            <a:ext cx="5244497" cy="4471269"/>
          </a:xfrm>
          <a:prstGeom prst="rect">
            <a:avLst/>
          </a:prstGeom>
        </p:spPr>
      </p:pic>
    </p:spTree>
    <p:extLst>
      <p:ext uri="{BB962C8B-B14F-4D97-AF65-F5344CB8AC3E}">
        <p14:creationId xmlns:p14="http://schemas.microsoft.com/office/powerpoint/2010/main" val="4481631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2DFD78FE-6C65-D28D-E57A-97F528C57567}"/>
              </a:ext>
            </a:extLst>
          </p:cNvPr>
          <p:cNvPicPr>
            <a:picLocks noChangeAspect="1"/>
          </p:cNvPicPr>
          <p:nvPr/>
        </p:nvPicPr>
        <p:blipFill>
          <a:blip r:embed="rId2"/>
          <a:stretch>
            <a:fillRect/>
          </a:stretch>
        </p:blipFill>
        <p:spPr>
          <a:xfrm>
            <a:off x="717517" y="1420169"/>
            <a:ext cx="4323692" cy="4420556"/>
          </a:xfrm>
          <a:prstGeom prst="rect">
            <a:avLst/>
          </a:prstGeom>
        </p:spPr>
      </p:pic>
      <p:pic>
        <p:nvPicPr>
          <p:cNvPr id="5" name="Imagen 4">
            <a:extLst>
              <a:ext uri="{FF2B5EF4-FFF2-40B4-BE49-F238E27FC236}">
                <a16:creationId xmlns:a16="http://schemas.microsoft.com/office/drawing/2014/main" id="{8ED1DC0E-F023-021E-14C1-3FB0532D85C6}"/>
              </a:ext>
            </a:extLst>
          </p:cNvPr>
          <p:cNvPicPr>
            <a:picLocks noChangeAspect="1"/>
          </p:cNvPicPr>
          <p:nvPr/>
        </p:nvPicPr>
        <p:blipFill>
          <a:blip r:embed="rId3"/>
          <a:stretch>
            <a:fillRect/>
          </a:stretch>
        </p:blipFill>
        <p:spPr>
          <a:xfrm>
            <a:off x="2755695" y="2784600"/>
            <a:ext cx="2575122" cy="3056125"/>
          </a:xfrm>
          <a:prstGeom prst="rect">
            <a:avLst/>
          </a:prstGeom>
          <a:ln w="38100">
            <a:solidFill>
              <a:srgbClr val="FFC000"/>
            </a:solidFill>
          </a:ln>
        </p:spPr>
      </p:pic>
      <p:pic>
        <p:nvPicPr>
          <p:cNvPr id="7" name="Imagen 6">
            <a:extLst>
              <a:ext uri="{FF2B5EF4-FFF2-40B4-BE49-F238E27FC236}">
                <a16:creationId xmlns:a16="http://schemas.microsoft.com/office/drawing/2014/main" id="{51F92383-CDC3-C5EA-DEBD-593E480EE9E5}"/>
              </a:ext>
            </a:extLst>
          </p:cNvPr>
          <p:cNvPicPr>
            <a:picLocks noChangeAspect="1"/>
          </p:cNvPicPr>
          <p:nvPr/>
        </p:nvPicPr>
        <p:blipFill>
          <a:blip r:embed="rId4"/>
          <a:stretch>
            <a:fillRect/>
          </a:stretch>
        </p:blipFill>
        <p:spPr>
          <a:xfrm>
            <a:off x="6320868" y="1420170"/>
            <a:ext cx="4570406" cy="4420556"/>
          </a:xfrm>
          <a:prstGeom prst="rect">
            <a:avLst/>
          </a:prstGeom>
        </p:spPr>
      </p:pic>
      <p:sp>
        <p:nvSpPr>
          <p:cNvPr id="10" name="Rectángulo 9">
            <a:extLst>
              <a:ext uri="{FF2B5EF4-FFF2-40B4-BE49-F238E27FC236}">
                <a16:creationId xmlns:a16="http://schemas.microsoft.com/office/drawing/2014/main" id="{D1DBCA51-0356-A986-F635-5EFB536BDCD9}"/>
              </a:ext>
            </a:extLst>
          </p:cNvPr>
          <p:cNvSpPr/>
          <p:nvPr/>
        </p:nvSpPr>
        <p:spPr>
          <a:xfrm>
            <a:off x="5577592" y="3108605"/>
            <a:ext cx="453668" cy="12599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Rectángulo 10">
            <a:extLst>
              <a:ext uri="{FF2B5EF4-FFF2-40B4-BE49-F238E27FC236}">
                <a16:creationId xmlns:a16="http://schemas.microsoft.com/office/drawing/2014/main" id="{767444F7-927B-D5AB-61A4-E3E77C891AB8}"/>
              </a:ext>
            </a:extLst>
          </p:cNvPr>
          <p:cNvSpPr/>
          <p:nvPr/>
        </p:nvSpPr>
        <p:spPr>
          <a:xfrm>
            <a:off x="5577592" y="3299398"/>
            <a:ext cx="453668" cy="12599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3" name="CuadroTexto 12">
            <a:extLst>
              <a:ext uri="{FF2B5EF4-FFF2-40B4-BE49-F238E27FC236}">
                <a16:creationId xmlns:a16="http://schemas.microsoft.com/office/drawing/2014/main" id="{C6EA027E-CF53-3442-8452-9D40C1B14E52}"/>
              </a:ext>
            </a:extLst>
          </p:cNvPr>
          <p:cNvSpPr txBox="1"/>
          <p:nvPr/>
        </p:nvSpPr>
        <p:spPr>
          <a:xfrm>
            <a:off x="717517" y="6085841"/>
            <a:ext cx="6097836" cy="430887"/>
          </a:xfrm>
          <a:prstGeom prst="rect">
            <a:avLst/>
          </a:prstGeom>
          <a:noFill/>
        </p:spPr>
        <p:txBody>
          <a:bodyPr wrap="square">
            <a:spAutoFit/>
          </a:bodyPr>
          <a:lstStyle/>
          <a:p>
            <a:pPr marL="342900" indent="-342900">
              <a:buAutoNum type="arabicPeriod"/>
            </a:pPr>
            <a:r>
              <a:rPr lang="es-MX" sz="1100">
                <a:latin typeface="Montserrat Light" panose="00000400000000000000" pitchFamily="2" charset="0"/>
              </a:rPr>
              <a:t>tailnum: matricula del avión</a:t>
            </a:r>
          </a:p>
          <a:p>
            <a:pPr marL="342900" indent="-342900">
              <a:buAutoNum type="arabicPeriod"/>
            </a:pPr>
            <a:r>
              <a:rPr lang="es-MX" sz="1100">
                <a:latin typeface="Montserrat Light" panose="00000400000000000000" pitchFamily="2" charset="0"/>
              </a:rPr>
              <a:t>distance: distancia</a:t>
            </a:r>
          </a:p>
        </p:txBody>
      </p:sp>
      <p:pic>
        <p:nvPicPr>
          <p:cNvPr id="18" name="Imagen 17">
            <a:extLst>
              <a:ext uri="{FF2B5EF4-FFF2-40B4-BE49-F238E27FC236}">
                <a16:creationId xmlns:a16="http://schemas.microsoft.com/office/drawing/2014/main" id="{C7A9F061-086D-EFCB-13E3-CFC77649E7A6}"/>
              </a:ext>
            </a:extLst>
          </p:cNvPr>
          <p:cNvPicPr>
            <a:picLocks noChangeAspect="1"/>
          </p:cNvPicPr>
          <p:nvPr/>
        </p:nvPicPr>
        <p:blipFill>
          <a:blip r:embed="rId5">
            <a:extLst>
              <a:ext uri="{28A0092B-C50C-407E-A947-70E740481C1C}">
                <a14:useLocalDpi xmlns:a14="http://schemas.microsoft.com/office/drawing/2010/main" val="0"/>
              </a:ext>
            </a:extLst>
          </a:blip>
          <a:srcRect l="33286" t="26359" r="24237" b="18997"/>
          <a:stretch>
            <a:fillRect/>
          </a:stretch>
        </p:blipFill>
        <p:spPr>
          <a:xfrm>
            <a:off x="8428836" y="3029715"/>
            <a:ext cx="3176046" cy="3056126"/>
          </a:xfrm>
          <a:prstGeom prst="ellipse">
            <a:avLst/>
          </a:prstGeom>
        </p:spPr>
      </p:pic>
      <p:sp>
        <p:nvSpPr>
          <p:cNvPr id="20" name="CuadroTexto 19">
            <a:extLst>
              <a:ext uri="{FF2B5EF4-FFF2-40B4-BE49-F238E27FC236}">
                <a16:creationId xmlns:a16="http://schemas.microsoft.com/office/drawing/2014/main" id="{3AE939F5-AC97-9505-048C-5B0EA71F5E62}"/>
              </a:ext>
            </a:extLst>
          </p:cNvPr>
          <p:cNvSpPr txBox="1"/>
          <p:nvPr/>
        </p:nvSpPr>
        <p:spPr>
          <a:xfrm>
            <a:off x="587915" y="928279"/>
            <a:ext cx="5079970" cy="369332"/>
          </a:xfrm>
          <a:prstGeom prst="rect">
            <a:avLst/>
          </a:prstGeom>
          <a:noFill/>
        </p:spPr>
        <p:txBody>
          <a:bodyPr wrap="square">
            <a:spAutoFit/>
          </a:bodyPr>
          <a:lstStyle/>
          <a:p>
            <a:r>
              <a:rPr lang="es-MX"/>
              <a:t>Recuento ponderado</a:t>
            </a:r>
          </a:p>
        </p:txBody>
      </p:sp>
    </p:spTree>
    <p:extLst>
      <p:ext uri="{BB962C8B-B14F-4D97-AF65-F5344CB8AC3E}">
        <p14:creationId xmlns:p14="http://schemas.microsoft.com/office/powerpoint/2010/main" val="3494211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D17EE5D-5DED-A529-B088-E2E4B3BB4FD7}"/>
              </a:ext>
            </a:extLst>
          </p:cNvPr>
          <p:cNvSpPr txBox="1"/>
          <p:nvPr/>
        </p:nvSpPr>
        <p:spPr>
          <a:xfrm>
            <a:off x="847118" y="314345"/>
            <a:ext cx="6097836" cy="523220"/>
          </a:xfrm>
          <a:prstGeom prst="rect">
            <a:avLst/>
          </a:prstGeom>
          <a:noFill/>
        </p:spPr>
        <p:txBody>
          <a:bodyPr wrap="square">
            <a:spAutoFit/>
          </a:bodyPr>
          <a:lstStyle/>
          <a:p>
            <a:pPr marL="0" indent="0" defTabSz="457200">
              <a:buNone/>
            </a:pPr>
            <a:r>
              <a:rPr lang="es-ES" sz="2800">
                <a:solidFill>
                  <a:srgbClr val="FFFF00"/>
                </a:solidFill>
                <a:latin typeface="Montserrat SemiBold" panose="00000700000000000000" pitchFamily="2" charset="0"/>
              </a:rPr>
              <a:t>4. Transformaciones Numéricas</a:t>
            </a:r>
          </a:p>
        </p:txBody>
      </p:sp>
      <p:sp>
        <p:nvSpPr>
          <p:cNvPr id="6" name="CuadroTexto 5">
            <a:extLst>
              <a:ext uri="{FF2B5EF4-FFF2-40B4-BE49-F238E27FC236}">
                <a16:creationId xmlns:a16="http://schemas.microsoft.com/office/drawing/2014/main" id="{139A1937-66D4-9929-3325-0292E3223AA6}"/>
              </a:ext>
            </a:extLst>
          </p:cNvPr>
          <p:cNvSpPr txBox="1"/>
          <p:nvPr/>
        </p:nvSpPr>
        <p:spPr>
          <a:xfrm>
            <a:off x="847050" y="1073803"/>
            <a:ext cx="6097904" cy="400110"/>
          </a:xfrm>
          <a:prstGeom prst="rect">
            <a:avLst/>
          </a:prstGeom>
          <a:noFill/>
        </p:spPr>
        <p:txBody>
          <a:bodyPr wrap="square">
            <a:spAutoFit/>
          </a:bodyPr>
          <a:lstStyle/>
          <a:p>
            <a:r>
              <a:rPr lang="es-MX" sz="2000" b="1">
                <a:solidFill>
                  <a:srgbClr val="CC00CC"/>
                </a:solidFill>
                <a:highlight>
                  <a:srgbClr val="FFFF00"/>
                </a:highlight>
              </a:rPr>
              <a:t>4.1. Reglas aritméticas y de reciclaje.</a:t>
            </a:r>
          </a:p>
        </p:txBody>
      </p:sp>
      <p:pic>
        <p:nvPicPr>
          <p:cNvPr id="13" name="Imagen 12">
            <a:extLst>
              <a:ext uri="{FF2B5EF4-FFF2-40B4-BE49-F238E27FC236}">
                <a16:creationId xmlns:a16="http://schemas.microsoft.com/office/drawing/2014/main" id="{7C3F0ED7-D338-F71D-0DD4-D77DD3E110C4}"/>
              </a:ext>
            </a:extLst>
          </p:cNvPr>
          <p:cNvPicPr>
            <a:picLocks noChangeAspect="1"/>
          </p:cNvPicPr>
          <p:nvPr/>
        </p:nvPicPr>
        <p:blipFill>
          <a:blip r:embed="rId2"/>
          <a:stretch>
            <a:fillRect/>
          </a:stretch>
        </p:blipFill>
        <p:spPr>
          <a:xfrm>
            <a:off x="858605" y="1961544"/>
            <a:ext cx="2515754" cy="431574"/>
          </a:xfrm>
          <a:prstGeom prst="rect">
            <a:avLst/>
          </a:prstGeom>
        </p:spPr>
      </p:pic>
      <p:pic>
        <p:nvPicPr>
          <p:cNvPr id="15" name="Imagen 14">
            <a:extLst>
              <a:ext uri="{FF2B5EF4-FFF2-40B4-BE49-F238E27FC236}">
                <a16:creationId xmlns:a16="http://schemas.microsoft.com/office/drawing/2014/main" id="{090E829B-F269-FED7-3288-5319A23088F2}"/>
              </a:ext>
            </a:extLst>
          </p:cNvPr>
          <p:cNvPicPr>
            <a:picLocks noChangeAspect="1"/>
          </p:cNvPicPr>
          <p:nvPr/>
        </p:nvPicPr>
        <p:blipFill>
          <a:blip r:embed="rId3"/>
          <a:stretch>
            <a:fillRect/>
          </a:stretch>
        </p:blipFill>
        <p:spPr>
          <a:xfrm>
            <a:off x="847049" y="2465016"/>
            <a:ext cx="2527309" cy="2143532"/>
          </a:xfrm>
          <a:prstGeom prst="rect">
            <a:avLst/>
          </a:prstGeom>
        </p:spPr>
      </p:pic>
      <p:pic>
        <p:nvPicPr>
          <p:cNvPr id="19" name="Imagen 18">
            <a:extLst>
              <a:ext uri="{FF2B5EF4-FFF2-40B4-BE49-F238E27FC236}">
                <a16:creationId xmlns:a16="http://schemas.microsoft.com/office/drawing/2014/main" id="{41BB5EF7-7163-788A-10C3-0903EDCE4358}"/>
              </a:ext>
            </a:extLst>
          </p:cNvPr>
          <p:cNvPicPr>
            <a:picLocks noChangeAspect="1"/>
          </p:cNvPicPr>
          <p:nvPr/>
        </p:nvPicPr>
        <p:blipFill>
          <a:blip r:embed="rId4"/>
          <a:stretch>
            <a:fillRect/>
          </a:stretch>
        </p:blipFill>
        <p:spPr>
          <a:xfrm>
            <a:off x="3503961" y="1961544"/>
            <a:ext cx="7807708" cy="2647004"/>
          </a:xfrm>
          <a:prstGeom prst="rect">
            <a:avLst/>
          </a:prstGeom>
        </p:spPr>
      </p:pic>
      <p:sp>
        <p:nvSpPr>
          <p:cNvPr id="25" name="CuadroTexto 24">
            <a:extLst>
              <a:ext uri="{FF2B5EF4-FFF2-40B4-BE49-F238E27FC236}">
                <a16:creationId xmlns:a16="http://schemas.microsoft.com/office/drawing/2014/main" id="{2735C337-A6E1-6626-6CBD-77A826FA758A}"/>
              </a:ext>
            </a:extLst>
          </p:cNvPr>
          <p:cNvSpPr txBox="1"/>
          <p:nvPr/>
        </p:nvSpPr>
        <p:spPr>
          <a:xfrm>
            <a:off x="847049" y="1460863"/>
            <a:ext cx="8813005" cy="369332"/>
          </a:xfrm>
          <a:prstGeom prst="rect">
            <a:avLst/>
          </a:prstGeom>
          <a:noFill/>
        </p:spPr>
        <p:txBody>
          <a:bodyPr wrap="square">
            <a:spAutoFit/>
          </a:bodyPr>
          <a:lstStyle/>
          <a:p>
            <a:r>
              <a:rPr lang="es-MX"/>
              <a:t>Reciclaje: R maneja las longitudes que no coinciden </a:t>
            </a:r>
            <a:r>
              <a:rPr lang="es-MX" b="1"/>
              <a:t>reciclando</a:t>
            </a:r>
            <a:r>
              <a:rPr lang="es-MX"/>
              <a:t> o repitiendo el vector corto.</a:t>
            </a:r>
          </a:p>
        </p:txBody>
      </p:sp>
      <p:sp>
        <p:nvSpPr>
          <p:cNvPr id="26" name="Bocadillo: ovalado 25">
            <a:extLst>
              <a:ext uri="{FF2B5EF4-FFF2-40B4-BE49-F238E27FC236}">
                <a16:creationId xmlns:a16="http://schemas.microsoft.com/office/drawing/2014/main" id="{E58A5AD7-2763-1099-EEA5-41A1EA9B3BB2}"/>
              </a:ext>
            </a:extLst>
          </p:cNvPr>
          <p:cNvSpPr/>
          <p:nvPr/>
        </p:nvSpPr>
        <p:spPr>
          <a:xfrm rot="21268029">
            <a:off x="6653937" y="1995050"/>
            <a:ext cx="4597287" cy="1475962"/>
          </a:xfrm>
          <a:prstGeom prst="wedgeEllipseCallout">
            <a:avLst/>
          </a:prstGeom>
          <a:solidFill>
            <a:srgbClr val="FFFF00"/>
          </a:solidFill>
          <a:ln w="381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a:solidFill>
                  <a:srgbClr val="12485F"/>
                </a:solidFill>
              </a:rPr>
              <a:t>Por lo general (pero no siempre), R le da una advertencia si el vector más largo no es múltiplo del más corto</a:t>
            </a:r>
            <a:endParaRPr lang="es-MX">
              <a:solidFill>
                <a:srgbClr val="12485F"/>
              </a:solidFill>
            </a:endParaRPr>
          </a:p>
        </p:txBody>
      </p:sp>
      <p:pic>
        <p:nvPicPr>
          <p:cNvPr id="1026" name="Picture 2" descr="Nota importante - Iconos gratis de viaje">
            <a:extLst>
              <a:ext uri="{FF2B5EF4-FFF2-40B4-BE49-F238E27FC236}">
                <a16:creationId xmlns:a16="http://schemas.microsoft.com/office/drawing/2014/main" id="{002CCCE3-E81A-138D-3064-12CF9E4C00F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84124" y="2057716"/>
            <a:ext cx="814599" cy="81459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 woman collecting garbage and holding a recycle bin with plastic bottles in the outdoors">
            <a:extLst>
              <a:ext uri="{FF2B5EF4-FFF2-40B4-BE49-F238E27FC236}">
                <a16:creationId xmlns:a16="http://schemas.microsoft.com/office/drawing/2014/main" id="{4359C0C7-6A85-B54B-2FBB-B07C8E50ABE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11174" y="4739897"/>
            <a:ext cx="2865349" cy="1910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80755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n 17">
            <a:extLst>
              <a:ext uri="{FF2B5EF4-FFF2-40B4-BE49-F238E27FC236}">
                <a16:creationId xmlns:a16="http://schemas.microsoft.com/office/drawing/2014/main" id="{6268D106-1061-74C4-0CC0-600F77F6BEC6}"/>
              </a:ext>
            </a:extLst>
          </p:cNvPr>
          <p:cNvPicPr>
            <a:picLocks noChangeAspect="1"/>
          </p:cNvPicPr>
          <p:nvPr/>
        </p:nvPicPr>
        <p:blipFill>
          <a:blip r:embed="rId2"/>
          <a:srcRect r="19575"/>
          <a:stretch>
            <a:fillRect/>
          </a:stretch>
        </p:blipFill>
        <p:spPr>
          <a:xfrm>
            <a:off x="7089144" y="3217558"/>
            <a:ext cx="3929007" cy="2899552"/>
          </a:xfrm>
          <a:prstGeom prst="rect">
            <a:avLst/>
          </a:prstGeom>
        </p:spPr>
      </p:pic>
      <p:pic>
        <p:nvPicPr>
          <p:cNvPr id="20" name="Imagen 19">
            <a:extLst>
              <a:ext uri="{FF2B5EF4-FFF2-40B4-BE49-F238E27FC236}">
                <a16:creationId xmlns:a16="http://schemas.microsoft.com/office/drawing/2014/main" id="{0F1FC9BE-48D6-DC75-B6E1-0A241BFF2E61}"/>
              </a:ext>
            </a:extLst>
          </p:cNvPr>
          <p:cNvPicPr>
            <a:picLocks noChangeAspect="1"/>
          </p:cNvPicPr>
          <p:nvPr/>
        </p:nvPicPr>
        <p:blipFill>
          <a:blip r:embed="rId3"/>
          <a:stretch>
            <a:fillRect/>
          </a:stretch>
        </p:blipFill>
        <p:spPr>
          <a:xfrm>
            <a:off x="7089144" y="174500"/>
            <a:ext cx="3929007" cy="2851977"/>
          </a:xfrm>
          <a:prstGeom prst="rect">
            <a:avLst/>
          </a:prstGeom>
        </p:spPr>
      </p:pic>
      <p:grpSp>
        <p:nvGrpSpPr>
          <p:cNvPr id="58" name="Grupo 57">
            <a:extLst>
              <a:ext uri="{FF2B5EF4-FFF2-40B4-BE49-F238E27FC236}">
                <a16:creationId xmlns:a16="http://schemas.microsoft.com/office/drawing/2014/main" id="{3F90ABDB-FD6E-29AF-FE7A-D3E0FD502B1E}"/>
              </a:ext>
            </a:extLst>
          </p:cNvPr>
          <p:cNvGrpSpPr/>
          <p:nvPr/>
        </p:nvGrpSpPr>
        <p:grpSpPr>
          <a:xfrm>
            <a:off x="1171124" y="253018"/>
            <a:ext cx="3369652" cy="6366347"/>
            <a:chOff x="328711" y="237902"/>
            <a:chExt cx="3343742" cy="6488284"/>
          </a:xfrm>
        </p:grpSpPr>
        <p:pic>
          <p:nvPicPr>
            <p:cNvPr id="24" name="Imagen 23">
              <a:extLst>
                <a:ext uri="{FF2B5EF4-FFF2-40B4-BE49-F238E27FC236}">
                  <a16:creationId xmlns:a16="http://schemas.microsoft.com/office/drawing/2014/main" id="{487F95AF-FE01-C1AE-768F-8787C95C1711}"/>
                </a:ext>
              </a:extLst>
            </p:cNvPr>
            <p:cNvPicPr>
              <a:picLocks noChangeAspect="1"/>
            </p:cNvPicPr>
            <p:nvPr/>
          </p:nvPicPr>
          <p:blipFill>
            <a:blip r:embed="rId4"/>
            <a:stretch>
              <a:fillRect/>
            </a:stretch>
          </p:blipFill>
          <p:spPr>
            <a:xfrm>
              <a:off x="328711" y="237902"/>
              <a:ext cx="3343742" cy="6134956"/>
            </a:xfrm>
            <a:prstGeom prst="rect">
              <a:avLst/>
            </a:prstGeom>
          </p:spPr>
        </p:pic>
        <p:sp>
          <p:nvSpPr>
            <p:cNvPr id="26" name="Rectángulo 25">
              <a:extLst>
                <a:ext uri="{FF2B5EF4-FFF2-40B4-BE49-F238E27FC236}">
                  <a16:creationId xmlns:a16="http://schemas.microsoft.com/office/drawing/2014/main" id="{6BF7FA4B-46C9-0888-C8A1-91C1A3867E22}"/>
                </a:ext>
              </a:extLst>
            </p:cNvPr>
            <p:cNvSpPr/>
            <p:nvPr/>
          </p:nvSpPr>
          <p:spPr>
            <a:xfrm>
              <a:off x="2000584" y="1420169"/>
              <a:ext cx="272156" cy="453607"/>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a:solidFill>
                    <a:srgbClr val="002060"/>
                  </a:solidFill>
                </a:rPr>
                <a:t>1</a:t>
              </a:r>
            </a:p>
            <a:p>
              <a:pPr algn="ctr"/>
              <a:r>
                <a:rPr lang="es-MX" sz="1400">
                  <a:solidFill>
                    <a:srgbClr val="002060"/>
                  </a:solidFill>
                </a:rPr>
                <a:t>2</a:t>
              </a:r>
            </a:p>
          </p:txBody>
        </p:sp>
        <p:sp>
          <p:nvSpPr>
            <p:cNvPr id="37" name="Rectángulo 36">
              <a:extLst>
                <a:ext uri="{FF2B5EF4-FFF2-40B4-BE49-F238E27FC236}">
                  <a16:creationId xmlns:a16="http://schemas.microsoft.com/office/drawing/2014/main" id="{A8BB74FC-CB1C-B953-B137-9993BEC1B387}"/>
                </a:ext>
              </a:extLst>
            </p:cNvPr>
            <p:cNvSpPr/>
            <p:nvPr/>
          </p:nvSpPr>
          <p:spPr>
            <a:xfrm>
              <a:off x="2000584" y="1938577"/>
              <a:ext cx="272156" cy="453607"/>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a:solidFill>
                    <a:srgbClr val="002060"/>
                  </a:solidFill>
                </a:rPr>
                <a:t>1</a:t>
              </a:r>
            </a:p>
            <a:p>
              <a:pPr algn="ctr"/>
              <a:r>
                <a:rPr lang="es-MX" sz="1400">
                  <a:solidFill>
                    <a:srgbClr val="002060"/>
                  </a:solidFill>
                </a:rPr>
                <a:t>2</a:t>
              </a:r>
            </a:p>
          </p:txBody>
        </p:sp>
        <p:sp>
          <p:nvSpPr>
            <p:cNvPr id="38" name="Rectángulo 37">
              <a:extLst>
                <a:ext uri="{FF2B5EF4-FFF2-40B4-BE49-F238E27FC236}">
                  <a16:creationId xmlns:a16="http://schemas.microsoft.com/office/drawing/2014/main" id="{81AC83F6-A878-1185-DF75-F01FD318B560}"/>
                </a:ext>
              </a:extLst>
            </p:cNvPr>
            <p:cNvSpPr/>
            <p:nvPr/>
          </p:nvSpPr>
          <p:spPr>
            <a:xfrm>
              <a:off x="2000584" y="2424767"/>
              <a:ext cx="272156" cy="453607"/>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a:solidFill>
                    <a:srgbClr val="002060"/>
                  </a:solidFill>
                </a:rPr>
                <a:t>1</a:t>
              </a:r>
            </a:p>
            <a:p>
              <a:pPr algn="ctr"/>
              <a:r>
                <a:rPr lang="es-MX" sz="1400">
                  <a:solidFill>
                    <a:srgbClr val="002060"/>
                  </a:solidFill>
                </a:rPr>
                <a:t>2</a:t>
              </a:r>
            </a:p>
          </p:txBody>
        </p:sp>
        <p:sp>
          <p:nvSpPr>
            <p:cNvPr id="39" name="Rectángulo 38">
              <a:extLst>
                <a:ext uri="{FF2B5EF4-FFF2-40B4-BE49-F238E27FC236}">
                  <a16:creationId xmlns:a16="http://schemas.microsoft.com/office/drawing/2014/main" id="{611240FB-5473-E2FA-293F-9E856D5B8A86}"/>
                </a:ext>
              </a:extLst>
            </p:cNvPr>
            <p:cNvSpPr/>
            <p:nvPr/>
          </p:nvSpPr>
          <p:spPr>
            <a:xfrm>
              <a:off x="2002627" y="2911483"/>
              <a:ext cx="272156" cy="453607"/>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a:solidFill>
                    <a:srgbClr val="002060"/>
                  </a:solidFill>
                </a:rPr>
                <a:t>1</a:t>
              </a:r>
            </a:p>
            <a:p>
              <a:pPr algn="ctr"/>
              <a:r>
                <a:rPr lang="es-MX" sz="1400">
                  <a:solidFill>
                    <a:srgbClr val="002060"/>
                  </a:solidFill>
                </a:rPr>
                <a:t>2</a:t>
              </a:r>
            </a:p>
          </p:txBody>
        </p:sp>
        <p:sp>
          <p:nvSpPr>
            <p:cNvPr id="40" name="Rectángulo 39">
              <a:extLst>
                <a:ext uri="{FF2B5EF4-FFF2-40B4-BE49-F238E27FC236}">
                  <a16:creationId xmlns:a16="http://schemas.microsoft.com/office/drawing/2014/main" id="{F44DD072-FDDF-411C-C4A1-913C68964596}"/>
                </a:ext>
              </a:extLst>
            </p:cNvPr>
            <p:cNvSpPr/>
            <p:nvPr/>
          </p:nvSpPr>
          <p:spPr>
            <a:xfrm>
              <a:off x="2000582" y="3429000"/>
              <a:ext cx="272156" cy="453607"/>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a:solidFill>
                    <a:srgbClr val="002060"/>
                  </a:solidFill>
                </a:rPr>
                <a:t>1</a:t>
              </a:r>
            </a:p>
            <a:p>
              <a:pPr algn="ctr"/>
              <a:r>
                <a:rPr lang="es-MX" sz="1400">
                  <a:solidFill>
                    <a:srgbClr val="002060"/>
                  </a:solidFill>
                </a:rPr>
                <a:t>2</a:t>
              </a:r>
            </a:p>
          </p:txBody>
        </p:sp>
        <p:grpSp>
          <p:nvGrpSpPr>
            <p:cNvPr id="45" name="Grupo 44">
              <a:extLst>
                <a:ext uri="{FF2B5EF4-FFF2-40B4-BE49-F238E27FC236}">
                  <a16:creationId xmlns:a16="http://schemas.microsoft.com/office/drawing/2014/main" id="{E9F6912F-2A9F-C73D-9714-7814CC97929E}"/>
                </a:ext>
              </a:extLst>
            </p:cNvPr>
            <p:cNvGrpSpPr/>
            <p:nvPr/>
          </p:nvGrpSpPr>
          <p:grpSpPr>
            <a:xfrm>
              <a:off x="2071859" y="5039903"/>
              <a:ext cx="130344" cy="527530"/>
              <a:chOff x="2071859" y="5169505"/>
              <a:chExt cx="130344" cy="527530"/>
            </a:xfrm>
          </p:grpSpPr>
          <p:sp>
            <p:nvSpPr>
              <p:cNvPr id="41" name="Elipse 40">
                <a:extLst>
                  <a:ext uri="{FF2B5EF4-FFF2-40B4-BE49-F238E27FC236}">
                    <a16:creationId xmlns:a16="http://schemas.microsoft.com/office/drawing/2014/main" id="{8DFAB4CC-EF80-3339-788C-E946E8A2612C}"/>
                  </a:ext>
                </a:extLst>
              </p:cNvPr>
              <p:cNvSpPr/>
              <p:nvPr/>
            </p:nvSpPr>
            <p:spPr>
              <a:xfrm>
                <a:off x="2071859" y="5169505"/>
                <a:ext cx="129602" cy="129602"/>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2" name="Elipse 41">
                <a:extLst>
                  <a:ext uri="{FF2B5EF4-FFF2-40B4-BE49-F238E27FC236}">
                    <a16:creationId xmlns:a16="http://schemas.microsoft.com/office/drawing/2014/main" id="{7BF108B0-4610-DAC0-F9C4-5A52E556F191}"/>
                  </a:ext>
                </a:extLst>
              </p:cNvPr>
              <p:cNvSpPr/>
              <p:nvPr/>
            </p:nvSpPr>
            <p:spPr>
              <a:xfrm>
                <a:off x="2072601" y="5374531"/>
                <a:ext cx="129602" cy="129602"/>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3" name="Elipse 42">
                <a:extLst>
                  <a:ext uri="{FF2B5EF4-FFF2-40B4-BE49-F238E27FC236}">
                    <a16:creationId xmlns:a16="http://schemas.microsoft.com/office/drawing/2014/main" id="{54AA2F07-F2DA-CB66-3553-60E78015932B}"/>
                  </a:ext>
                </a:extLst>
              </p:cNvPr>
              <p:cNvSpPr/>
              <p:nvPr/>
            </p:nvSpPr>
            <p:spPr>
              <a:xfrm>
                <a:off x="2071859" y="5567433"/>
                <a:ext cx="129602" cy="129602"/>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sp>
          <p:nvSpPr>
            <p:cNvPr id="44" name="Rectángulo 43">
              <a:extLst>
                <a:ext uri="{FF2B5EF4-FFF2-40B4-BE49-F238E27FC236}">
                  <a16:creationId xmlns:a16="http://schemas.microsoft.com/office/drawing/2014/main" id="{A334214C-D166-F9C6-6A02-0738D4689D66}"/>
                </a:ext>
              </a:extLst>
            </p:cNvPr>
            <p:cNvSpPr/>
            <p:nvPr/>
          </p:nvSpPr>
          <p:spPr>
            <a:xfrm>
              <a:off x="2000582" y="3924129"/>
              <a:ext cx="272156" cy="453607"/>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a:solidFill>
                    <a:srgbClr val="002060"/>
                  </a:solidFill>
                </a:rPr>
                <a:t>1</a:t>
              </a:r>
            </a:p>
            <a:p>
              <a:pPr algn="ctr"/>
              <a:r>
                <a:rPr lang="es-MX" sz="1400">
                  <a:solidFill>
                    <a:srgbClr val="002060"/>
                  </a:solidFill>
                </a:rPr>
                <a:t>2</a:t>
              </a:r>
            </a:p>
          </p:txBody>
        </p:sp>
        <p:pic>
          <p:nvPicPr>
            <p:cNvPr id="57" name="Imagen 56">
              <a:extLst>
                <a:ext uri="{FF2B5EF4-FFF2-40B4-BE49-F238E27FC236}">
                  <a16:creationId xmlns:a16="http://schemas.microsoft.com/office/drawing/2014/main" id="{74B2445E-90E3-FF0D-643B-F4EB8F6A3A9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08303" y="6069472"/>
              <a:ext cx="656714" cy="656714"/>
            </a:xfrm>
            <a:prstGeom prst="rect">
              <a:avLst/>
            </a:prstGeom>
          </p:spPr>
        </p:pic>
      </p:grpSp>
      <p:sp>
        <p:nvSpPr>
          <p:cNvPr id="59" name="Signo de multiplicación 58">
            <a:extLst>
              <a:ext uri="{FF2B5EF4-FFF2-40B4-BE49-F238E27FC236}">
                <a16:creationId xmlns:a16="http://schemas.microsoft.com/office/drawing/2014/main" id="{0261C13B-E26C-F370-E34F-2D0F42E43D9C}"/>
              </a:ext>
            </a:extLst>
          </p:cNvPr>
          <p:cNvSpPr/>
          <p:nvPr/>
        </p:nvSpPr>
        <p:spPr>
          <a:xfrm>
            <a:off x="4015595" y="1635607"/>
            <a:ext cx="259204" cy="245487"/>
          </a:xfrm>
          <a:prstGeom prst="mathMultiply">
            <a:avLst/>
          </a:prstGeom>
          <a:solidFill>
            <a:srgbClr val="FF00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25" name="Forma libre: forma 1024">
            <a:extLst>
              <a:ext uri="{FF2B5EF4-FFF2-40B4-BE49-F238E27FC236}">
                <a16:creationId xmlns:a16="http://schemas.microsoft.com/office/drawing/2014/main" id="{4A7A2421-9983-829E-65F9-0936AB928AFC}"/>
              </a:ext>
            </a:extLst>
          </p:cNvPr>
          <p:cNvSpPr/>
          <p:nvPr/>
        </p:nvSpPr>
        <p:spPr>
          <a:xfrm rot="14090704">
            <a:off x="4096165" y="1402950"/>
            <a:ext cx="98064" cy="199836"/>
          </a:xfrm>
          <a:custGeom>
            <a:avLst/>
            <a:gdLst>
              <a:gd name="connsiteX0" fmla="*/ 417274 w 731938"/>
              <a:gd name="connsiteY0" fmla="*/ 1653778 h 1660483"/>
              <a:gd name="connsiteX1" fmla="*/ 28526 w 731938"/>
              <a:gd name="connsiteY1" fmla="*/ 1660483 h 1660483"/>
              <a:gd name="connsiteX2" fmla="*/ 0 w 731938"/>
              <a:gd name="connsiteY2" fmla="*/ 6706 h 1660483"/>
              <a:gd name="connsiteX3" fmla="*/ 121052 w 731938"/>
              <a:gd name="connsiteY3" fmla="*/ 4617 h 1660483"/>
              <a:gd name="connsiteX4" fmla="*/ 121052 w 731938"/>
              <a:gd name="connsiteY4" fmla="*/ 2963 h 1660483"/>
              <a:gd name="connsiteX5" fmla="*/ 216963 w 731938"/>
              <a:gd name="connsiteY5" fmla="*/ 2963 h 1660483"/>
              <a:gd name="connsiteX6" fmla="*/ 388748 w 731938"/>
              <a:gd name="connsiteY6" fmla="*/ 0 h 1660483"/>
              <a:gd name="connsiteX7" fmla="*/ 388800 w 731938"/>
              <a:gd name="connsiteY7" fmla="*/ 2963 h 1660483"/>
              <a:gd name="connsiteX8" fmla="*/ 731938 w 731938"/>
              <a:gd name="connsiteY8" fmla="*/ 2963 h 1660483"/>
              <a:gd name="connsiteX9" fmla="*/ 731938 w 731938"/>
              <a:gd name="connsiteY9" fmla="*/ 391769 h 1660483"/>
              <a:gd name="connsiteX10" fmla="*/ 395506 w 731938"/>
              <a:gd name="connsiteY10" fmla="*/ 391769 h 1660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1938" h="1660483">
                <a:moveTo>
                  <a:pt x="417274" y="1653778"/>
                </a:moveTo>
                <a:lnTo>
                  <a:pt x="28526" y="1660483"/>
                </a:lnTo>
                <a:lnTo>
                  <a:pt x="0" y="6706"/>
                </a:lnTo>
                <a:lnTo>
                  <a:pt x="121052" y="4617"/>
                </a:lnTo>
                <a:lnTo>
                  <a:pt x="121052" y="2963"/>
                </a:lnTo>
                <a:lnTo>
                  <a:pt x="216963" y="2963"/>
                </a:lnTo>
                <a:lnTo>
                  <a:pt x="388748" y="0"/>
                </a:lnTo>
                <a:lnTo>
                  <a:pt x="388800" y="2963"/>
                </a:lnTo>
                <a:lnTo>
                  <a:pt x="731938" y="2963"/>
                </a:lnTo>
                <a:lnTo>
                  <a:pt x="731938" y="391769"/>
                </a:lnTo>
                <a:lnTo>
                  <a:pt x="395506" y="391769"/>
                </a:lnTo>
                <a:close/>
              </a:path>
            </a:pathLst>
          </a:custGeom>
          <a:solidFill>
            <a:srgbClr val="FF00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s-MX"/>
          </a:p>
        </p:txBody>
      </p:sp>
      <p:sp>
        <p:nvSpPr>
          <p:cNvPr id="1026" name="Forma libre: forma 1025">
            <a:extLst>
              <a:ext uri="{FF2B5EF4-FFF2-40B4-BE49-F238E27FC236}">
                <a16:creationId xmlns:a16="http://schemas.microsoft.com/office/drawing/2014/main" id="{493769BA-D83E-AD94-670D-EF0B9224C793}"/>
              </a:ext>
            </a:extLst>
          </p:cNvPr>
          <p:cNvSpPr/>
          <p:nvPr/>
        </p:nvSpPr>
        <p:spPr>
          <a:xfrm rot="14090704">
            <a:off x="4115841" y="1911547"/>
            <a:ext cx="98064" cy="199836"/>
          </a:xfrm>
          <a:custGeom>
            <a:avLst/>
            <a:gdLst>
              <a:gd name="connsiteX0" fmla="*/ 417274 w 731938"/>
              <a:gd name="connsiteY0" fmla="*/ 1653778 h 1660483"/>
              <a:gd name="connsiteX1" fmla="*/ 28526 w 731938"/>
              <a:gd name="connsiteY1" fmla="*/ 1660483 h 1660483"/>
              <a:gd name="connsiteX2" fmla="*/ 0 w 731938"/>
              <a:gd name="connsiteY2" fmla="*/ 6706 h 1660483"/>
              <a:gd name="connsiteX3" fmla="*/ 121052 w 731938"/>
              <a:gd name="connsiteY3" fmla="*/ 4617 h 1660483"/>
              <a:gd name="connsiteX4" fmla="*/ 121052 w 731938"/>
              <a:gd name="connsiteY4" fmla="*/ 2963 h 1660483"/>
              <a:gd name="connsiteX5" fmla="*/ 216963 w 731938"/>
              <a:gd name="connsiteY5" fmla="*/ 2963 h 1660483"/>
              <a:gd name="connsiteX6" fmla="*/ 388748 w 731938"/>
              <a:gd name="connsiteY6" fmla="*/ 0 h 1660483"/>
              <a:gd name="connsiteX7" fmla="*/ 388800 w 731938"/>
              <a:gd name="connsiteY7" fmla="*/ 2963 h 1660483"/>
              <a:gd name="connsiteX8" fmla="*/ 731938 w 731938"/>
              <a:gd name="connsiteY8" fmla="*/ 2963 h 1660483"/>
              <a:gd name="connsiteX9" fmla="*/ 731938 w 731938"/>
              <a:gd name="connsiteY9" fmla="*/ 391769 h 1660483"/>
              <a:gd name="connsiteX10" fmla="*/ 395506 w 731938"/>
              <a:gd name="connsiteY10" fmla="*/ 391769 h 1660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1938" h="1660483">
                <a:moveTo>
                  <a:pt x="417274" y="1653778"/>
                </a:moveTo>
                <a:lnTo>
                  <a:pt x="28526" y="1660483"/>
                </a:lnTo>
                <a:lnTo>
                  <a:pt x="0" y="6706"/>
                </a:lnTo>
                <a:lnTo>
                  <a:pt x="121052" y="4617"/>
                </a:lnTo>
                <a:lnTo>
                  <a:pt x="121052" y="2963"/>
                </a:lnTo>
                <a:lnTo>
                  <a:pt x="216963" y="2963"/>
                </a:lnTo>
                <a:lnTo>
                  <a:pt x="388748" y="0"/>
                </a:lnTo>
                <a:lnTo>
                  <a:pt x="388800" y="2963"/>
                </a:lnTo>
                <a:lnTo>
                  <a:pt x="731938" y="2963"/>
                </a:lnTo>
                <a:lnTo>
                  <a:pt x="731938" y="391769"/>
                </a:lnTo>
                <a:lnTo>
                  <a:pt x="395506" y="391769"/>
                </a:lnTo>
                <a:close/>
              </a:path>
            </a:pathLst>
          </a:custGeom>
          <a:solidFill>
            <a:srgbClr val="FF00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s-MX"/>
          </a:p>
        </p:txBody>
      </p:sp>
      <p:sp>
        <p:nvSpPr>
          <p:cNvPr id="1028" name="Signo de multiplicación 1027">
            <a:extLst>
              <a:ext uri="{FF2B5EF4-FFF2-40B4-BE49-F238E27FC236}">
                <a16:creationId xmlns:a16="http://schemas.microsoft.com/office/drawing/2014/main" id="{064B6431-99C5-351E-36C2-C3BAB12C1BBC}"/>
              </a:ext>
            </a:extLst>
          </p:cNvPr>
          <p:cNvSpPr/>
          <p:nvPr/>
        </p:nvSpPr>
        <p:spPr>
          <a:xfrm>
            <a:off x="4015595" y="2135708"/>
            <a:ext cx="259204" cy="245487"/>
          </a:xfrm>
          <a:prstGeom prst="mathMultiply">
            <a:avLst/>
          </a:prstGeom>
          <a:solidFill>
            <a:srgbClr val="FF00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29" name="Signo de multiplicación 1028">
            <a:extLst>
              <a:ext uri="{FF2B5EF4-FFF2-40B4-BE49-F238E27FC236}">
                <a16:creationId xmlns:a16="http://schemas.microsoft.com/office/drawing/2014/main" id="{C09C9CB9-CAAF-420B-7D5A-EB6C9E7164FB}"/>
              </a:ext>
            </a:extLst>
          </p:cNvPr>
          <p:cNvSpPr/>
          <p:nvPr/>
        </p:nvSpPr>
        <p:spPr>
          <a:xfrm>
            <a:off x="4030152" y="2607775"/>
            <a:ext cx="259204" cy="245487"/>
          </a:xfrm>
          <a:prstGeom prst="mathMultiply">
            <a:avLst/>
          </a:prstGeom>
          <a:solidFill>
            <a:srgbClr val="FF00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31" name="Forma libre: forma 1030">
            <a:extLst>
              <a:ext uri="{FF2B5EF4-FFF2-40B4-BE49-F238E27FC236}">
                <a16:creationId xmlns:a16="http://schemas.microsoft.com/office/drawing/2014/main" id="{C734AA5C-9507-4F49-559B-EE4EE53D5AB8}"/>
              </a:ext>
            </a:extLst>
          </p:cNvPr>
          <p:cNvSpPr/>
          <p:nvPr/>
        </p:nvSpPr>
        <p:spPr>
          <a:xfrm rot="14090704">
            <a:off x="4110722" y="2375118"/>
            <a:ext cx="98064" cy="199836"/>
          </a:xfrm>
          <a:custGeom>
            <a:avLst/>
            <a:gdLst>
              <a:gd name="connsiteX0" fmla="*/ 417274 w 731938"/>
              <a:gd name="connsiteY0" fmla="*/ 1653778 h 1660483"/>
              <a:gd name="connsiteX1" fmla="*/ 28526 w 731938"/>
              <a:gd name="connsiteY1" fmla="*/ 1660483 h 1660483"/>
              <a:gd name="connsiteX2" fmla="*/ 0 w 731938"/>
              <a:gd name="connsiteY2" fmla="*/ 6706 h 1660483"/>
              <a:gd name="connsiteX3" fmla="*/ 121052 w 731938"/>
              <a:gd name="connsiteY3" fmla="*/ 4617 h 1660483"/>
              <a:gd name="connsiteX4" fmla="*/ 121052 w 731938"/>
              <a:gd name="connsiteY4" fmla="*/ 2963 h 1660483"/>
              <a:gd name="connsiteX5" fmla="*/ 216963 w 731938"/>
              <a:gd name="connsiteY5" fmla="*/ 2963 h 1660483"/>
              <a:gd name="connsiteX6" fmla="*/ 388748 w 731938"/>
              <a:gd name="connsiteY6" fmla="*/ 0 h 1660483"/>
              <a:gd name="connsiteX7" fmla="*/ 388800 w 731938"/>
              <a:gd name="connsiteY7" fmla="*/ 2963 h 1660483"/>
              <a:gd name="connsiteX8" fmla="*/ 731938 w 731938"/>
              <a:gd name="connsiteY8" fmla="*/ 2963 h 1660483"/>
              <a:gd name="connsiteX9" fmla="*/ 731938 w 731938"/>
              <a:gd name="connsiteY9" fmla="*/ 391769 h 1660483"/>
              <a:gd name="connsiteX10" fmla="*/ 395506 w 731938"/>
              <a:gd name="connsiteY10" fmla="*/ 391769 h 1660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1938" h="1660483">
                <a:moveTo>
                  <a:pt x="417274" y="1653778"/>
                </a:moveTo>
                <a:lnTo>
                  <a:pt x="28526" y="1660483"/>
                </a:lnTo>
                <a:lnTo>
                  <a:pt x="0" y="6706"/>
                </a:lnTo>
                <a:lnTo>
                  <a:pt x="121052" y="4617"/>
                </a:lnTo>
                <a:lnTo>
                  <a:pt x="121052" y="2963"/>
                </a:lnTo>
                <a:lnTo>
                  <a:pt x="216963" y="2963"/>
                </a:lnTo>
                <a:lnTo>
                  <a:pt x="388748" y="0"/>
                </a:lnTo>
                <a:lnTo>
                  <a:pt x="388800" y="2963"/>
                </a:lnTo>
                <a:lnTo>
                  <a:pt x="731938" y="2963"/>
                </a:lnTo>
                <a:lnTo>
                  <a:pt x="731938" y="391769"/>
                </a:lnTo>
                <a:lnTo>
                  <a:pt x="395506" y="391769"/>
                </a:lnTo>
                <a:close/>
              </a:path>
            </a:pathLst>
          </a:custGeom>
          <a:solidFill>
            <a:srgbClr val="FF00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s-MX"/>
          </a:p>
        </p:txBody>
      </p:sp>
      <p:sp>
        <p:nvSpPr>
          <p:cNvPr id="1032" name="Forma libre: forma 1031">
            <a:extLst>
              <a:ext uri="{FF2B5EF4-FFF2-40B4-BE49-F238E27FC236}">
                <a16:creationId xmlns:a16="http://schemas.microsoft.com/office/drawing/2014/main" id="{D1FFDBF5-3C01-073D-2237-38F3D2C50260}"/>
              </a:ext>
            </a:extLst>
          </p:cNvPr>
          <p:cNvSpPr/>
          <p:nvPr/>
        </p:nvSpPr>
        <p:spPr>
          <a:xfrm rot="14090704">
            <a:off x="4130398" y="2883715"/>
            <a:ext cx="98064" cy="199836"/>
          </a:xfrm>
          <a:custGeom>
            <a:avLst/>
            <a:gdLst>
              <a:gd name="connsiteX0" fmla="*/ 417274 w 731938"/>
              <a:gd name="connsiteY0" fmla="*/ 1653778 h 1660483"/>
              <a:gd name="connsiteX1" fmla="*/ 28526 w 731938"/>
              <a:gd name="connsiteY1" fmla="*/ 1660483 h 1660483"/>
              <a:gd name="connsiteX2" fmla="*/ 0 w 731938"/>
              <a:gd name="connsiteY2" fmla="*/ 6706 h 1660483"/>
              <a:gd name="connsiteX3" fmla="*/ 121052 w 731938"/>
              <a:gd name="connsiteY3" fmla="*/ 4617 h 1660483"/>
              <a:gd name="connsiteX4" fmla="*/ 121052 w 731938"/>
              <a:gd name="connsiteY4" fmla="*/ 2963 h 1660483"/>
              <a:gd name="connsiteX5" fmla="*/ 216963 w 731938"/>
              <a:gd name="connsiteY5" fmla="*/ 2963 h 1660483"/>
              <a:gd name="connsiteX6" fmla="*/ 388748 w 731938"/>
              <a:gd name="connsiteY6" fmla="*/ 0 h 1660483"/>
              <a:gd name="connsiteX7" fmla="*/ 388800 w 731938"/>
              <a:gd name="connsiteY7" fmla="*/ 2963 h 1660483"/>
              <a:gd name="connsiteX8" fmla="*/ 731938 w 731938"/>
              <a:gd name="connsiteY8" fmla="*/ 2963 h 1660483"/>
              <a:gd name="connsiteX9" fmla="*/ 731938 w 731938"/>
              <a:gd name="connsiteY9" fmla="*/ 391769 h 1660483"/>
              <a:gd name="connsiteX10" fmla="*/ 395506 w 731938"/>
              <a:gd name="connsiteY10" fmla="*/ 391769 h 1660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1938" h="1660483">
                <a:moveTo>
                  <a:pt x="417274" y="1653778"/>
                </a:moveTo>
                <a:lnTo>
                  <a:pt x="28526" y="1660483"/>
                </a:lnTo>
                <a:lnTo>
                  <a:pt x="0" y="6706"/>
                </a:lnTo>
                <a:lnTo>
                  <a:pt x="121052" y="4617"/>
                </a:lnTo>
                <a:lnTo>
                  <a:pt x="121052" y="2963"/>
                </a:lnTo>
                <a:lnTo>
                  <a:pt x="216963" y="2963"/>
                </a:lnTo>
                <a:lnTo>
                  <a:pt x="388748" y="0"/>
                </a:lnTo>
                <a:lnTo>
                  <a:pt x="388800" y="2963"/>
                </a:lnTo>
                <a:lnTo>
                  <a:pt x="731938" y="2963"/>
                </a:lnTo>
                <a:lnTo>
                  <a:pt x="731938" y="391769"/>
                </a:lnTo>
                <a:lnTo>
                  <a:pt x="395506" y="391769"/>
                </a:lnTo>
                <a:close/>
              </a:path>
            </a:pathLst>
          </a:custGeom>
          <a:solidFill>
            <a:srgbClr val="FF00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s-MX"/>
          </a:p>
        </p:txBody>
      </p:sp>
      <p:sp>
        <p:nvSpPr>
          <p:cNvPr id="1033" name="Signo de multiplicación 1032">
            <a:extLst>
              <a:ext uri="{FF2B5EF4-FFF2-40B4-BE49-F238E27FC236}">
                <a16:creationId xmlns:a16="http://schemas.microsoft.com/office/drawing/2014/main" id="{24018FC7-E140-3D55-DB68-F6AFE3D1FC8B}"/>
              </a:ext>
            </a:extLst>
          </p:cNvPr>
          <p:cNvSpPr/>
          <p:nvPr/>
        </p:nvSpPr>
        <p:spPr>
          <a:xfrm>
            <a:off x="4006495" y="3107876"/>
            <a:ext cx="259204" cy="245487"/>
          </a:xfrm>
          <a:prstGeom prst="mathMultiply">
            <a:avLst/>
          </a:prstGeom>
          <a:solidFill>
            <a:srgbClr val="FF00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34" name="Signo de multiplicación 1033">
            <a:extLst>
              <a:ext uri="{FF2B5EF4-FFF2-40B4-BE49-F238E27FC236}">
                <a16:creationId xmlns:a16="http://schemas.microsoft.com/office/drawing/2014/main" id="{FFCC5689-E9AA-C29A-1249-64AF6C54C8C8}"/>
              </a:ext>
            </a:extLst>
          </p:cNvPr>
          <p:cNvSpPr/>
          <p:nvPr/>
        </p:nvSpPr>
        <p:spPr>
          <a:xfrm>
            <a:off x="4022368" y="3579459"/>
            <a:ext cx="259204" cy="245487"/>
          </a:xfrm>
          <a:prstGeom prst="mathMultiply">
            <a:avLst/>
          </a:prstGeom>
          <a:solidFill>
            <a:srgbClr val="FF00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35" name="Forma libre: forma 1034">
            <a:extLst>
              <a:ext uri="{FF2B5EF4-FFF2-40B4-BE49-F238E27FC236}">
                <a16:creationId xmlns:a16="http://schemas.microsoft.com/office/drawing/2014/main" id="{C22CDCCE-8853-1B18-2301-8D34EF5EDD41}"/>
              </a:ext>
            </a:extLst>
          </p:cNvPr>
          <p:cNvSpPr/>
          <p:nvPr/>
        </p:nvSpPr>
        <p:spPr>
          <a:xfrm rot="14090704">
            <a:off x="4102938" y="3346802"/>
            <a:ext cx="98064" cy="199836"/>
          </a:xfrm>
          <a:custGeom>
            <a:avLst/>
            <a:gdLst>
              <a:gd name="connsiteX0" fmla="*/ 417274 w 731938"/>
              <a:gd name="connsiteY0" fmla="*/ 1653778 h 1660483"/>
              <a:gd name="connsiteX1" fmla="*/ 28526 w 731938"/>
              <a:gd name="connsiteY1" fmla="*/ 1660483 h 1660483"/>
              <a:gd name="connsiteX2" fmla="*/ 0 w 731938"/>
              <a:gd name="connsiteY2" fmla="*/ 6706 h 1660483"/>
              <a:gd name="connsiteX3" fmla="*/ 121052 w 731938"/>
              <a:gd name="connsiteY3" fmla="*/ 4617 h 1660483"/>
              <a:gd name="connsiteX4" fmla="*/ 121052 w 731938"/>
              <a:gd name="connsiteY4" fmla="*/ 2963 h 1660483"/>
              <a:gd name="connsiteX5" fmla="*/ 216963 w 731938"/>
              <a:gd name="connsiteY5" fmla="*/ 2963 h 1660483"/>
              <a:gd name="connsiteX6" fmla="*/ 388748 w 731938"/>
              <a:gd name="connsiteY6" fmla="*/ 0 h 1660483"/>
              <a:gd name="connsiteX7" fmla="*/ 388800 w 731938"/>
              <a:gd name="connsiteY7" fmla="*/ 2963 h 1660483"/>
              <a:gd name="connsiteX8" fmla="*/ 731938 w 731938"/>
              <a:gd name="connsiteY8" fmla="*/ 2963 h 1660483"/>
              <a:gd name="connsiteX9" fmla="*/ 731938 w 731938"/>
              <a:gd name="connsiteY9" fmla="*/ 391769 h 1660483"/>
              <a:gd name="connsiteX10" fmla="*/ 395506 w 731938"/>
              <a:gd name="connsiteY10" fmla="*/ 391769 h 1660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1938" h="1660483">
                <a:moveTo>
                  <a:pt x="417274" y="1653778"/>
                </a:moveTo>
                <a:lnTo>
                  <a:pt x="28526" y="1660483"/>
                </a:lnTo>
                <a:lnTo>
                  <a:pt x="0" y="6706"/>
                </a:lnTo>
                <a:lnTo>
                  <a:pt x="121052" y="4617"/>
                </a:lnTo>
                <a:lnTo>
                  <a:pt x="121052" y="2963"/>
                </a:lnTo>
                <a:lnTo>
                  <a:pt x="216963" y="2963"/>
                </a:lnTo>
                <a:lnTo>
                  <a:pt x="388748" y="0"/>
                </a:lnTo>
                <a:lnTo>
                  <a:pt x="388800" y="2963"/>
                </a:lnTo>
                <a:lnTo>
                  <a:pt x="731938" y="2963"/>
                </a:lnTo>
                <a:lnTo>
                  <a:pt x="731938" y="391769"/>
                </a:lnTo>
                <a:lnTo>
                  <a:pt x="395506" y="391769"/>
                </a:lnTo>
                <a:close/>
              </a:path>
            </a:pathLst>
          </a:custGeom>
          <a:solidFill>
            <a:srgbClr val="FF00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s-MX"/>
          </a:p>
        </p:txBody>
      </p:sp>
      <p:sp>
        <p:nvSpPr>
          <p:cNvPr id="1036" name="Forma libre: forma 1035">
            <a:extLst>
              <a:ext uri="{FF2B5EF4-FFF2-40B4-BE49-F238E27FC236}">
                <a16:creationId xmlns:a16="http://schemas.microsoft.com/office/drawing/2014/main" id="{C5B5C74D-2FFD-FDC7-F993-66916165B6FB}"/>
              </a:ext>
            </a:extLst>
          </p:cNvPr>
          <p:cNvSpPr/>
          <p:nvPr/>
        </p:nvSpPr>
        <p:spPr>
          <a:xfrm rot="14090704">
            <a:off x="4122614" y="3855399"/>
            <a:ext cx="98064" cy="199836"/>
          </a:xfrm>
          <a:custGeom>
            <a:avLst/>
            <a:gdLst>
              <a:gd name="connsiteX0" fmla="*/ 417274 w 731938"/>
              <a:gd name="connsiteY0" fmla="*/ 1653778 h 1660483"/>
              <a:gd name="connsiteX1" fmla="*/ 28526 w 731938"/>
              <a:gd name="connsiteY1" fmla="*/ 1660483 h 1660483"/>
              <a:gd name="connsiteX2" fmla="*/ 0 w 731938"/>
              <a:gd name="connsiteY2" fmla="*/ 6706 h 1660483"/>
              <a:gd name="connsiteX3" fmla="*/ 121052 w 731938"/>
              <a:gd name="connsiteY3" fmla="*/ 4617 h 1660483"/>
              <a:gd name="connsiteX4" fmla="*/ 121052 w 731938"/>
              <a:gd name="connsiteY4" fmla="*/ 2963 h 1660483"/>
              <a:gd name="connsiteX5" fmla="*/ 216963 w 731938"/>
              <a:gd name="connsiteY5" fmla="*/ 2963 h 1660483"/>
              <a:gd name="connsiteX6" fmla="*/ 388748 w 731938"/>
              <a:gd name="connsiteY6" fmla="*/ 0 h 1660483"/>
              <a:gd name="connsiteX7" fmla="*/ 388800 w 731938"/>
              <a:gd name="connsiteY7" fmla="*/ 2963 h 1660483"/>
              <a:gd name="connsiteX8" fmla="*/ 731938 w 731938"/>
              <a:gd name="connsiteY8" fmla="*/ 2963 h 1660483"/>
              <a:gd name="connsiteX9" fmla="*/ 731938 w 731938"/>
              <a:gd name="connsiteY9" fmla="*/ 391769 h 1660483"/>
              <a:gd name="connsiteX10" fmla="*/ 395506 w 731938"/>
              <a:gd name="connsiteY10" fmla="*/ 391769 h 1660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1938" h="1660483">
                <a:moveTo>
                  <a:pt x="417274" y="1653778"/>
                </a:moveTo>
                <a:lnTo>
                  <a:pt x="28526" y="1660483"/>
                </a:lnTo>
                <a:lnTo>
                  <a:pt x="0" y="6706"/>
                </a:lnTo>
                <a:lnTo>
                  <a:pt x="121052" y="4617"/>
                </a:lnTo>
                <a:lnTo>
                  <a:pt x="121052" y="2963"/>
                </a:lnTo>
                <a:lnTo>
                  <a:pt x="216963" y="2963"/>
                </a:lnTo>
                <a:lnTo>
                  <a:pt x="388748" y="0"/>
                </a:lnTo>
                <a:lnTo>
                  <a:pt x="388800" y="2963"/>
                </a:lnTo>
                <a:lnTo>
                  <a:pt x="731938" y="2963"/>
                </a:lnTo>
                <a:lnTo>
                  <a:pt x="731938" y="391769"/>
                </a:lnTo>
                <a:lnTo>
                  <a:pt x="395506" y="391769"/>
                </a:lnTo>
                <a:close/>
              </a:path>
            </a:pathLst>
          </a:custGeom>
          <a:solidFill>
            <a:srgbClr val="FF00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s-MX"/>
          </a:p>
        </p:txBody>
      </p:sp>
      <p:sp>
        <p:nvSpPr>
          <p:cNvPr id="1037" name="Signo de multiplicación 1036">
            <a:extLst>
              <a:ext uri="{FF2B5EF4-FFF2-40B4-BE49-F238E27FC236}">
                <a16:creationId xmlns:a16="http://schemas.microsoft.com/office/drawing/2014/main" id="{0BB0F97D-AFF7-4985-B035-A413B638085D}"/>
              </a:ext>
            </a:extLst>
          </p:cNvPr>
          <p:cNvSpPr/>
          <p:nvPr/>
        </p:nvSpPr>
        <p:spPr>
          <a:xfrm>
            <a:off x="4022368" y="4079560"/>
            <a:ext cx="259204" cy="245487"/>
          </a:xfrm>
          <a:prstGeom prst="mathMultiply">
            <a:avLst/>
          </a:prstGeom>
          <a:solidFill>
            <a:srgbClr val="FF00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3962528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1206E346-A3E1-D99E-0ED4-67AFB4F07A15}"/>
              </a:ext>
            </a:extLst>
          </p:cNvPr>
          <p:cNvSpPr txBox="1"/>
          <p:nvPr/>
        </p:nvSpPr>
        <p:spPr>
          <a:xfrm>
            <a:off x="523113" y="577756"/>
            <a:ext cx="2786443" cy="400110"/>
          </a:xfrm>
          <a:prstGeom prst="rect">
            <a:avLst/>
          </a:prstGeom>
          <a:noFill/>
        </p:spPr>
        <p:txBody>
          <a:bodyPr wrap="square">
            <a:spAutoFit/>
          </a:bodyPr>
          <a:lstStyle/>
          <a:p>
            <a:r>
              <a:rPr lang="es-MX" sz="2000" b="1">
                <a:solidFill>
                  <a:srgbClr val="CC00CC"/>
                </a:solidFill>
                <a:highlight>
                  <a:srgbClr val="FFFF00"/>
                </a:highlight>
              </a:rPr>
              <a:t>4.2 Maximo y Minimo:</a:t>
            </a:r>
          </a:p>
        </p:txBody>
      </p:sp>
      <p:pic>
        <p:nvPicPr>
          <p:cNvPr id="8" name="Imagen 7">
            <a:extLst>
              <a:ext uri="{FF2B5EF4-FFF2-40B4-BE49-F238E27FC236}">
                <a16:creationId xmlns:a16="http://schemas.microsoft.com/office/drawing/2014/main" id="{716C4FC6-F119-1E2B-37D6-C2FE8230F34F}"/>
              </a:ext>
            </a:extLst>
          </p:cNvPr>
          <p:cNvPicPr>
            <a:picLocks noChangeAspect="1"/>
          </p:cNvPicPr>
          <p:nvPr/>
        </p:nvPicPr>
        <p:blipFill>
          <a:blip r:embed="rId2"/>
          <a:stretch>
            <a:fillRect/>
          </a:stretch>
        </p:blipFill>
        <p:spPr>
          <a:xfrm>
            <a:off x="7586422" y="966562"/>
            <a:ext cx="3843737" cy="3553174"/>
          </a:xfrm>
          <a:prstGeom prst="rect">
            <a:avLst/>
          </a:prstGeom>
        </p:spPr>
      </p:pic>
      <p:pic>
        <p:nvPicPr>
          <p:cNvPr id="10" name="Imagen 9">
            <a:extLst>
              <a:ext uri="{FF2B5EF4-FFF2-40B4-BE49-F238E27FC236}">
                <a16:creationId xmlns:a16="http://schemas.microsoft.com/office/drawing/2014/main" id="{AA25B0D2-0C8B-90CF-44ED-8DD532A41BAA}"/>
              </a:ext>
            </a:extLst>
          </p:cNvPr>
          <p:cNvPicPr>
            <a:picLocks noChangeAspect="1"/>
          </p:cNvPicPr>
          <p:nvPr/>
        </p:nvPicPr>
        <p:blipFill>
          <a:blip r:embed="rId3"/>
          <a:stretch>
            <a:fillRect/>
          </a:stretch>
        </p:blipFill>
        <p:spPr>
          <a:xfrm>
            <a:off x="576702" y="1012469"/>
            <a:ext cx="2600688" cy="1952898"/>
          </a:xfrm>
          <a:prstGeom prst="rect">
            <a:avLst/>
          </a:prstGeom>
        </p:spPr>
      </p:pic>
      <p:pic>
        <p:nvPicPr>
          <p:cNvPr id="12" name="Imagen 11">
            <a:extLst>
              <a:ext uri="{FF2B5EF4-FFF2-40B4-BE49-F238E27FC236}">
                <a16:creationId xmlns:a16="http://schemas.microsoft.com/office/drawing/2014/main" id="{C9A650E5-BD80-2C0B-DE82-C8A6D1073720}"/>
              </a:ext>
            </a:extLst>
          </p:cNvPr>
          <p:cNvPicPr>
            <a:picLocks noChangeAspect="1"/>
          </p:cNvPicPr>
          <p:nvPr/>
        </p:nvPicPr>
        <p:blipFill>
          <a:blip r:embed="rId4"/>
          <a:stretch>
            <a:fillRect/>
          </a:stretch>
        </p:blipFill>
        <p:spPr>
          <a:xfrm>
            <a:off x="3686397" y="966562"/>
            <a:ext cx="3785408" cy="3553174"/>
          </a:xfrm>
          <a:prstGeom prst="rect">
            <a:avLst/>
          </a:prstGeom>
        </p:spPr>
      </p:pic>
      <p:sp>
        <p:nvSpPr>
          <p:cNvPr id="13" name="CuadroTexto 12">
            <a:extLst>
              <a:ext uri="{FF2B5EF4-FFF2-40B4-BE49-F238E27FC236}">
                <a16:creationId xmlns:a16="http://schemas.microsoft.com/office/drawing/2014/main" id="{785543A1-C15F-2992-F0BD-0D4424B0933D}"/>
              </a:ext>
            </a:extLst>
          </p:cNvPr>
          <p:cNvSpPr txBox="1"/>
          <p:nvPr/>
        </p:nvSpPr>
        <p:spPr>
          <a:xfrm>
            <a:off x="3595359" y="577756"/>
            <a:ext cx="3991063" cy="369332"/>
          </a:xfrm>
          <a:prstGeom prst="rect">
            <a:avLst/>
          </a:prstGeom>
          <a:noFill/>
        </p:spPr>
        <p:txBody>
          <a:bodyPr wrap="square">
            <a:spAutoFit/>
          </a:bodyPr>
          <a:lstStyle/>
          <a:p>
            <a:r>
              <a:rPr lang="es-MX"/>
              <a:t>Min y max por par de variable</a:t>
            </a:r>
          </a:p>
        </p:txBody>
      </p:sp>
      <p:sp>
        <p:nvSpPr>
          <p:cNvPr id="15" name="CuadroTexto 14">
            <a:extLst>
              <a:ext uri="{FF2B5EF4-FFF2-40B4-BE49-F238E27FC236}">
                <a16:creationId xmlns:a16="http://schemas.microsoft.com/office/drawing/2014/main" id="{77710DB1-B0AD-0A0A-F8C4-CED11271823A}"/>
              </a:ext>
            </a:extLst>
          </p:cNvPr>
          <p:cNvSpPr txBox="1"/>
          <p:nvPr/>
        </p:nvSpPr>
        <p:spPr>
          <a:xfrm>
            <a:off x="7521622" y="577756"/>
            <a:ext cx="2203235" cy="369332"/>
          </a:xfrm>
          <a:prstGeom prst="rect">
            <a:avLst/>
          </a:prstGeom>
          <a:noFill/>
        </p:spPr>
        <p:txBody>
          <a:bodyPr wrap="square">
            <a:spAutoFit/>
          </a:bodyPr>
          <a:lstStyle/>
          <a:p>
            <a:r>
              <a:rPr lang="es-MX"/>
              <a:t>Min y max global</a:t>
            </a:r>
          </a:p>
        </p:txBody>
      </p:sp>
      <p:sp>
        <p:nvSpPr>
          <p:cNvPr id="20" name="Flecha: a la derecha 19">
            <a:extLst>
              <a:ext uri="{FF2B5EF4-FFF2-40B4-BE49-F238E27FC236}">
                <a16:creationId xmlns:a16="http://schemas.microsoft.com/office/drawing/2014/main" id="{91B7D982-CF4B-758A-566E-16A91992C331}"/>
              </a:ext>
            </a:extLst>
          </p:cNvPr>
          <p:cNvSpPr/>
          <p:nvPr/>
        </p:nvSpPr>
        <p:spPr>
          <a:xfrm>
            <a:off x="3524394" y="3558602"/>
            <a:ext cx="324005" cy="194403"/>
          </a:xfrm>
          <a:prstGeom prst="right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2" name="Flecha: a la derecha 21">
            <a:extLst>
              <a:ext uri="{FF2B5EF4-FFF2-40B4-BE49-F238E27FC236}">
                <a16:creationId xmlns:a16="http://schemas.microsoft.com/office/drawing/2014/main" id="{C443DF54-A18B-5B17-EC14-693611E3A9F0}"/>
              </a:ext>
            </a:extLst>
          </p:cNvPr>
          <p:cNvSpPr/>
          <p:nvPr/>
        </p:nvSpPr>
        <p:spPr>
          <a:xfrm>
            <a:off x="3524393" y="3850206"/>
            <a:ext cx="324005" cy="194403"/>
          </a:xfrm>
          <a:prstGeom prst="right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3" name="Flecha: a la derecha 22">
            <a:extLst>
              <a:ext uri="{FF2B5EF4-FFF2-40B4-BE49-F238E27FC236}">
                <a16:creationId xmlns:a16="http://schemas.microsoft.com/office/drawing/2014/main" id="{303CCEEA-20D4-F877-F567-CDD22865A9AA}"/>
              </a:ext>
            </a:extLst>
          </p:cNvPr>
          <p:cNvSpPr/>
          <p:nvPr/>
        </p:nvSpPr>
        <p:spPr>
          <a:xfrm>
            <a:off x="3508461" y="4184971"/>
            <a:ext cx="324005" cy="194403"/>
          </a:xfrm>
          <a:prstGeom prst="right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4" name="Rectángulo 23">
            <a:extLst>
              <a:ext uri="{FF2B5EF4-FFF2-40B4-BE49-F238E27FC236}">
                <a16:creationId xmlns:a16="http://schemas.microsoft.com/office/drawing/2014/main" id="{429C159A-C1ED-F45B-6145-8816D371A6BC}"/>
              </a:ext>
            </a:extLst>
          </p:cNvPr>
          <p:cNvSpPr/>
          <p:nvPr/>
        </p:nvSpPr>
        <p:spPr>
          <a:xfrm>
            <a:off x="7845627" y="3461400"/>
            <a:ext cx="1296020" cy="939615"/>
          </a:xfrm>
          <a:prstGeom prst="rect">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ln>
                <a:solidFill>
                  <a:srgbClr val="FFFF00"/>
                </a:solidFill>
              </a:ln>
              <a:solidFill>
                <a:srgbClr val="FFFF00"/>
              </a:solidFill>
            </a:endParaRPr>
          </a:p>
        </p:txBody>
      </p:sp>
    </p:spTree>
    <p:extLst>
      <p:ext uri="{BB962C8B-B14F-4D97-AF65-F5344CB8AC3E}">
        <p14:creationId xmlns:p14="http://schemas.microsoft.com/office/powerpoint/2010/main" val="16367281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Imagen 26">
            <a:extLst>
              <a:ext uri="{FF2B5EF4-FFF2-40B4-BE49-F238E27FC236}">
                <a16:creationId xmlns:a16="http://schemas.microsoft.com/office/drawing/2014/main" id="{879FCDC1-5AEC-6810-ED83-969268C60F89}"/>
              </a:ext>
            </a:extLst>
          </p:cNvPr>
          <p:cNvPicPr>
            <a:picLocks noChangeAspect="1"/>
          </p:cNvPicPr>
          <p:nvPr/>
        </p:nvPicPr>
        <p:blipFill>
          <a:blip r:embed="rId3"/>
          <a:stretch>
            <a:fillRect/>
          </a:stretch>
        </p:blipFill>
        <p:spPr>
          <a:xfrm>
            <a:off x="449980" y="3753004"/>
            <a:ext cx="2405969" cy="1833903"/>
          </a:xfrm>
          <a:prstGeom prst="rect">
            <a:avLst/>
          </a:prstGeom>
        </p:spPr>
      </p:pic>
      <p:sp>
        <p:nvSpPr>
          <p:cNvPr id="29" name="CuadroTexto 28">
            <a:extLst>
              <a:ext uri="{FF2B5EF4-FFF2-40B4-BE49-F238E27FC236}">
                <a16:creationId xmlns:a16="http://schemas.microsoft.com/office/drawing/2014/main" id="{D694DC08-6115-077B-5154-5B9CFB3F74D8}"/>
              </a:ext>
            </a:extLst>
          </p:cNvPr>
          <p:cNvSpPr txBox="1"/>
          <p:nvPr/>
        </p:nvSpPr>
        <p:spPr>
          <a:xfrm>
            <a:off x="435698" y="485423"/>
            <a:ext cx="2873859" cy="400110"/>
          </a:xfrm>
          <a:prstGeom prst="rect">
            <a:avLst/>
          </a:prstGeom>
          <a:noFill/>
        </p:spPr>
        <p:txBody>
          <a:bodyPr wrap="square">
            <a:spAutoFit/>
          </a:bodyPr>
          <a:lstStyle/>
          <a:p>
            <a:pPr marL="0" indent="0" defTabSz="457200">
              <a:buNone/>
            </a:pPr>
            <a:r>
              <a:rPr lang="es-ES" sz="2000" b="1">
                <a:solidFill>
                  <a:srgbClr val="CC00CC"/>
                </a:solidFill>
                <a:highlight>
                  <a:srgbClr val="FFFF00"/>
                </a:highlight>
              </a:rPr>
              <a:t>4.3. Aritmética Modular</a:t>
            </a:r>
          </a:p>
        </p:txBody>
      </p:sp>
      <p:sp>
        <p:nvSpPr>
          <p:cNvPr id="30" name="CuadroTexto 29">
            <a:extLst>
              <a:ext uri="{FF2B5EF4-FFF2-40B4-BE49-F238E27FC236}">
                <a16:creationId xmlns:a16="http://schemas.microsoft.com/office/drawing/2014/main" id="{5E2FFF41-D0C6-D1EC-D219-341AC8663B37}"/>
              </a:ext>
            </a:extLst>
          </p:cNvPr>
          <p:cNvSpPr txBox="1"/>
          <p:nvPr/>
        </p:nvSpPr>
        <p:spPr>
          <a:xfrm>
            <a:off x="435698" y="901761"/>
            <a:ext cx="2549854" cy="369332"/>
          </a:xfrm>
          <a:prstGeom prst="rect">
            <a:avLst/>
          </a:prstGeom>
          <a:noFill/>
        </p:spPr>
        <p:txBody>
          <a:bodyPr wrap="square">
            <a:spAutoFit/>
          </a:bodyPr>
          <a:lstStyle/>
          <a:p>
            <a:r>
              <a:rPr lang="es-MX"/>
              <a:t>División Entera y Modulo</a:t>
            </a:r>
          </a:p>
        </p:txBody>
      </p:sp>
      <p:pic>
        <p:nvPicPr>
          <p:cNvPr id="33" name="Imagen 32">
            <a:extLst>
              <a:ext uri="{FF2B5EF4-FFF2-40B4-BE49-F238E27FC236}">
                <a16:creationId xmlns:a16="http://schemas.microsoft.com/office/drawing/2014/main" id="{4E645A8E-ABC5-0538-AA06-36A96BB205D4}"/>
              </a:ext>
            </a:extLst>
          </p:cNvPr>
          <p:cNvPicPr>
            <a:picLocks noChangeAspect="1"/>
          </p:cNvPicPr>
          <p:nvPr/>
        </p:nvPicPr>
        <p:blipFill>
          <a:blip r:embed="rId4"/>
          <a:stretch>
            <a:fillRect/>
          </a:stretch>
        </p:blipFill>
        <p:spPr>
          <a:xfrm>
            <a:off x="435698" y="1271093"/>
            <a:ext cx="2420252" cy="2374928"/>
          </a:xfrm>
          <a:prstGeom prst="rect">
            <a:avLst/>
          </a:prstGeom>
        </p:spPr>
      </p:pic>
      <p:pic>
        <p:nvPicPr>
          <p:cNvPr id="35" name="Imagen 34">
            <a:extLst>
              <a:ext uri="{FF2B5EF4-FFF2-40B4-BE49-F238E27FC236}">
                <a16:creationId xmlns:a16="http://schemas.microsoft.com/office/drawing/2014/main" id="{DD8B24A9-370D-FBF5-A2D4-9A10266EF09E}"/>
              </a:ext>
            </a:extLst>
          </p:cNvPr>
          <p:cNvPicPr>
            <a:picLocks noChangeAspect="1"/>
          </p:cNvPicPr>
          <p:nvPr/>
        </p:nvPicPr>
        <p:blipFill>
          <a:blip r:embed="rId5"/>
          <a:stretch>
            <a:fillRect/>
          </a:stretch>
        </p:blipFill>
        <p:spPr>
          <a:xfrm>
            <a:off x="2911302" y="1271093"/>
            <a:ext cx="3508703" cy="4317263"/>
          </a:xfrm>
          <a:prstGeom prst="rect">
            <a:avLst/>
          </a:prstGeom>
        </p:spPr>
      </p:pic>
      <p:sp>
        <p:nvSpPr>
          <p:cNvPr id="36" name="CuadroTexto 35">
            <a:extLst>
              <a:ext uri="{FF2B5EF4-FFF2-40B4-BE49-F238E27FC236}">
                <a16:creationId xmlns:a16="http://schemas.microsoft.com/office/drawing/2014/main" id="{BF906D95-1543-FDF1-25C2-E5B5D02F15FE}"/>
              </a:ext>
            </a:extLst>
          </p:cNvPr>
          <p:cNvSpPr txBox="1"/>
          <p:nvPr/>
        </p:nvSpPr>
        <p:spPr>
          <a:xfrm>
            <a:off x="449980" y="6257836"/>
            <a:ext cx="4082463" cy="600164"/>
          </a:xfrm>
          <a:prstGeom prst="rect">
            <a:avLst/>
          </a:prstGeom>
          <a:noFill/>
        </p:spPr>
        <p:txBody>
          <a:bodyPr wrap="square">
            <a:spAutoFit/>
          </a:bodyPr>
          <a:lstStyle/>
          <a:p>
            <a:pPr marL="342900" indent="-342900">
              <a:buAutoNum type="arabicPeriod"/>
            </a:pPr>
            <a:r>
              <a:rPr lang="es-MX" sz="1100">
                <a:latin typeface="Montserrat Light" panose="00000400000000000000" pitchFamily="2" charset="0"/>
              </a:rPr>
              <a:t>sched_dep_time: Hora programada de salida</a:t>
            </a:r>
          </a:p>
          <a:p>
            <a:pPr marL="342900" indent="-342900">
              <a:buFontTx/>
              <a:buAutoNum type="arabicPeriod"/>
            </a:pPr>
            <a:r>
              <a:rPr lang="es-MX" sz="1100">
                <a:latin typeface="Montserrat Light" panose="00000400000000000000" pitchFamily="2" charset="0"/>
              </a:rPr>
              <a:t>dep_time: hora real de salida</a:t>
            </a:r>
          </a:p>
          <a:p>
            <a:pPr marL="342900" indent="-342900">
              <a:buAutoNum type="arabicPeriod"/>
            </a:pPr>
            <a:endParaRPr lang="es-MX" sz="1100">
              <a:latin typeface="Montserrat Light" panose="00000400000000000000" pitchFamily="2" charset="0"/>
            </a:endParaRPr>
          </a:p>
        </p:txBody>
      </p:sp>
      <p:pic>
        <p:nvPicPr>
          <p:cNvPr id="38" name="Imagen 37">
            <a:extLst>
              <a:ext uri="{FF2B5EF4-FFF2-40B4-BE49-F238E27FC236}">
                <a16:creationId xmlns:a16="http://schemas.microsoft.com/office/drawing/2014/main" id="{AD73B3D5-54BB-C483-1B04-E2F362104FC2}"/>
              </a:ext>
            </a:extLst>
          </p:cNvPr>
          <p:cNvPicPr>
            <a:picLocks noChangeAspect="1"/>
          </p:cNvPicPr>
          <p:nvPr/>
        </p:nvPicPr>
        <p:blipFill>
          <a:blip r:embed="rId6"/>
          <a:stretch>
            <a:fillRect/>
          </a:stretch>
        </p:blipFill>
        <p:spPr>
          <a:xfrm>
            <a:off x="6465980" y="128216"/>
            <a:ext cx="5489137" cy="1745560"/>
          </a:xfrm>
          <a:prstGeom prst="rect">
            <a:avLst/>
          </a:prstGeom>
        </p:spPr>
      </p:pic>
      <p:pic>
        <p:nvPicPr>
          <p:cNvPr id="42" name="Imagen 41">
            <a:extLst>
              <a:ext uri="{FF2B5EF4-FFF2-40B4-BE49-F238E27FC236}">
                <a16:creationId xmlns:a16="http://schemas.microsoft.com/office/drawing/2014/main" id="{BF93689B-2F24-5C14-2086-605C77318959}"/>
              </a:ext>
            </a:extLst>
          </p:cNvPr>
          <p:cNvPicPr>
            <a:picLocks noChangeAspect="1"/>
          </p:cNvPicPr>
          <p:nvPr/>
        </p:nvPicPr>
        <p:blipFill>
          <a:blip r:embed="rId7"/>
          <a:stretch>
            <a:fillRect/>
          </a:stretch>
        </p:blipFill>
        <p:spPr>
          <a:xfrm>
            <a:off x="6485581" y="2197781"/>
            <a:ext cx="5470628" cy="3495788"/>
          </a:xfrm>
          <a:prstGeom prst="rect">
            <a:avLst/>
          </a:prstGeom>
        </p:spPr>
      </p:pic>
      <p:grpSp>
        <p:nvGrpSpPr>
          <p:cNvPr id="8" name="Grupo 7">
            <a:extLst>
              <a:ext uri="{FF2B5EF4-FFF2-40B4-BE49-F238E27FC236}">
                <a16:creationId xmlns:a16="http://schemas.microsoft.com/office/drawing/2014/main" id="{2305EC91-E3C0-C65B-46B8-E1869E718A28}"/>
              </a:ext>
            </a:extLst>
          </p:cNvPr>
          <p:cNvGrpSpPr/>
          <p:nvPr/>
        </p:nvGrpSpPr>
        <p:grpSpPr>
          <a:xfrm>
            <a:off x="6437942" y="1873776"/>
            <a:ext cx="5518267" cy="324005"/>
            <a:chOff x="6437942" y="2323419"/>
            <a:chExt cx="5518267" cy="324005"/>
          </a:xfrm>
        </p:grpSpPr>
        <p:sp>
          <p:nvSpPr>
            <p:cNvPr id="4" name="Rectángulo 3">
              <a:extLst>
                <a:ext uri="{FF2B5EF4-FFF2-40B4-BE49-F238E27FC236}">
                  <a16:creationId xmlns:a16="http://schemas.microsoft.com/office/drawing/2014/main" id="{AAF06C6F-946F-55EC-315E-8D3BC6B773A5}"/>
                </a:ext>
              </a:extLst>
            </p:cNvPr>
            <p:cNvSpPr/>
            <p:nvPr/>
          </p:nvSpPr>
          <p:spPr>
            <a:xfrm>
              <a:off x="6485581" y="2327383"/>
              <a:ext cx="5470628" cy="320041"/>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 name="CuadroTexto 2">
              <a:extLst>
                <a:ext uri="{FF2B5EF4-FFF2-40B4-BE49-F238E27FC236}">
                  <a16:creationId xmlns:a16="http://schemas.microsoft.com/office/drawing/2014/main" id="{CE12DF71-0E0C-EFA3-6F93-CBF54B5FDACB}"/>
                </a:ext>
              </a:extLst>
            </p:cNvPr>
            <p:cNvSpPr txBox="1"/>
            <p:nvPr/>
          </p:nvSpPr>
          <p:spPr>
            <a:xfrm>
              <a:off x="6437942" y="2323419"/>
              <a:ext cx="5289230" cy="307777"/>
            </a:xfrm>
            <a:prstGeom prst="rect">
              <a:avLst/>
            </a:prstGeom>
            <a:noFill/>
          </p:spPr>
          <p:txBody>
            <a:bodyPr wrap="square">
              <a:spAutoFit/>
            </a:bodyPr>
            <a:lstStyle/>
            <a:p>
              <a:pPr algn="ctr"/>
              <a:r>
                <a:rPr lang="es-MX" sz="1400">
                  <a:solidFill>
                    <a:srgbClr val="7030A0"/>
                  </a:solidFill>
                </a:rPr>
                <a:t>Variación de la proporción de vuelos cancelados a lo largo del día</a:t>
              </a:r>
            </a:p>
          </p:txBody>
        </p:sp>
      </p:grpSp>
      <p:pic>
        <p:nvPicPr>
          <p:cNvPr id="7" name="Imagen 6">
            <a:extLst>
              <a:ext uri="{FF2B5EF4-FFF2-40B4-BE49-F238E27FC236}">
                <a16:creationId xmlns:a16="http://schemas.microsoft.com/office/drawing/2014/main" id="{63FE7989-864C-58C0-10FE-A7F609B813EE}"/>
              </a:ext>
            </a:extLst>
          </p:cNvPr>
          <p:cNvPicPr>
            <a:picLocks noChangeAspect="1"/>
          </p:cNvPicPr>
          <p:nvPr/>
        </p:nvPicPr>
        <p:blipFill>
          <a:blip r:embed="rId8"/>
          <a:stretch>
            <a:fillRect/>
          </a:stretch>
        </p:blipFill>
        <p:spPr>
          <a:xfrm>
            <a:off x="6485580" y="5697035"/>
            <a:ext cx="5469537" cy="887164"/>
          </a:xfrm>
          <a:prstGeom prst="rect">
            <a:avLst/>
          </a:prstGeom>
        </p:spPr>
      </p:pic>
    </p:spTree>
    <p:extLst>
      <p:ext uri="{BB962C8B-B14F-4D97-AF65-F5344CB8AC3E}">
        <p14:creationId xmlns:p14="http://schemas.microsoft.com/office/powerpoint/2010/main" val="18413426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AF989B39-F2DB-A32C-AA37-B94E29C11A33}"/>
              </a:ext>
            </a:extLst>
          </p:cNvPr>
          <p:cNvSpPr txBox="1"/>
          <p:nvPr/>
        </p:nvSpPr>
        <p:spPr>
          <a:xfrm>
            <a:off x="393512" y="188950"/>
            <a:ext cx="2873859" cy="400110"/>
          </a:xfrm>
          <a:prstGeom prst="rect">
            <a:avLst/>
          </a:prstGeom>
          <a:noFill/>
        </p:spPr>
        <p:txBody>
          <a:bodyPr wrap="square">
            <a:spAutoFit/>
          </a:bodyPr>
          <a:lstStyle/>
          <a:p>
            <a:pPr marL="0" indent="0" defTabSz="457200">
              <a:buNone/>
            </a:pPr>
            <a:r>
              <a:rPr lang="es-ES" sz="2000" b="1">
                <a:solidFill>
                  <a:srgbClr val="CC00CC"/>
                </a:solidFill>
                <a:highlight>
                  <a:srgbClr val="FFFF00"/>
                </a:highlight>
              </a:rPr>
              <a:t>4.4. Logaritmos</a:t>
            </a:r>
          </a:p>
        </p:txBody>
      </p:sp>
      <p:sp>
        <p:nvSpPr>
          <p:cNvPr id="5" name="CuadroTexto 4">
            <a:extLst>
              <a:ext uri="{FF2B5EF4-FFF2-40B4-BE49-F238E27FC236}">
                <a16:creationId xmlns:a16="http://schemas.microsoft.com/office/drawing/2014/main" id="{778E878C-FB6C-F0DA-7C95-1255B6C2D8C8}"/>
              </a:ext>
            </a:extLst>
          </p:cNvPr>
          <p:cNvSpPr txBox="1"/>
          <p:nvPr/>
        </p:nvSpPr>
        <p:spPr>
          <a:xfrm>
            <a:off x="395400" y="2204223"/>
            <a:ext cx="2073632" cy="400110"/>
          </a:xfrm>
          <a:prstGeom prst="rect">
            <a:avLst/>
          </a:prstGeom>
          <a:noFill/>
        </p:spPr>
        <p:txBody>
          <a:bodyPr wrap="square">
            <a:spAutoFit/>
          </a:bodyPr>
          <a:lstStyle/>
          <a:p>
            <a:pPr marL="0" indent="0" defTabSz="457200">
              <a:buNone/>
            </a:pPr>
            <a:r>
              <a:rPr lang="es-ES" sz="2000" b="1">
                <a:solidFill>
                  <a:srgbClr val="CC00CC"/>
                </a:solidFill>
                <a:highlight>
                  <a:srgbClr val="FFFF00"/>
                </a:highlight>
              </a:rPr>
              <a:t>4.5. Redondeo</a:t>
            </a:r>
          </a:p>
        </p:txBody>
      </p:sp>
      <p:pic>
        <p:nvPicPr>
          <p:cNvPr id="10" name="Imagen 9">
            <a:extLst>
              <a:ext uri="{FF2B5EF4-FFF2-40B4-BE49-F238E27FC236}">
                <a16:creationId xmlns:a16="http://schemas.microsoft.com/office/drawing/2014/main" id="{B7BCD268-48A6-A623-21BC-01FBA603B16F}"/>
              </a:ext>
            </a:extLst>
          </p:cNvPr>
          <p:cNvPicPr>
            <a:picLocks noChangeAspect="1"/>
          </p:cNvPicPr>
          <p:nvPr/>
        </p:nvPicPr>
        <p:blipFill>
          <a:blip r:embed="rId2"/>
          <a:stretch>
            <a:fillRect/>
          </a:stretch>
        </p:blipFill>
        <p:spPr>
          <a:xfrm>
            <a:off x="436087" y="616077"/>
            <a:ext cx="5400709" cy="1257699"/>
          </a:xfrm>
          <a:prstGeom prst="rect">
            <a:avLst/>
          </a:prstGeom>
        </p:spPr>
      </p:pic>
      <p:pic>
        <p:nvPicPr>
          <p:cNvPr id="13" name="Imagen 12">
            <a:extLst>
              <a:ext uri="{FF2B5EF4-FFF2-40B4-BE49-F238E27FC236}">
                <a16:creationId xmlns:a16="http://schemas.microsoft.com/office/drawing/2014/main" id="{3E56A1DB-0DF3-63AC-9271-5B6D4D957712}"/>
              </a:ext>
            </a:extLst>
          </p:cNvPr>
          <p:cNvPicPr>
            <a:picLocks noChangeAspect="1"/>
          </p:cNvPicPr>
          <p:nvPr/>
        </p:nvPicPr>
        <p:blipFill>
          <a:blip r:embed="rId3"/>
          <a:stretch>
            <a:fillRect/>
          </a:stretch>
        </p:blipFill>
        <p:spPr>
          <a:xfrm>
            <a:off x="436087" y="2657831"/>
            <a:ext cx="5400709" cy="1095174"/>
          </a:xfrm>
          <a:prstGeom prst="rect">
            <a:avLst/>
          </a:prstGeom>
        </p:spPr>
      </p:pic>
      <p:sp>
        <p:nvSpPr>
          <p:cNvPr id="14" name="CuadroTexto 13">
            <a:extLst>
              <a:ext uri="{FF2B5EF4-FFF2-40B4-BE49-F238E27FC236}">
                <a16:creationId xmlns:a16="http://schemas.microsoft.com/office/drawing/2014/main" id="{D156238E-59D3-ABE3-FC4C-028B95DCDEA8}"/>
              </a:ext>
            </a:extLst>
          </p:cNvPr>
          <p:cNvSpPr txBox="1"/>
          <p:nvPr/>
        </p:nvSpPr>
        <p:spPr>
          <a:xfrm>
            <a:off x="422549" y="4271413"/>
            <a:ext cx="4179884" cy="400110"/>
          </a:xfrm>
          <a:prstGeom prst="rect">
            <a:avLst/>
          </a:prstGeom>
          <a:noFill/>
        </p:spPr>
        <p:txBody>
          <a:bodyPr wrap="square">
            <a:spAutoFit/>
          </a:bodyPr>
          <a:lstStyle/>
          <a:p>
            <a:pPr marL="0" indent="0" defTabSz="457200">
              <a:buNone/>
            </a:pPr>
            <a:r>
              <a:rPr lang="es-ES" sz="2000" b="1">
                <a:solidFill>
                  <a:srgbClr val="CC00CC"/>
                </a:solidFill>
                <a:highlight>
                  <a:srgbClr val="FFFF00"/>
                </a:highlight>
              </a:rPr>
              <a:t>4.6. Dividir números en Intervalos</a:t>
            </a:r>
          </a:p>
        </p:txBody>
      </p:sp>
      <p:pic>
        <p:nvPicPr>
          <p:cNvPr id="16" name="Imagen 15">
            <a:extLst>
              <a:ext uri="{FF2B5EF4-FFF2-40B4-BE49-F238E27FC236}">
                <a16:creationId xmlns:a16="http://schemas.microsoft.com/office/drawing/2014/main" id="{14DB94D7-3D34-AD55-471D-7CEB4D6D8C08}"/>
              </a:ext>
            </a:extLst>
          </p:cNvPr>
          <p:cNvPicPr>
            <a:picLocks noChangeAspect="1"/>
          </p:cNvPicPr>
          <p:nvPr/>
        </p:nvPicPr>
        <p:blipFill>
          <a:blip r:embed="rId4"/>
          <a:stretch>
            <a:fillRect/>
          </a:stretch>
        </p:blipFill>
        <p:spPr>
          <a:xfrm>
            <a:off x="470571" y="4671523"/>
            <a:ext cx="3693830" cy="1714703"/>
          </a:xfrm>
          <a:prstGeom prst="rect">
            <a:avLst/>
          </a:prstGeom>
        </p:spPr>
      </p:pic>
      <p:pic>
        <p:nvPicPr>
          <p:cNvPr id="18" name="Imagen 17">
            <a:extLst>
              <a:ext uri="{FF2B5EF4-FFF2-40B4-BE49-F238E27FC236}">
                <a16:creationId xmlns:a16="http://schemas.microsoft.com/office/drawing/2014/main" id="{B2FFAE3B-C076-A263-61A0-322BDDBA0E36}"/>
              </a:ext>
            </a:extLst>
          </p:cNvPr>
          <p:cNvPicPr>
            <a:picLocks noChangeAspect="1"/>
          </p:cNvPicPr>
          <p:nvPr/>
        </p:nvPicPr>
        <p:blipFill>
          <a:blip r:embed="rId5"/>
          <a:stretch>
            <a:fillRect/>
          </a:stretch>
        </p:blipFill>
        <p:spPr>
          <a:xfrm>
            <a:off x="4276878" y="4346084"/>
            <a:ext cx="3244744" cy="2080717"/>
          </a:xfrm>
          <a:prstGeom prst="rect">
            <a:avLst/>
          </a:prstGeom>
        </p:spPr>
      </p:pic>
      <p:pic>
        <p:nvPicPr>
          <p:cNvPr id="20" name="Imagen 19">
            <a:extLst>
              <a:ext uri="{FF2B5EF4-FFF2-40B4-BE49-F238E27FC236}">
                <a16:creationId xmlns:a16="http://schemas.microsoft.com/office/drawing/2014/main" id="{AE5B80FB-836B-62C1-8C6F-AE5B1686A0ED}"/>
              </a:ext>
            </a:extLst>
          </p:cNvPr>
          <p:cNvPicPr>
            <a:picLocks noChangeAspect="1"/>
          </p:cNvPicPr>
          <p:nvPr/>
        </p:nvPicPr>
        <p:blipFill>
          <a:blip r:embed="rId6"/>
          <a:stretch>
            <a:fillRect/>
          </a:stretch>
        </p:blipFill>
        <p:spPr>
          <a:xfrm>
            <a:off x="7608530" y="4350540"/>
            <a:ext cx="3736351" cy="1597985"/>
          </a:xfrm>
          <a:prstGeom prst="rect">
            <a:avLst/>
          </a:prstGeom>
        </p:spPr>
      </p:pic>
      <p:sp>
        <p:nvSpPr>
          <p:cNvPr id="21" name="CuadroTexto 20">
            <a:extLst>
              <a:ext uri="{FF2B5EF4-FFF2-40B4-BE49-F238E27FC236}">
                <a16:creationId xmlns:a16="http://schemas.microsoft.com/office/drawing/2014/main" id="{5B9EC65D-9803-2821-380A-00E6A8FC65BF}"/>
              </a:ext>
            </a:extLst>
          </p:cNvPr>
          <p:cNvSpPr txBox="1"/>
          <p:nvPr/>
        </p:nvSpPr>
        <p:spPr>
          <a:xfrm>
            <a:off x="6290403" y="177646"/>
            <a:ext cx="4471269" cy="400110"/>
          </a:xfrm>
          <a:prstGeom prst="rect">
            <a:avLst/>
          </a:prstGeom>
          <a:noFill/>
        </p:spPr>
        <p:txBody>
          <a:bodyPr wrap="square">
            <a:spAutoFit/>
          </a:bodyPr>
          <a:lstStyle/>
          <a:p>
            <a:pPr marL="0" indent="0" defTabSz="457200">
              <a:buNone/>
            </a:pPr>
            <a:r>
              <a:rPr lang="es-ES" sz="2000" b="1">
                <a:solidFill>
                  <a:srgbClr val="CC00CC"/>
                </a:solidFill>
                <a:highlight>
                  <a:srgbClr val="FFFF00"/>
                </a:highlight>
              </a:rPr>
              <a:t>4.7. Agregados acumulativos y moviles</a:t>
            </a:r>
          </a:p>
        </p:txBody>
      </p:sp>
      <p:pic>
        <p:nvPicPr>
          <p:cNvPr id="23" name="Imagen 22">
            <a:extLst>
              <a:ext uri="{FF2B5EF4-FFF2-40B4-BE49-F238E27FC236}">
                <a16:creationId xmlns:a16="http://schemas.microsoft.com/office/drawing/2014/main" id="{6F749CCB-4201-0595-AD80-02B218C08D73}"/>
              </a:ext>
            </a:extLst>
          </p:cNvPr>
          <p:cNvPicPr>
            <a:picLocks noChangeAspect="1"/>
          </p:cNvPicPr>
          <p:nvPr/>
        </p:nvPicPr>
        <p:blipFill>
          <a:blip r:embed="rId7"/>
          <a:stretch>
            <a:fillRect/>
          </a:stretch>
        </p:blipFill>
        <p:spPr>
          <a:xfrm>
            <a:off x="6355204" y="589060"/>
            <a:ext cx="2553075" cy="1196516"/>
          </a:xfrm>
          <a:prstGeom prst="rect">
            <a:avLst/>
          </a:prstGeom>
        </p:spPr>
      </p:pic>
      <p:pic>
        <p:nvPicPr>
          <p:cNvPr id="25" name="Imagen 24">
            <a:extLst>
              <a:ext uri="{FF2B5EF4-FFF2-40B4-BE49-F238E27FC236}">
                <a16:creationId xmlns:a16="http://schemas.microsoft.com/office/drawing/2014/main" id="{E120D1F8-CE2E-8BCC-39CB-DB3CE15EBD24}"/>
              </a:ext>
            </a:extLst>
          </p:cNvPr>
          <p:cNvPicPr>
            <a:picLocks noChangeAspect="1"/>
          </p:cNvPicPr>
          <p:nvPr/>
        </p:nvPicPr>
        <p:blipFill>
          <a:blip r:embed="rId8"/>
          <a:stretch>
            <a:fillRect/>
          </a:stretch>
        </p:blipFill>
        <p:spPr>
          <a:xfrm>
            <a:off x="6351637" y="1873776"/>
            <a:ext cx="4894712" cy="1839054"/>
          </a:xfrm>
          <a:prstGeom prst="rect">
            <a:avLst/>
          </a:prstGeom>
        </p:spPr>
      </p:pic>
      <p:sp>
        <p:nvSpPr>
          <p:cNvPr id="26" name="Rectángulo 25">
            <a:extLst>
              <a:ext uri="{FF2B5EF4-FFF2-40B4-BE49-F238E27FC236}">
                <a16:creationId xmlns:a16="http://schemas.microsoft.com/office/drawing/2014/main" id="{5FFF5E3B-1121-DDB5-C064-96003AF2BDD4}"/>
              </a:ext>
            </a:extLst>
          </p:cNvPr>
          <p:cNvSpPr/>
          <p:nvPr/>
        </p:nvSpPr>
        <p:spPr>
          <a:xfrm>
            <a:off x="6031200" y="188950"/>
            <a:ext cx="61234" cy="3758458"/>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8" name="Rectángulo 27">
            <a:extLst>
              <a:ext uri="{FF2B5EF4-FFF2-40B4-BE49-F238E27FC236}">
                <a16:creationId xmlns:a16="http://schemas.microsoft.com/office/drawing/2014/main" id="{354E6D19-8841-5A53-A22B-3E389BF796E3}"/>
              </a:ext>
            </a:extLst>
          </p:cNvPr>
          <p:cNvSpPr/>
          <p:nvPr/>
        </p:nvSpPr>
        <p:spPr>
          <a:xfrm>
            <a:off x="470571" y="3947408"/>
            <a:ext cx="10775778" cy="59150"/>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2" name="CuadroTexto 31">
            <a:extLst>
              <a:ext uri="{FF2B5EF4-FFF2-40B4-BE49-F238E27FC236}">
                <a16:creationId xmlns:a16="http://schemas.microsoft.com/office/drawing/2014/main" id="{E57B1E8A-AB2B-3BDB-74A6-F787E062801A}"/>
              </a:ext>
            </a:extLst>
          </p:cNvPr>
          <p:cNvSpPr txBox="1"/>
          <p:nvPr/>
        </p:nvSpPr>
        <p:spPr>
          <a:xfrm>
            <a:off x="9106248" y="538166"/>
            <a:ext cx="1607813" cy="1200329"/>
          </a:xfrm>
          <a:prstGeom prst="rect">
            <a:avLst/>
          </a:prstGeom>
          <a:noFill/>
        </p:spPr>
        <p:txBody>
          <a:bodyPr wrap="square">
            <a:spAutoFit/>
          </a:bodyPr>
          <a:lstStyle/>
          <a:p>
            <a:pPr marL="285750" indent="-285750">
              <a:buFont typeface="Arial" panose="020B0604020202020204" pitchFamily="34" charset="0"/>
              <a:buChar char="•"/>
            </a:pPr>
            <a:r>
              <a:rPr lang="es-MX"/>
              <a:t>cumsum()</a:t>
            </a:r>
          </a:p>
          <a:p>
            <a:pPr marL="285750" indent="-285750">
              <a:buFont typeface="Arial" panose="020B0604020202020204" pitchFamily="34" charset="0"/>
              <a:buChar char="•"/>
            </a:pPr>
            <a:r>
              <a:rPr lang="es-MX"/>
              <a:t>cumprod()</a:t>
            </a:r>
          </a:p>
          <a:p>
            <a:pPr marL="285750" indent="-285750">
              <a:buFont typeface="Arial" panose="020B0604020202020204" pitchFamily="34" charset="0"/>
              <a:buChar char="•"/>
            </a:pPr>
            <a:r>
              <a:rPr lang="es-MX"/>
              <a:t>cummin()</a:t>
            </a:r>
          </a:p>
          <a:p>
            <a:pPr marL="285750" indent="-285750">
              <a:buFont typeface="Arial" panose="020B0604020202020204" pitchFamily="34" charset="0"/>
              <a:buChar char="•"/>
            </a:pPr>
            <a:r>
              <a:rPr lang="es-MX"/>
              <a:t>cummax()</a:t>
            </a:r>
          </a:p>
        </p:txBody>
      </p:sp>
    </p:spTree>
    <p:extLst>
      <p:ext uri="{BB962C8B-B14F-4D97-AF65-F5344CB8AC3E}">
        <p14:creationId xmlns:p14="http://schemas.microsoft.com/office/powerpoint/2010/main" val="1957203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BA2185F1-45CC-6939-514F-7FFC1D96BF44}"/>
              </a:ext>
            </a:extLst>
          </p:cNvPr>
          <p:cNvSpPr txBox="1"/>
          <p:nvPr/>
        </p:nvSpPr>
        <p:spPr>
          <a:xfrm>
            <a:off x="717517" y="448154"/>
            <a:ext cx="6097836" cy="523220"/>
          </a:xfrm>
          <a:prstGeom prst="rect">
            <a:avLst/>
          </a:prstGeom>
          <a:noFill/>
        </p:spPr>
        <p:txBody>
          <a:bodyPr wrap="square">
            <a:spAutoFit/>
          </a:bodyPr>
          <a:lstStyle/>
          <a:p>
            <a:pPr marL="0" indent="0" defTabSz="457200">
              <a:buNone/>
            </a:pPr>
            <a:r>
              <a:rPr lang="es-ES" sz="2800">
                <a:solidFill>
                  <a:srgbClr val="FFFF00"/>
                </a:solidFill>
                <a:latin typeface="Montserrat SemiBold" panose="00000700000000000000" pitchFamily="2" charset="0"/>
              </a:rPr>
              <a:t>5. Transformaciones Generales</a:t>
            </a:r>
          </a:p>
        </p:txBody>
      </p:sp>
      <p:sp>
        <p:nvSpPr>
          <p:cNvPr id="5" name="CuadroTexto 4">
            <a:extLst>
              <a:ext uri="{FF2B5EF4-FFF2-40B4-BE49-F238E27FC236}">
                <a16:creationId xmlns:a16="http://schemas.microsoft.com/office/drawing/2014/main" id="{01467F37-038C-32C9-50C2-D449C8BFC70C}"/>
              </a:ext>
            </a:extLst>
          </p:cNvPr>
          <p:cNvSpPr txBox="1"/>
          <p:nvPr/>
        </p:nvSpPr>
        <p:spPr>
          <a:xfrm>
            <a:off x="701967" y="1070723"/>
            <a:ext cx="2073632" cy="400110"/>
          </a:xfrm>
          <a:prstGeom prst="rect">
            <a:avLst/>
          </a:prstGeom>
          <a:noFill/>
        </p:spPr>
        <p:txBody>
          <a:bodyPr wrap="square">
            <a:spAutoFit/>
          </a:bodyPr>
          <a:lstStyle/>
          <a:p>
            <a:pPr marL="0" indent="0" defTabSz="457200">
              <a:buNone/>
            </a:pPr>
            <a:r>
              <a:rPr lang="es-ES" sz="2000" b="1">
                <a:solidFill>
                  <a:srgbClr val="CC00CC"/>
                </a:solidFill>
                <a:highlight>
                  <a:srgbClr val="FFFF00"/>
                </a:highlight>
              </a:rPr>
              <a:t>5.1. Rangos</a:t>
            </a:r>
          </a:p>
        </p:txBody>
      </p:sp>
      <p:sp>
        <p:nvSpPr>
          <p:cNvPr id="8" name="CuadroTexto 7">
            <a:extLst>
              <a:ext uri="{FF2B5EF4-FFF2-40B4-BE49-F238E27FC236}">
                <a16:creationId xmlns:a16="http://schemas.microsoft.com/office/drawing/2014/main" id="{00E359F3-DA0C-31B6-2966-BD70F15306F8}"/>
              </a:ext>
            </a:extLst>
          </p:cNvPr>
          <p:cNvSpPr txBox="1"/>
          <p:nvPr/>
        </p:nvSpPr>
        <p:spPr>
          <a:xfrm>
            <a:off x="2192392" y="1090197"/>
            <a:ext cx="4259376" cy="369332"/>
          </a:xfrm>
          <a:prstGeom prst="rect">
            <a:avLst/>
          </a:prstGeom>
          <a:noFill/>
        </p:spPr>
        <p:txBody>
          <a:bodyPr wrap="square">
            <a:spAutoFit/>
          </a:bodyPr>
          <a:lstStyle/>
          <a:p>
            <a:r>
              <a:rPr lang="es-MX"/>
              <a:t>Son métodos típico para manejar empates</a:t>
            </a:r>
          </a:p>
        </p:txBody>
      </p:sp>
      <p:pic>
        <p:nvPicPr>
          <p:cNvPr id="12" name="Imagen 11">
            <a:extLst>
              <a:ext uri="{FF2B5EF4-FFF2-40B4-BE49-F238E27FC236}">
                <a16:creationId xmlns:a16="http://schemas.microsoft.com/office/drawing/2014/main" id="{C3315BB7-AE74-B5CC-E085-F51C16AA5B23}"/>
              </a:ext>
            </a:extLst>
          </p:cNvPr>
          <p:cNvPicPr>
            <a:picLocks noChangeAspect="1"/>
          </p:cNvPicPr>
          <p:nvPr/>
        </p:nvPicPr>
        <p:blipFill>
          <a:blip r:embed="rId2"/>
          <a:stretch>
            <a:fillRect/>
          </a:stretch>
        </p:blipFill>
        <p:spPr>
          <a:xfrm>
            <a:off x="6808811" y="363579"/>
            <a:ext cx="3115053" cy="2028605"/>
          </a:xfrm>
          <a:prstGeom prst="rect">
            <a:avLst/>
          </a:prstGeom>
        </p:spPr>
      </p:pic>
      <p:pic>
        <p:nvPicPr>
          <p:cNvPr id="15" name="Imagen 14">
            <a:extLst>
              <a:ext uri="{FF2B5EF4-FFF2-40B4-BE49-F238E27FC236}">
                <a16:creationId xmlns:a16="http://schemas.microsoft.com/office/drawing/2014/main" id="{89B6F680-78DE-0EF7-34E1-6F8D912AEEB0}"/>
              </a:ext>
            </a:extLst>
          </p:cNvPr>
          <p:cNvPicPr>
            <a:picLocks noChangeAspect="1"/>
          </p:cNvPicPr>
          <p:nvPr/>
        </p:nvPicPr>
        <p:blipFill>
          <a:blip r:embed="rId3"/>
          <a:stretch>
            <a:fillRect/>
          </a:stretch>
        </p:blipFill>
        <p:spPr>
          <a:xfrm>
            <a:off x="6808811" y="2445347"/>
            <a:ext cx="4390576" cy="3705295"/>
          </a:xfrm>
          <a:prstGeom prst="rect">
            <a:avLst/>
          </a:prstGeom>
        </p:spPr>
      </p:pic>
      <p:pic>
        <p:nvPicPr>
          <p:cNvPr id="16" name="Imagen 15">
            <a:extLst>
              <a:ext uri="{FF2B5EF4-FFF2-40B4-BE49-F238E27FC236}">
                <a16:creationId xmlns:a16="http://schemas.microsoft.com/office/drawing/2014/main" id="{27E833EC-D6EE-4386-B91A-89DA11BCD4A2}"/>
              </a:ext>
            </a:extLst>
          </p:cNvPr>
          <p:cNvPicPr>
            <a:picLocks noChangeAspect="1"/>
          </p:cNvPicPr>
          <p:nvPr/>
        </p:nvPicPr>
        <p:blipFill>
          <a:blip r:embed="rId4"/>
          <a:stretch>
            <a:fillRect/>
          </a:stretch>
        </p:blipFill>
        <p:spPr>
          <a:xfrm>
            <a:off x="812146" y="4410552"/>
            <a:ext cx="5684998" cy="1675289"/>
          </a:xfrm>
          <a:prstGeom prst="rect">
            <a:avLst/>
          </a:prstGeom>
        </p:spPr>
      </p:pic>
      <p:pic>
        <p:nvPicPr>
          <p:cNvPr id="19" name="Imagen 18">
            <a:extLst>
              <a:ext uri="{FF2B5EF4-FFF2-40B4-BE49-F238E27FC236}">
                <a16:creationId xmlns:a16="http://schemas.microsoft.com/office/drawing/2014/main" id="{97C7B0D7-BD65-5A2B-DC00-765781D77EC8}"/>
              </a:ext>
            </a:extLst>
          </p:cNvPr>
          <p:cNvPicPr>
            <a:picLocks noChangeAspect="1"/>
          </p:cNvPicPr>
          <p:nvPr/>
        </p:nvPicPr>
        <p:blipFill>
          <a:blip r:embed="rId5"/>
          <a:stretch>
            <a:fillRect/>
          </a:stretch>
        </p:blipFill>
        <p:spPr>
          <a:xfrm>
            <a:off x="824847" y="1562218"/>
            <a:ext cx="5684998" cy="2717984"/>
          </a:xfrm>
          <a:prstGeom prst="rect">
            <a:avLst/>
          </a:prstGeom>
        </p:spPr>
      </p:pic>
    </p:spTree>
    <p:extLst>
      <p:ext uri="{BB962C8B-B14F-4D97-AF65-F5344CB8AC3E}">
        <p14:creationId xmlns:p14="http://schemas.microsoft.com/office/powerpoint/2010/main" val="11586930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D1C71855-F320-8D91-B597-808C80F82F0A}"/>
              </a:ext>
            </a:extLst>
          </p:cNvPr>
          <p:cNvPicPr>
            <a:picLocks noChangeAspect="1"/>
          </p:cNvPicPr>
          <p:nvPr/>
        </p:nvPicPr>
        <p:blipFill>
          <a:blip r:embed="rId2"/>
          <a:stretch>
            <a:fillRect/>
          </a:stretch>
        </p:blipFill>
        <p:spPr>
          <a:xfrm>
            <a:off x="598160" y="724942"/>
            <a:ext cx="4396222" cy="5052111"/>
          </a:xfrm>
          <a:prstGeom prst="rect">
            <a:avLst/>
          </a:prstGeom>
        </p:spPr>
      </p:pic>
      <p:pic>
        <p:nvPicPr>
          <p:cNvPr id="9" name="Imagen 8">
            <a:extLst>
              <a:ext uri="{FF2B5EF4-FFF2-40B4-BE49-F238E27FC236}">
                <a16:creationId xmlns:a16="http://schemas.microsoft.com/office/drawing/2014/main" id="{E9D43783-B3CE-B04B-6522-2B6F75FD5263}"/>
              </a:ext>
            </a:extLst>
          </p:cNvPr>
          <p:cNvPicPr>
            <a:picLocks noChangeAspect="1"/>
          </p:cNvPicPr>
          <p:nvPr/>
        </p:nvPicPr>
        <p:blipFill>
          <a:blip r:embed="rId3"/>
          <a:stretch>
            <a:fillRect/>
          </a:stretch>
        </p:blipFill>
        <p:spPr>
          <a:xfrm>
            <a:off x="5246660" y="1031362"/>
            <a:ext cx="3743847" cy="2219635"/>
          </a:xfrm>
          <a:prstGeom prst="rect">
            <a:avLst/>
          </a:prstGeom>
        </p:spPr>
      </p:pic>
      <p:pic>
        <p:nvPicPr>
          <p:cNvPr id="11" name="Imagen 10">
            <a:extLst>
              <a:ext uri="{FF2B5EF4-FFF2-40B4-BE49-F238E27FC236}">
                <a16:creationId xmlns:a16="http://schemas.microsoft.com/office/drawing/2014/main" id="{01544AF4-EF44-728F-7FAA-F582C99AA298}"/>
              </a:ext>
            </a:extLst>
          </p:cNvPr>
          <p:cNvPicPr>
            <a:picLocks noChangeAspect="1"/>
          </p:cNvPicPr>
          <p:nvPr/>
        </p:nvPicPr>
        <p:blipFill>
          <a:blip r:embed="rId4"/>
          <a:stretch>
            <a:fillRect/>
          </a:stretch>
        </p:blipFill>
        <p:spPr>
          <a:xfrm>
            <a:off x="9076846" y="1031362"/>
            <a:ext cx="2191056" cy="1305107"/>
          </a:xfrm>
          <a:prstGeom prst="rect">
            <a:avLst/>
          </a:prstGeom>
        </p:spPr>
      </p:pic>
      <p:sp>
        <p:nvSpPr>
          <p:cNvPr id="15" name="CuadroTexto 14">
            <a:extLst>
              <a:ext uri="{FF2B5EF4-FFF2-40B4-BE49-F238E27FC236}">
                <a16:creationId xmlns:a16="http://schemas.microsoft.com/office/drawing/2014/main" id="{A70650DA-6ED2-9A32-7AB4-0B2697548399}"/>
              </a:ext>
            </a:extLst>
          </p:cNvPr>
          <p:cNvSpPr txBox="1"/>
          <p:nvPr/>
        </p:nvSpPr>
        <p:spPr>
          <a:xfrm>
            <a:off x="5276582" y="540276"/>
            <a:ext cx="2334236" cy="369332"/>
          </a:xfrm>
          <a:prstGeom prst="rect">
            <a:avLst/>
          </a:prstGeom>
          <a:noFill/>
        </p:spPr>
        <p:txBody>
          <a:bodyPr wrap="square">
            <a:spAutoFit/>
          </a:bodyPr>
          <a:lstStyle/>
          <a:p>
            <a:pPr marL="0" indent="0" defTabSz="457200">
              <a:buNone/>
            </a:pPr>
            <a:r>
              <a:rPr lang="es-ES" sz="1800" b="1">
                <a:solidFill>
                  <a:srgbClr val="CC00CC"/>
                </a:solidFill>
                <a:highlight>
                  <a:srgbClr val="FFFF00"/>
                </a:highlight>
              </a:rPr>
              <a:t>5.</a:t>
            </a:r>
            <a:r>
              <a:rPr lang="es-ES" b="1">
                <a:solidFill>
                  <a:srgbClr val="CC00CC"/>
                </a:solidFill>
                <a:highlight>
                  <a:srgbClr val="FFFF00"/>
                </a:highlight>
              </a:rPr>
              <a:t>2</a:t>
            </a:r>
            <a:r>
              <a:rPr lang="es-ES" sz="1800" b="1">
                <a:solidFill>
                  <a:srgbClr val="CC00CC"/>
                </a:solidFill>
                <a:highlight>
                  <a:srgbClr val="FFFF00"/>
                </a:highlight>
              </a:rPr>
              <a:t>. Compensaciones</a:t>
            </a:r>
          </a:p>
        </p:txBody>
      </p:sp>
      <p:sp>
        <p:nvSpPr>
          <p:cNvPr id="7" name="Rectángulo 6">
            <a:extLst>
              <a:ext uri="{FF2B5EF4-FFF2-40B4-BE49-F238E27FC236}">
                <a16:creationId xmlns:a16="http://schemas.microsoft.com/office/drawing/2014/main" id="{E683F5F8-F437-5F12-6237-A65744F142AD}"/>
              </a:ext>
            </a:extLst>
          </p:cNvPr>
          <p:cNvSpPr/>
          <p:nvPr/>
        </p:nvSpPr>
        <p:spPr>
          <a:xfrm>
            <a:off x="5091467" y="318552"/>
            <a:ext cx="68854" cy="6220896"/>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23078069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n 16">
            <a:extLst>
              <a:ext uri="{FF2B5EF4-FFF2-40B4-BE49-F238E27FC236}">
                <a16:creationId xmlns:a16="http://schemas.microsoft.com/office/drawing/2014/main" id="{1FAA2584-5D77-BC45-6BC4-BC5EFA1A61B5}"/>
              </a:ext>
            </a:extLst>
          </p:cNvPr>
          <p:cNvPicPr>
            <a:picLocks noChangeAspect="1"/>
          </p:cNvPicPr>
          <p:nvPr/>
        </p:nvPicPr>
        <p:blipFill>
          <a:blip r:embed="rId2"/>
          <a:stretch>
            <a:fillRect/>
          </a:stretch>
        </p:blipFill>
        <p:spPr>
          <a:xfrm>
            <a:off x="617340" y="2651388"/>
            <a:ext cx="5378639" cy="980556"/>
          </a:xfrm>
          <a:prstGeom prst="rect">
            <a:avLst/>
          </a:prstGeom>
        </p:spPr>
      </p:pic>
      <p:pic>
        <p:nvPicPr>
          <p:cNvPr id="19" name="Imagen 18">
            <a:extLst>
              <a:ext uri="{FF2B5EF4-FFF2-40B4-BE49-F238E27FC236}">
                <a16:creationId xmlns:a16="http://schemas.microsoft.com/office/drawing/2014/main" id="{2E3DD120-3EAC-B92C-FE3B-EA124D80F9A5}"/>
              </a:ext>
            </a:extLst>
          </p:cNvPr>
          <p:cNvPicPr>
            <a:picLocks noChangeAspect="1"/>
          </p:cNvPicPr>
          <p:nvPr/>
        </p:nvPicPr>
        <p:blipFill>
          <a:blip r:embed="rId3"/>
          <a:stretch>
            <a:fillRect/>
          </a:stretch>
        </p:blipFill>
        <p:spPr>
          <a:xfrm>
            <a:off x="617340" y="3734225"/>
            <a:ext cx="5378640" cy="2011822"/>
          </a:xfrm>
          <a:prstGeom prst="rect">
            <a:avLst/>
          </a:prstGeom>
        </p:spPr>
      </p:pic>
      <p:sp>
        <p:nvSpPr>
          <p:cNvPr id="25" name="CuadroTexto 24">
            <a:extLst>
              <a:ext uri="{FF2B5EF4-FFF2-40B4-BE49-F238E27FC236}">
                <a16:creationId xmlns:a16="http://schemas.microsoft.com/office/drawing/2014/main" id="{FD95997A-4D78-F2E2-58E6-2FB1C25E6913}"/>
              </a:ext>
            </a:extLst>
          </p:cNvPr>
          <p:cNvSpPr txBox="1"/>
          <p:nvPr/>
        </p:nvSpPr>
        <p:spPr>
          <a:xfrm>
            <a:off x="587914" y="1044458"/>
            <a:ext cx="5572886" cy="1477328"/>
          </a:xfrm>
          <a:prstGeom prst="rect">
            <a:avLst/>
          </a:prstGeom>
          <a:noFill/>
        </p:spPr>
        <p:txBody>
          <a:bodyPr wrap="square">
            <a:spAutoFit/>
          </a:bodyPr>
          <a:lstStyle/>
          <a:p>
            <a:pPr algn="just"/>
            <a:r>
              <a:rPr lang="es-ES">
                <a:latin typeface="Source Sans Pro" panose="020B0503030403020204" pitchFamily="34" charset="0"/>
              </a:rPr>
              <a:t>D</a:t>
            </a:r>
            <a:r>
              <a:rPr lang="es-ES" b="0" i="0">
                <a:effectLst/>
                <a:latin typeface="Source Sans Pro" panose="020B0503030403020204" pitchFamily="34" charset="0"/>
              </a:rPr>
              <a:t>ividir los eventos en sesiones, donde se inicia una nueva sesión tras un intervalo de más de [número] </a:t>
            </a:r>
            <a:r>
              <a:rPr lang="es-ES" b="0" i="0">
                <a:effectLst/>
                <a:latin typeface="SFMono-Regular"/>
              </a:rPr>
              <a:t>x </a:t>
            </a:r>
            <a:r>
              <a:rPr lang="es-ES" b="0" i="0">
                <a:effectLst/>
                <a:latin typeface="Source Sans Pro" panose="020B0503030403020204" pitchFamily="34" charset="0"/>
              </a:rPr>
              <a:t>minutos desde la última actividad. Por ejemplo, imagine que tiene los registros de las horas en que alguien visitó un sitio web:</a:t>
            </a:r>
            <a:endParaRPr lang="es-MX"/>
          </a:p>
        </p:txBody>
      </p:sp>
      <p:pic>
        <p:nvPicPr>
          <p:cNvPr id="27" name="Imagen 26">
            <a:extLst>
              <a:ext uri="{FF2B5EF4-FFF2-40B4-BE49-F238E27FC236}">
                <a16:creationId xmlns:a16="http://schemas.microsoft.com/office/drawing/2014/main" id="{0E51E2C6-00CA-3480-B39B-C95B3AC82C0B}"/>
              </a:ext>
            </a:extLst>
          </p:cNvPr>
          <p:cNvPicPr>
            <a:picLocks noChangeAspect="1"/>
          </p:cNvPicPr>
          <p:nvPr/>
        </p:nvPicPr>
        <p:blipFill>
          <a:blip r:embed="rId4"/>
          <a:stretch>
            <a:fillRect/>
          </a:stretch>
        </p:blipFill>
        <p:spPr>
          <a:xfrm>
            <a:off x="6494809" y="1356594"/>
            <a:ext cx="2012549" cy="4412127"/>
          </a:xfrm>
          <a:prstGeom prst="rect">
            <a:avLst/>
          </a:prstGeom>
        </p:spPr>
      </p:pic>
      <p:pic>
        <p:nvPicPr>
          <p:cNvPr id="29" name="Imagen 28">
            <a:extLst>
              <a:ext uri="{FF2B5EF4-FFF2-40B4-BE49-F238E27FC236}">
                <a16:creationId xmlns:a16="http://schemas.microsoft.com/office/drawing/2014/main" id="{282416B1-CF09-90FF-C42E-34D6EE78C2A5}"/>
              </a:ext>
            </a:extLst>
          </p:cNvPr>
          <p:cNvPicPr>
            <a:picLocks noChangeAspect="1"/>
          </p:cNvPicPr>
          <p:nvPr/>
        </p:nvPicPr>
        <p:blipFill>
          <a:blip r:embed="rId5"/>
          <a:stretch>
            <a:fillRect/>
          </a:stretch>
        </p:blipFill>
        <p:spPr>
          <a:xfrm>
            <a:off x="8633242" y="1333920"/>
            <a:ext cx="2941418" cy="4412127"/>
          </a:xfrm>
          <a:prstGeom prst="rect">
            <a:avLst/>
          </a:prstGeom>
        </p:spPr>
      </p:pic>
      <p:sp>
        <p:nvSpPr>
          <p:cNvPr id="30" name="CuadroTexto 29">
            <a:extLst>
              <a:ext uri="{FF2B5EF4-FFF2-40B4-BE49-F238E27FC236}">
                <a16:creationId xmlns:a16="http://schemas.microsoft.com/office/drawing/2014/main" id="{53030950-D23C-1D77-11BB-E790136026A1}"/>
              </a:ext>
            </a:extLst>
          </p:cNvPr>
          <p:cNvSpPr txBox="1"/>
          <p:nvPr/>
        </p:nvSpPr>
        <p:spPr>
          <a:xfrm>
            <a:off x="587914" y="448154"/>
            <a:ext cx="3823260" cy="400110"/>
          </a:xfrm>
          <a:prstGeom prst="rect">
            <a:avLst/>
          </a:prstGeom>
          <a:noFill/>
        </p:spPr>
        <p:txBody>
          <a:bodyPr wrap="square">
            <a:spAutoFit/>
          </a:bodyPr>
          <a:lstStyle/>
          <a:p>
            <a:pPr marL="0" indent="0" defTabSz="457200">
              <a:buNone/>
            </a:pPr>
            <a:r>
              <a:rPr lang="es-ES" sz="2000" b="1">
                <a:solidFill>
                  <a:srgbClr val="CC00CC"/>
                </a:solidFill>
                <a:highlight>
                  <a:srgbClr val="FFFF00"/>
                </a:highlight>
              </a:rPr>
              <a:t>5.3. Identificadores consecutivos</a:t>
            </a:r>
          </a:p>
        </p:txBody>
      </p:sp>
    </p:spTree>
    <p:extLst>
      <p:ext uri="{BB962C8B-B14F-4D97-AF65-F5344CB8AC3E}">
        <p14:creationId xmlns:p14="http://schemas.microsoft.com/office/powerpoint/2010/main" val="33635522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6C63AB45-5866-00A1-1DED-21933F597EFE}"/>
              </a:ext>
            </a:extLst>
          </p:cNvPr>
          <p:cNvSpPr txBox="1"/>
          <p:nvPr/>
        </p:nvSpPr>
        <p:spPr>
          <a:xfrm>
            <a:off x="652716" y="577756"/>
            <a:ext cx="5572886" cy="923330"/>
          </a:xfrm>
          <a:prstGeom prst="rect">
            <a:avLst/>
          </a:prstGeom>
          <a:noFill/>
        </p:spPr>
        <p:txBody>
          <a:bodyPr wrap="square">
            <a:spAutoFit/>
          </a:bodyPr>
          <a:lstStyle/>
          <a:p>
            <a:pPr algn="just"/>
            <a:r>
              <a:rPr lang="es-ES">
                <a:latin typeface="Source Sans Pro" panose="020B0503030403020204" pitchFamily="34" charset="0"/>
              </a:rPr>
              <a:t>Otro método para crear variables de agrupación es consecutive_id(), que inicia un nuevo grupo cada vez que cambia uno de sus argumentos.</a:t>
            </a:r>
            <a:endParaRPr lang="es-MX"/>
          </a:p>
        </p:txBody>
      </p:sp>
      <p:pic>
        <p:nvPicPr>
          <p:cNvPr id="8" name="Imagen 7">
            <a:extLst>
              <a:ext uri="{FF2B5EF4-FFF2-40B4-BE49-F238E27FC236}">
                <a16:creationId xmlns:a16="http://schemas.microsoft.com/office/drawing/2014/main" id="{46650DBA-C88F-A3EB-B21F-85F337965005}"/>
              </a:ext>
            </a:extLst>
          </p:cNvPr>
          <p:cNvPicPr>
            <a:picLocks noChangeAspect="1"/>
          </p:cNvPicPr>
          <p:nvPr/>
        </p:nvPicPr>
        <p:blipFill>
          <a:blip r:embed="rId2"/>
          <a:stretch>
            <a:fillRect/>
          </a:stretch>
        </p:blipFill>
        <p:spPr>
          <a:xfrm>
            <a:off x="683257" y="1744174"/>
            <a:ext cx="1209031" cy="4406468"/>
          </a:xfrm>
          <a:prstGeom prst="rect">
            <a:avLst/>
          </a:prstGeom>
        </p:spPr>
      </p:pic>
      <p:sp>
        <p:nvSpPr>
          <p:cNvPr id="10" name="CuadroTexto 9">
            <a:extLst>
              <a:ext uri="{FF2B5EF4-FFF2-40B4-BE49-F238E27FC236}">
                <a16:creationId xmlns:a16="http://schemas.microsoft.com/office/drawing/2014/main" id="{74180A39-68C6-B678-F2B1-DC128D94F31E}"/>
              </a:ext>
            </a:extLst>
          </p:cNvPr>
          <p:cNvSpPr txBox="1"/>
          <p:nvPr/>
        </p:nvSpPr>
        <p:spPr>
          <a:xfrm>
            <a:off x="2013537" y="1638198"/>
            <a:ext cx="3304851" cy="646331"/>
          </a:xfrm>
          <a:prstGeom prst="rect">
            <a:avLst/>
          </a:prstGeom>
          <a:noFill/>
        </p:spPr>
        <p:txBody>
          <a:bodyPr wrap="square">
            <a:spAutoFit/>
          </a:bodyPr>
          <a:lstStyle/>
          <a:p>
            <a:pPr algn="just"/>
            <a:r>
              <a:rPr lang="es-ES">
                <a:latin typeface="Source Sans Pro" panose="020B0503030403020204" pitchFamily="34" charset="0"/>
              </a:rPr>
              <a:t>Entonces podemos ver como x, </a:t>
            </a:r>
          </a:p>
          <a:p>
            <a:pPr algn="just"/>
            <a:r>
              <a:rPr lang="es-ES">
                <a:latin typeface="Source Sans Pro" panose="020B0503030403020204" pitchFamily="34" charset="0"/>
              </a:rPr>
              <a:t>cambia de a →b →c → d→ e →a →b.  </a:t>
            </a:r>
            <a:endParaRPr lang="es-MX"/>
          </a:p>
        </p:txBody>
      </p:sp>
      <p:pic>
        <p:nvPicPr>
          <p:cNvPr id="12" name="Imagen 11">
            <a:extLst>
              <a:ext uri="{FF2B5EF4-FFF2-40B4-BE49-F238E27FC236}">
                <a16:creationId xmlns:a16="http://schemas.microsoft.com/office/drawing/2014/main" id="{7CED9047-000A-0941-CEB3-D02F5A8E2A2E}"/>
              </a:ext>
            </a:extLst>
          </p:cNvPr>
          <p:cNvPicPr>
            <a:picLocks noChangeAspect="1"/>
          </p:cNvPicPr>
          <p:nvPr/>
        </p:nvPicPr>
        <p:blipFill>
          <a:blip r:embed="rId3"/>
          <a:stretch>
            <a:fillRect/>
          </a:stretch>
        </p:blipFill>
        <p:spPr>
          <a:xfrm>
            <a:off x="2013537" y="2307341"/>
            <a:ext cx="3543030" cy="3858603"/>
          </a:xfrm>
          <a:prstGeom prst="rect">
            <a:avLst/>
          </a:prstGeom>
        </p:spPr>
      </p:pic>
      <p:sp>
        <p:nvSpPr>
          <p:cNvPr id="18" name="Rectángulo 17">
            <a:extLst>
              <a:ext uri="{FF2B5EF4-FFF2-40B4-BE49-F238E27FC236}">
                <a16:creationId xmlns:a16="http://schemas.microsoft.com/office/drawing/2014/main" id="{469320E9-BC1E-59C5-DC03-1BDECCE36B37}"/>
              </a:ext>
            </a:extLst>
          </p:cNvPr>
          <p:cNvSpPr/>
          <p:nvPr/>
        </p:nvSpPr>
        <p:spPr>
          <a:xfrm>
            <a:off x="656893" y="2959192"/>
            <a:ext cx="1235395" cy="275405"/>
          </a:xfrm>
          <a:prstGeom prst="rect">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ln>
                <a:solidFill>
                  <a:srgbClr val="FFFF00"/>
                </a:solidFill>
              </a:ln>
              <a:solidFill>
                <a:srgbClr val="FFFF00"/>
              </a:solidFill>
            </a:endParaRPr>
          </a:p>
        </p:txBody>
      </p:sp>
      <p:sp>
        <p:nvSpPr>
          <p:cNvPr id="19" name="Rectángulo 18">
            <a:extLst>
              <a:ext uri="{FF2B5EF4-FFF2-40B4-BE49-F238E27FC236}">
                <a16:creationId xmlns:a16="http://schemas.microsoft.com/office/drawing/2014/main" id="{CD6675CE-B330-639F-F5B0-12CDC6B6E8C2}"/>
              </a:ext>
            </a:extLst>
          </p:cNvPr>
          <p:cNvSpPr/>
          <p:nvPr/>
        </p:nvSpPr>
        <p:spPr>
          <a:xfrm>
            <a:off x="656893" y="3717723"/>
            <a:ext cx="1235395" cy="275405"/>
          </a:xfrm>
          <a:prstGeom prst="rect">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ln>
                <a:solidFill>
                  <a:srgbClr val="FFFF00"/>
                </a:solidFill>
              </a:ln>
              <a:solidFill>
                <a:srgbClr val="FFFF00"/>
              </a:solidFill>
            </a:endParaRPr>
          </a:p>
        </p:txBody>
      </p:sp>
      <p:sp>
        <p:nvSpPr>
          <p:cNvPr id="20" name="Rectángulo 19">
            <a:extLst>
              <a:ext uri="{FF2B5EF4-FFF2-40B4-BE49-F238E27FC236}">
                <a16:creationId xmlns:a16="http://schemas.microsoft.com/office/drawing/2014/main" id="{9A7BE668-2D3D-2103-9A20-D88A460F0C2A}"/>
              </a:ext>
            </a:extLst>
          </p:cNvPr>
          <p:cNvSpPr/>
          <p:nvPr/>
        </p:nvSpPr>
        <p:spPr>
          <a:xfrm>
            <a:off x="656893" y="3993128"/>
            <a:ext cx="1235395" cy="275405"/>
          </a:xfrm>
          <a:prstGeom prst="rect">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ln>
                <a:solidFill>
                  <a:srgbClr val="FFFF00"/>
                </a:solidFill>
              </a:ln>
              <a:solidFill>
                <a:srgbClr val="FFFF00"/>
              </a:solidFill>
            </a:endParaRPr>
          </a:p>
        </p:txBody>
      </p:sp>
      <p:sp>
        <p:nvSpPr>
          <p:cNvPr id="21" name="Rectángulo 20">
            <a:extLst>
              <a:ext uri="{FF2B5EF4-FFF2-40B4-BE49-F238E27FC236}">
                <a16:creationId xmlns:a16="http://schemas.microsoft.com/office/drawing/2014/main" id="{03595587-5EC3-E61E-2F6C-75A9135D7143}"/>
              </a:ext>
            </a:extLst>
          </p:cNvPr>
          <p:cNvSpPr/>
          <p:nvPr/>
        </p:nvSpPr>
        <p:spPr>
          <a:xfrm>
            <a:off x="662343" y="4476254"/>
            <a:ext cx="1229945" cy="275405"/>
          </a:xfrm>
          <a:prstGeom prst="rect">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ln>
                <a:solidFill>
                  <a:srgbClr val="FFFF00"/>
                </a:solidFill>
              </a:ln>
              <a:solidFill>
                <a:srgbClr val="FFFF00"/>
              </a:solidFill>
            </a:endParaRPr>
          </a:p>
        </p:txBody>
      </p:sp>
      <p:sp>
        <p:nvSpPr>
          <p:cNvPr id="22" name="Rectángulo 21">
            <a:extLst>
              <a:ext uri="{FF2B5EF4-FFF2-40B4-BE49-F238E27FC236}">
                <a16:creationId xmlns:a16="http://schemas.microsoft.com/office/drawing/2014/main" id="{0F7CDFF3-3CD0-585F-7C16-B6658F1301DD}"/>
              </a:ext>
            </a:extLst>
          </p:cNvPr>
          <p:cNvSpPr/>
          <p:nvPr/>
        </p:nvSpPr>
        <p:spPr>
          <a:xfrm>
            <a:off x="662343" y="4760069"/>
            <a:ext cx="1229945" cy="275405"/>
          </a:xfrm>
          <a:prstGeom prst="rect">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ln>
                <a:solidFill>
                  <a:srgbClr val="FFFF00"/>
                </a:solidFill>
              </a:ln>
              <a:solidFill>
                <a:srgbClr val="FFFF00"/>
              </a:solidFill>
            </a:endParaRPr>
          </a:p>
        </p:txBody>
      </p:sp>
      <p:sp>
        <p:nvSpPr>
          <p:cNvPr id="23" name="Rectángulo 22">
            <a:extLst>
              <a:ext uri="{FF2B5EF4-FFF2-40B4-BE49-F238E27FC236}">
                <a16:creationId xmlns:a16="http://schemas.microsoft.com/office/drawing/2014/main" id="{E2B112F7-9A6D-0DF9-1623-6CACF2E4E7BF}"/>
              </a:ext>
            </a:extLst>
          </p:cNvPr>
          <p:cNvSpPr/>
          <p:nvPr/>
        </p:nvSpPr>
        <p:spPr>
          <a:xfrm>
            <a:off x="663890" y="5029434"/>
            <a:ext cx="1228398" cy="275405"/>
          </a:xfrm>
          <a:prstGeom prst="rect">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ln>
                <a:solidFill>
                  <a:srgbClr val="FFFF00"/>
                </a:solidFill>
              </a:ln>
              <a:solidFill>
                <a:srgbClr val="FFFF00"/>
              </a:solidFill>
            </a:endParaRPr>
          </a:p>
        </p:txBody>
      </p:sp>
      <p:sp>
        <p:nvSpPr>
          <p:cNvPr id="24" name="Rectángulo 23">
            <a:extLst>
              <a:ext uri="{FF2B5EF4-FFF2-40B4-BE49-F238E27FC236}">
                <a16:creationId xmlns:a16="http://schemas.microsoft.com/office/drawing/2014/main" id="{DC096D7C-8037-C407-A824-60A343A01DFD}"/>
              </a:ext>
            </a:extLst>
          </p:cNvPr>
          <p:cNvSpPr/>
          <p:nvPr/>
        </p:nvSpPr>
        <p:spPr>
          <a:xfrm>
            <a:off x="669688" y="5540012"/>
            <a:ext cx="1222600" cy="275405"/>
          </a:xfrm>
          <a:prstGeom prst="rect">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ln>
                <a:solidFill>
                  <a:srgbClr val="FFFF00"/>
                </a:solidFill>
              </a:ln>
              <a:solidFill>
                <a:srgbClr val="FFFF00"/>
              </a:solidFill>
            </a:endParaRPr>
          </a:p>
        </p:txBody>
      </p:sp>
    </p:spTree>
    <p:extLst>
      <p:ext uri="{BB962C8B-B14F-4D97-AF65-F5344CB8AC3E}">
        <p14:creationId xmlns:p14="http://schemas.microsoft.com/office/powerpoint/2010/main" val="41977941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54B1C-895E-64A8-AF31-FF65401568CD}"/>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E1BE5BD5-066F-7E0A-F074-C5BEDCB2395F}"/>
              </a:ext>
            </a:extLst>
          </p:cNvPr>
          <p:cNvSpPr txBox="1"/>
          <p:nvPr/>
        </p:nvSpPr>
        <p:spPr>
          <a:xfrm>
            <a:off x="703545" y="471208"/>
            <a:ext cx="6097836" cy="523220"/>
          </a:xfrm>
          <a:prstGeom prst="rect">
            <a:avLst/>
          </a:prstGeom>
          <a:noFill/>
        </p:spPr>
        <p:txBody>
          <a:bodyPr wrap="square">
            <a:spAutoFit/>
          </a:bodyPr>
          <a:lstStyle/>
          <a:p>
            <a:pPr marL="0" indent="0" defTabSz="457200">
              <a:buNone/>
            </a:pPr>
            <a:r>
              <a:rPr lang="es-ES" sz="2800">
                <a:solidFill>
                  <a:srgbClr val="FFFF00"/>
                </a:solidFill>
                <a:latin typeface="Montserrat SemiBold" panose="00000700000000000000" pitchFamily="2" charset="0"/>
              </a:rPr>
              <a:t>6. Resumenes Numéricos</a:t>
            </a:r>
          </a:p>
        </p:txBody>
      </p:sp>
      <p:sp>
        <p:nvSpPr>
          <p:cNvPr id="2" name="CuadroTexto 1">
            <a:extLst>
              <a:ext uri="{FF2B5EF4-FFF2-40B4-BE49-F238E27FC236}">
                <a16:creationId xmlns:a16="http://schemas.microsoft.com/office/drawing/2014/main" id="{929964B1-245C-1F03-DAE5-7E8C33A92EF8}"/>
              </a:ext>
            </a:extLst>
          </p:cNvPr>
          <p:cNvSpPr txBox="1"/>
          <p:nvPr/>
        </p:nvSpPr>
        <p:spPr>
          <a:xfrm>
            <a:off x="703544" y="1160965"/>
            <a:ext cx="3966833" cy="369332"/>
          </a:xfrm>
          <a:prstGeom prst="rect">
            <a:avLst/>
          </a:prstGeom>
          <a:noFill/>
        </p:spPr>
        <p:txBody>
          <a:bodyPr wrap="square">
            <a:spAutoFit/>
          </a:bodyPr>
          <a:lstStyle/>
          <a:p>
            <a:pPr marL="0" indent="0" defTabSz="457200">
              <a:buNone/>
            </a:pPr>
            <a:r>
              <a:rPr lang="es-ES" b="1">
                <a:solidFill>
                  <a:srgbClr val="CC00CC"/>
                </a:solidFill>
                <a:highlight>
                  <a:srgbClr val="FFFF00"/>
                </a:highlight>
              </a:rPr>
              <a:t>6.1.</a:t>
            </a:r>
            <a:r>
              <a:rPr lang="es-ES" sz="1800" b="1">
                <a:solidFill>
                  <a:srgbClr val="CC00CC"/>
                </a:solidFill>
                <a:highlight>
                  <a:srgbClr val="FFFF00"/>
                </a:highlight>
              </a:rPr>
              <a:t> Medidas de Tendencia Central</a:t>
            </a:r>
          </a:p>
        </p:txBody>
      </p:sp>
      <p:sp>
        <p:nvSpPr>
          <p:cNvPr id="13" name="CuadroTexto 12">
            <a:extLst>
              <a:ext uri="{FF2B5EF4-FFF2-40B4-BE49-F238E27FC236}">
                <a16:creationId xmlns:a16="http://schemas.microsoft.com/office/drawing/2014/main" id="{352D879C-771D-C1A7-86BA-DB7C12DCB648}"/>
              </a:ext>
            </a:extLst>
          </p:cNvPr>
          <p:cNvSpPr txBox="1"/>
          <p:nvPr/>
        </p:nvSpPr>
        <p:spPr>
          <a:xfrm>
            <a:off x="703544" y="1593982"/>
            <a:ext cx="3498447" cy="1477328"/>
          </a:xfrm>
          <a:prstGeom prst="rect">
            <a:avLst/>
          </a:prstGeom>
          <a:noFill/>
        </p:spPr>
        <p:txBody>
          <a:bodyPr wrap="square">
            <a:spAutoFit/>
          </a:bodyPr>
          <a:lstStyle/>
          <a:p>
            <a:pPr algn="just"/>
            <a:r>
              <a:rPr lang="es-ES"/>
              <a:t>Para distribuciones simétricas generalmente se reporta la media, mientras que para distribuciones asimétricas se suele reportar la mediana</a:t>
            </a:r>
            <a:endParaRPr lang="es-MX"/>
          </a:p>
        </p:txBody>
      </p:sp>
      <p:pic>
        <p:nvPicPr>
          <p:cNvPr id="15" name="Imagen 14">
            <a:extLst>
              <a:ext uri="{FF2B5EF4-FFF2-40B4-BE49-F238E27FC236}">
                <a16:creationId xmlns:a16="http://schemas.microsoft.com/office/drawing/2014/main" id="{5E2002AF-964D-823A-CDAB-3C985FFD678C}"/>
              </a:ext>
            </a:extLst>
          </p:cNvPr>
          <p:cNvPicPr>
            <a:picLocks noChangeAspect="1"/>
          </p:cNvPicPr>
          <p:nvPr/>
        </p:nvPicPr>
        <p:blipFill>
          <a:blip r:embed="rId2"/>
          <a:stretch>
            <a:fillRect/>
          </a:stretch>
        </p:blipFill>
        <p:spPr>
          <a:xfrm>
            <a:off x="4475975" y="3429000"/>
            <a:ext cx="4795274" cy="3161010"/>
          </a:xfrm>
          <a:prstGeom prst="rect">
            <a:avLst/>
          </a:prstGeom>
        </p:spPr>
      </p:pic>
      <p:sp>
        <p:nvSpPr>
          <p:cNvPr id="21" name="CuadroTexto 20">
            <a:extLst>
              <a:ext uri="{FF2B5EF4-FFF2-40B4-BE49-F238E27FC236}">
                <a16:creationId xmlns:a16="http://schemas.microsoft.com/office/drawing/2014/main" id="{BB31B7B8-3F0A-8101-53FA-946EC739F5E8}"/>
              </a:ext>
            </a:extLst>
          </p:cNvPr>
          <p:cNvSpPr txBox="1"/>
          <p:nvPr/>
        </p:nvSpPr>
        <p:spPr>
          <a:xfrm>
            <a:off x="675660" y="3040194"/>
            <a:ext cx="3526331" cy="1477328"/>
          </a:xfrm>
          <a:prstGeom prst="rect">
            <a:avLst/>
          </a:prstGeom>
          <a:noFill/>
        </p:spPr>
        <p:txBody>
          <a:bodyPr wrap="square">
            <a:spAutoFit/>
          </a:bodyPr>
          <a:lstStyle/>
          <a:p>
            <a:r>
              <a:rPr lang="es-ES"/>
              <a:t> La mediana del retraso siempre es menor que la media porque, si bien los vuelos a veces salen con varias horas de retraso, nunca salen con varias horas de antelación.</a:t>
            </a:r>
            <a:endParaRPr lang="es-MX"/>
          </a:p>
        </p:txBody>
      </p:sp>
      <p:sp>
        <p:nvSpPr>
          <p:cNvPr id="26" name="CuadroTexto 25">
            <a:extLst>
              <a:ext uri="{FF2B5EF4-FFF2-40B4-BE49-F238E27FC236}">
                <a16:creationId xmlns:a16="http://schemas.microsoft.com/office/drawing/2014/main" id="{A0EA4CE8-0844-18E8-9A75-F4053E18368B}"/>
              </a:ext>
            </a:extLst>
          </p:cNvPr>
          <p:cNvSpPr txBox="1"/>
          <p:nvPr/>
        </p:nvSpPr>
        <p:spPr>
          <a:xfrm>
            <a:off x="675660" y="6255987"/>
            <a:ext cx="6097904" cy="261610"/>
          </a:xfrm>
          <a:prstGeom prst="rect">
            <a:avLst/>
          </a:prstGeom>
          <a:noFill/>
        </p:spPr>
        <p:txBody>
          <a:bodyPr wrap="square">
            <a:spAutoFit/>
          </a:bodyPr>
          <a:lstStyle/>
          <a:p>
            <a:pPr marL="342900" marR="0" lvl="0" indent="-342900" algn="l" defTabSz="457200" rtl="0" eaLnBrk="1" fontAlgn="auto" latinLnBrk="0" hangingPunct="1">
              <a:lnSpc>
                <a:spcPct val="100000"/>
              </a:lnSpc>
              <a:spcBef>
                <a:spcPts val="0"/>
              </a:spcBef>
              <a:spcAft>
                <a:spcPts val="0"/>
              </a:spcAft>
              <a:buClrTx/>
              <a:buSzTx/>
              <a:buFontTx/>
              <a:buAutoNum type="arabicPeriod"/>
              <a:tabLst/>
              <a:defRPr/>
            </a:pPr>
            <a:r>
              <a:rPr kumimoji="0" lang="es-MX" sz="1100" b="0" i="0" u="none" strike="noStrike" kern="1200" cap="none" spc="0" normalizeH="0" baseline="0" noProof="0">
                <a:ln>
                  <a:noFill/>
                </a:ln>
                <a:solidFill>
                  <a:prstClr val="white"/>
                </a:solidFill>
                <a:effectLst/>
                <a:uLnTx/>
                <a:uFillTx/>
                <a:latin typeface="Montserrat Light" panose="00000400000000000000" pitchFamily="2" charset="0"/>
                <a:ea typeface="+mn-ea"/>
                <a:cs typeface="+mn-cs"/>
              </a:rPr>
              <a:t>dep_delay: retraso de salida (min) </a:t>
            </a:r>
          </a:p>
        </p:txBody>
      </p:sp>
      <p:pic>
        <p:nvPicPr>
          <p:cNvPr id="30" name="Imagen 29">
            <a:extLst>
              <a:ext uri="{FF2B5EF4-FFF2-40B4-BE49-F238E27FC236}">
                <a16:creationId xmlns:a16="http://schemas.microsoft.com/office/drawing/2014/main" id="{AE6317BC-BD1F-8F6F-448C-0F841097D634}"/>
              </a:ext>
            </a:extLst>
          </p:cNvPr>
          <p:cNvPicPr>
            <a:picLocks noChangeAspect="1"/>
          </p:cNvPicPr>
          <p:nvPr/>
        </p:nvPicPr>
        <p:blipFill>
          <a:blip r:embed="rId3"/>
          <a:stretch>
            <a:fillRect/>
          </a:stretch>
        </p:blipFill>
        <p:spPr>
          <a:xfrm>
            <a:off x="4456064" y="1150427"/>
            <a:ext cx="5657598" cy="2223796"/>
          </a:xfrm>
          <a:prstGeom prst="rect">
            <a:avLst/>
          </a:prstGeom>
        </p:spPr>
      </p:pic>
    </p:spTree>
    <p:extLst>
      <p:ext uri="{BB962C8B-B14F-4D97-AF65-F5344CB8AC3E}">
        <p14:creationId xmlns:p14="http://schemas.microsoft.com/office/powerpoint/2010/main" val="37972597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889EF259-6E52-D30C-B43A-D44F7FA5B720}"/>
              </a:ext>
            </a:extLst>
          </p:cNvPr>
          <p:cNvSpPr txBox="1"/>
          <p:nvPr/>
        </p:nvSpPr>
        <p:spPr>
          <a:xfrm>
            <a:off x="587915" y="318663"/>
            <a:ext cx="3578027" cy="369332"/>
          </a:xfrm>
          <a:prstGeom prst="rect">
            <a:avLst/>
          </a:prstGeom>
          <a:noFill/>
        </p:spPr>
        <p:txBody>
          <a:bodyPr wrap="square">
            <a:spAutoFit/>
          </a:bodyPr>
          <a:lstStyle/>
          <a:p>
            <a:pPr marL="0" indent="0" defTabSz="457200">
              <a:buNone/>
            </a:pPr>
            <a:r>
              <a:rPr lang="es-ES" b="1">
                <a:solidFill>
                  <a:srgbClr val="CC00CC"/>
                </a:solidFill>
                <a:highlight>
                  <a:srgbClr val="FFFF00"/>
                </a:highlight>
              </a:rPr>
              <a:t>6.2.</a:t>
            </a:r>
            <a:r>
              <a:rPr lang="es-ES" sz="1800" b="1">
                <a:solidFill>
                  <a:srgbClr val="CC00CC"/>
                </a:solidFill>
                <a:highlight>
                  <a:srgbClr val="FFFF00"/>
                </a:highlight>
              </a:rPr>
              <a:t> Mínimo, máximo y cuantiles</a:t>
            </a:r>
          </a:p>
        </p:txBody>
      </p:sp>
      <p:sp>
        <p:nvSpPr>
          <p:cNvPr id="5" name="CuadroTexto 4">
            <a:extLst>
              <a:ext uri="{FF2B5EF4-FFF2-40B4-BE49-F238E27FC236}">
                <a16:creationId xmlns:a16="http://schemas.microsoft.com/office/drawing/2014/main" id="{C6F0033D-2955-E836-1C57-8FF5FD79A75F}"/>
              </a:ext>
            </a:extLst>
          </p:cNvPr>
          <p:cNvSpPr txBox="1"/>
          <p:nvPr/>
        </p:nvSpPr>
        <p:spPr>
          <a:xfrm>
            <a:off x="5447990" y="318663"/>
            <a:ext cx="1684826" cy="369332"/>
          </a:xfrm>
          <a:prstGeom prst="rect">
            <a:avLst/>
          </a:prstGeom>
          <a:noFill/>
        </p:spPr>
        <p:txBody>
          <a:bodyPr wrap="square">
            <a:spAutoFit/>
          </a:bodyPr>
          <a:lstStyle/>
          <a:p>
            <a:pPr marL="0" indent="0" defTabSz="457200">
              <a:buNone/>
            </a:pPr>
            <a:r>
              <a:rPr lang="es-ES" b="1">
                <a:solidFill>
                  <a:srgbClr val="CC00CC"/>
                </a:solidFill>
                <a:highlight>
                  <a:srgbClr val="FFFF00"/>
                </a:highlight>
              </a:rPr>
              <a:t>6.3.</a:t>
            </a:r>
            <a:r>
              <a:rPr lang="es-ES" sz="1800" b="1">
                <a:solidFill>
                  <a:srgbClr val="CC00CC"/>
                </a:solidFill>
                <a:highlight>
                  <a:srgbClr val="FFFF00"/>
                </a:highlight>
              </a:rPr>
              <a:t> Dispersión</a:t>
            </a:r>
          </a:p>
        </p:txBody>
      </p:sp>
      <p:pic>
        <p:nvPicPr>
          <p:cNvPr id="7" name="Imagen 6">
            <a:extLst>
              <a:ext uri="{FF2B5EF4-FFF2-40B4-BE49-F238E27FC236}">
                <a16:creationId xmlns:a16="http://schemas.microsoft.com/office/drawing/2014/main" id="{6F311A1E-0D21-39CC-C04C-4B36AF8684C6}"/>
              </a:ext>
            </a:extLst>
          </p:cNvPr>
          <p:cNvPicPr>
            <a:picLocks noChangeAspect="1"/>
          </p:cNvPicPr>
          <p:nvPr/>
        </p:nvPicPr>
        <p:blipFill>
          <a:blip r:embed="rId2"/>
          <a:stretch>
            <a:fillRect/>
          </a:stretch>
        </p:blipFill>
        <p:spPr>
          <a:xfrm>
            <a:off x="587915" y="779684"/>
            <a:ext cx="4406469" cy="4363746"/>
          </a:xfrm>
          <a:prstGeom prst="rect">
            <a:avLst/>
          </a:prstGeom>
        </p:spPr>
      </p:pic>
      <p:sp>
        <p:nvSpPr>
          <p:cNvPr id="10" name="CuadroTexto 9">
            <a:extLst>
              <a:ext uri="{FF2B5EF4-FFF2-40B4-BE49-F238E27FC236}">
                <a16:creationId xmlns:a16="http://schemas.microsoft.com/office/drawing/2014/main" id="{829C61B0-AA8D-3506-5DD9-39A258E77F84}"/>
              </a:ext>
            </a:extLst>
          </p:cNvPr>
          <p:cNvSpPr txBox="1"/>
          <p:nvPr/>
        </p:nvSpPr>
        <p:spPr>
          <a:xfrm>
            <a:off x="675660" y="6255987"/>
            <a:ext cx="6097904" cy="261610"/>
          </a:xfrm>
          <a:prstGeom prst="rect">
            <a:avLst/>
          </a:prstGeom>
          <a:noFill/>
        </p:spPr>
        <p:txBody>
          <a:bodyPr wrap="square">
            <a:spAutoFit/>
          </a:bodyPr>
          <a:lstStyle/>
          <a:p>
            <a:pPr marL="342900" marR="0" lvl="0" indent="-342900" algn="l" defTabSz="457200" rtl="0" eaLnBrk="1" fontAlgn="auto" latinLnBrk="0" hangingPunct="1">
              <a:lnSpc>
                <a:spcPct val="100000"/>
              </a:lnSpc>
              <a:spcBef>
                <a:spcPts val="0"/>
              </a:spcBef>
              <a:spcAft>
                <a:spcPts val="0"/>
              </a:spcAft>
              <a:buClrTx/>
              <a:buSzTx/>
              <a:buFontTx/>
              <a:buAutoNum type="arabicPeriod"/>
              <a:tabLst/>
              <a:defRPr/>
            </a:pPr>
            <a:r>
              <a:rPr kumimoji="0" lang="es-MX" sz="1100" b="0" i="0" u="none" strike="noStrike" kern="1200" cap="none" spc="0" normalizeH="0" baseline="0" noProof="0">
                <a:ln>
                  <a:noFill/>
                </a:ln>
                <a:solidFill>
                  <a:prstClr val="white"/>
                </a:solidFill>
                <a:effectLst/>
                <a:uLnTx/>
                <a:uFillTx/>
                <a:latin typeface="Montserrat Light" panose="00000400000000000000" pitchFamily="2" charset="0"/>
                <a:ea typeface="+mn-ea"/>
                <a:cs typeface="+mn-cs"/>
              </a:rPr>
              <a:t>dep_delay: retraso de salida (min) </a:t>
            </a:r>
          </a:p>
        </p:txBody>
      </p:sp>
      <p:pic>
        <p:nvPicPr>
          <p:cNvPr id="12" name="Imagen 11">
            <a:extLst>
              <a:ext uri="{FF2B5EF4-FFF2-40B4-BE49-F238E27FC236}">
                <a16:creationId xmlns:a16="http://schemas.microsoft.com/office/drawing/2014/main" id="{F8A63295-2E69-757C-A150-9DA3DC7385A1}"/>
              </a:ext>
            </a:extLst>
          </p:cNvPr>
          <p:cNvPicPr>
            <a:picLocks noChangeAspect="1"/>
          </p:cNvPicPr>
          <p:nvPr/>
        </p:nvPicPr>
        <p:blipFill>
          <a:blip r:embed="rId3"/>
          <a:stretch>
            <a:fillRect/>
          </a:stretch>
        </p:blipFill>
        <p:spPr>
          <a:xfrm>
            <a:off x="5486900" y="779683"/>
            <a:ext cx="3987306" cy="4074939"/>
          </a:xfrm>
          <a:prstGeom prst="rect">
            <a:avLst/>
          </a:prstGeom>
        </p:spPr>
      </p:pic>
      <p:sp>
        <p:nvSpPr>
          <p:cNvPr id="13" name="Rectángulo 12">
            <a:extLst>
              <a:ext uri="{FF2B5EF4-FFF2-40B4-BE49-F238E27FC236}">
                <a16:creationId xmlns:a16="http://schemas.microsoft.com/office/drawing/2014/main" id="{830EFBFF-5704-8D7C-3E9B-FAA60F3E77AF}"/>
              </a:ext>
            </a:extLst>
          </p:cNvPr>
          <p:cNvSpPr/>
          <p:nvPr/>
        </p:nvSpPr>
        <p:spPr>
          <a:xfrm>
            <a:off x="7132816" y="1113272"/>
            <a:ext cx="1360821" cy="275405"/>
          </a:xfrm>
          <a:prstGeom prst="rect">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ln>
                <a:solidFill>
                  <a:srgbClr val="FFFF00"/>
                </a:solidFill>
              </a:ln>
              <a:solidFill>
                <a:srgbClr val="FFFF00"/>
              </a:solidFill>
            </a:endParaRPr>
          </a:p>
        </p:txBody>
      </p:sp>
    </p:spTree>
    <p:extLst>
      <p:ext uri="{BB962C8B-B14F-4D97-AF65-F5344CB8AC3E}">
        <p14:creationId xmlns:p14="http://schemas.microsoft.com/office/powerpoint/2010/main" val="13875435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C261B093-2CCC-ACDA-74EF-99EA60175AF5}"/>
              </a:ext>
            </a:extLst>
          </p:cNvPr>
          <p:cNvSpPr txBox="1"/>
          <p:nvPr/>
        </p:nvSpPr>
        <p:spPr>
          <a:xfrm>
            <a:off x="603927" y="383353"/>
            <a:ext cx="2073631" cy="369332"/>
          </a:xfrm>
          <a:prstGeom prst="rect">
            <a:avLst/>
          </a:prstGeom>
          <a:noFill/>
        </p:spPr>
        <p:txBody>
          <a:bodyPr wrap="square">
            <a:spAutoFit/>
          </a:bodyPr>
          <a:lstStyle/>
          <a:p>
            <a:pPr marL="0" indent="0" defTabSz="457200">
              <a:buNone/>
            </a:pPr>
            <a:r>
              <a:rPr lang="es-ES" b="1">
                <a:solidFill>
                  <a:srgbClr val="CC00CC"/>
                </a:solidFill>
                <a:highlight>
                  <a:srgbClr val="FFFF00"/>
                </a:highlight>
              </a:rPr>
              <a:t>6.4.</a:t>
            </a:r>
            <a:r>
              <a:rPr lang="es-ES" sz="1800" b="1">
                <a:solidFill>
                  <a:srgbClr val="CC00CC"/>
                </a:solidFill>
                <a:highlight>
                  <a:srgbClr val="FFFF00"/>
                </a:highlight>
              </a:rPr>
              <a:t> Distribuciones</a:t>
            </a:r>
          </a:p>
        </p:txBody>
      </p:sp>
      <p:sp>
        <p:nvSpPr>
          <p:cNvPr id="9" name="CuadroTexto 8">
            <a:extLst>
              <a:ext uri="{FF2B5EF4-FFF2-40B4-BE49-F238E27FC236}">
                <a16:creationId xmlns:a16="http://schemas.microsoft.com/office/drawing/2014/main" id="{5F8B3121-1A70-74B6-A950-9A5E29598E13}"/>
              </a:ext>
            </a:extLst>
          </p:cNvPr>
          <p:cNvSpPr txBox="1"/>
          <p:nvPr/>
        </p:nvSpPr>
        <p:spPr>
          <a:xfrm>
            <a:off x="582924" y="2262582"/>
            <a:ext cx="1814428" cy="369332"/>
          </a:xfrm>
          <a:prstGeom prst="rect">
            <a:avLst/>
          </a:prstGeom>
          <a:noFill/>
        </p:spPr>
        <p:txBody>
          <a:bodyPr wrap="square">
            <a:spAutoFit/>
          </a:bodyPr>
          <a:lstStyle/>
          <a:p>
            <a:pPr marL="0" indent="0" defTabSz="457200">
              <a:buNone/>
            </a:pPr>
            <a:r>
              <a:rPr lang="es-ES" b="1">
                <a:solidFill>
                  <a:srgbClr val="CC00CC"/>
                </a:solidFill>
                <a:highlight>
                  <a:srgbClr val="FFFF00"/>
                </a:highlight>
              </a:rPr>
              <a:t>6.5.</a:t>
            </a:r>
            <a:r>
              <a:rPr lang="es-ES" sz="1800" b="1">
                <a:solidFill>
                  <a:srgbClr val="CC00CC"/>
                </a:solidFill>
                <a:highlight>
                  <a:srgbClr val="FFFF00"/>
                </a:highlight>
              </a:rPr>
              <a:t> Pocisiones</a:t>
            </a:r>
          </a:p>
        </p:txBody>
      </p:sp>
      <p:sp>
        <p:nvSpPr>
          <p:cNvPr id="4" name="CuadroTexto 3">
            <a:extLst>
              <a:ext uri="{FF2B5EF4-FFF2-40B4-BE49-F238E27FC236}">
                <a16:creationId xmlns:a16="http://schemas.microsoft.com/office/drawing/2014/main" id="{97750B62-ADC4-3B37-385A-CFDF6332515A}"/>
              </a:ext>
            </a:extLst>
          </p:cNvPr>
          <p:cNvSpPr txBox="1"/>
          <p:nvPr/>
        </p:nvSpPr>
        <p:spPr>
          <a:xfrm>
            <a:off x="625888" y="813063"/>
            <a:ext cx="5840795" cy="1569660"/>
          </a:xfrm>
          <a:prstGeom prst="rect">
            <a:avLst/>
          </a:prstGeom>
          <a:noFill/>
        </p:spPr>
        <p:txBody>
          <a:bodyPr wrap="square">
            <a:spAutoFit/>
          </a:bodyPr>
          <a:lstStyle/>
          <a:p>
            <a:pPr algn="just"/>
            <a:r>
              <a:rPr lang="es-ES" sz="1600"/>
              <a:t>El libro habla en esta parte de lo reduccionista que son nuestras métricas. Siempre es recomendable visualizar la distribución antes de definir las estadísticas descriptivas. También es recomendable comprobar que las distribuciones de los subgrupos se asemejen a la del conjunto.</a:t>
            </a:r>
            <a:endParaRPr lang="es-MX" sz="1600"/>
          </a:p>
          <a:p>
            <a:pPr algn="just"/>
            <a:endParaRPr lang="es-MX" sz="1600"/>
          </a:p>
        </p:txBody>
      </p:sp>
      <p:pic>
        <p:nvPicPr>
          <p:cNvPr id="12" name="Imagen 11">
            <a:extLst>
              <a:ext uri="{FF2B5EF4-FFF2-40B4-BE49-F238E27FC236}">
                <a16:creationId xmlns:a16="http://schemas.microsoft.com/office/drawing/2014/main" id="{AADF886A-08FB-03F5-1CEF-321E8BBD6AA3}"/>
              </a:ext>
            </a:extLst>
          </p:cNvPr>
          <p:cNvPicPr>
            <a:picLocks noChangeAspect="1"/>
          </p:cNvPicPr>
          <p:nvPr/>
        </p:nvPicPr>
        <p:blipFill>
          <a:blip r:embed="rId2"/>
          <a:stretch>
            <a:fillRect/>
          </a:stretch>
        </p:blipFill>
        <p:spPr>
          <a:xfrm>
            <a:off x="6549606" y="430598"/>
            <a:ext cx="4597093" cy="3970417"/>
          </a:xfrm>
          <a:prstGeom prst="rect">
            <a:avLst/>
          </a:prstGeom>
        </p:spPr>
      </p:pic>
      <p:pic>
        <p:nvPicPr>
          <p:cNvPr id="16" name="Imagen 15">
            <a:extLst>
              <a:ext uri="{FF2B5EF4-FFF2-40B4-BE49-F238E27FC236}">
                <a16:creationId xmlns:a16="http://schemas.microsoft.com/office/drawing/2014/main" id="{B10E5F29-D323-45AA-422B-356B14EFFDD3}"/>
              </a:ext>
            </a:extLst>
          </p:cNvPr>
          <p:cNvPicPr>
            <a:picLocks noChangeAspect="1"/>
          </p:cNvPicPr>
          <p:nvPr/>
        </p:nvPicPr>
        <p:blipFill>
          <a:blip r:embed="rId3"/>
          <a:stretch>
            <a:fillRect/>
          </a:stretch>
        </p:blipFill>
        <p:spPr>
          <a:xfrm>
            <a:off x="665311" y="2692292"/>
            <a:ext cx="4024493" cy="3782355"/>
          </a:xfrm>
          <a:prstGeom prst="rect">
            <a:avLst/>
          </a:prstGeom>
        </p:spPr>
      </p:pic>
      <p:sp>
        <p:nvSpPr>
          <p:cNvPr id="18" name="CuadroTexto 17">
            <a:extLst>
              <a:ext uri="{FF2B5EF4-FFF2-40B4-BE49-F238E27FC236}">
                <a16:creationId xmlns:a16="http://schemas.microsoft.com/office/drawing/2014/main" id="{C148C8C8-E75F-ADBC-44DE-7F81D2379AAE}"/>
              </a:ext>
            </a:extLst>
          </p:cNvPr>
          <p:cNvSpPr txBox="1"/>
          <p:nvPr/>
        </p:nvSpPr>
        <p:spPr>
          <a:xfrm>
            <a:off x="5188786" y="4686542"/>
            <a:ext cx="1814428" cy="369332"/>
          </a:xfrm>
          <a:prstGeom prst="rect">
            <a:avLst/>
          </a:prstGeom>
          <a:noFill/>
        </p:spPr>
        <p:txBody>
          <a:bodyPr wrap="square">
            <a:spAutoFit/>
          </a:bodyPr>
          <a:lstStyle/>
          <a:p>
            <a:pPr marL="0" indent="0" defTabSz="457200">
              <a:buNone/>
            </a:pPr>
            <a:r>
              <a:rPr lang="es-ES" b="1">
                <a:solidFill>
                  <a:srgbClr val="CC00CC"/>
                </a:solidFill>
                <a:highlight>
                  <a:srgbClr val="FFFF00"/>
                </a:highlight>
              </a:rPr>
              <a:t>6.5.</a:t>
            </a:r>
            <a:r>
              <a:rPr lang="es-ES" sz="1800" b="1">
                <a:solidFill>
                  <a:srgbClr val="CC00CC"/>
                </a:solidFill>
                <a:highlight>
                  <a:srgbClr val="FFFF00"/>
                </a:highlight>
              </a:rPr>
              <a:t> mutate()</a:t>
            </a:r>
          </a:p>
        </p:txBody>
      </p:sp>
      <p:sp>
        <p:nvSpPr>
          <p:cNvPr id="20" name="CuadroTexto 19">
            <a:extLst>
              <a:ext uri="{FF2B5EF4-FFF2-40B4-BE49-F238E27FC236}">
                <a16:creationId xmlns:a16="http://schemas.microsoft.com/office/drawing/2014/main" id="{A15FE176-AA5F-0FE7-991E-F6F84B9CD33D}"/>
              </a:ext>
            </a:extLst>
          </p:cNvPr>
          <p:cNvSpPr txBox="1"/>
          <p:nvPr/>
        </p:nvSpPr>
        <p:spPr>
          <a:xfrm>
            <a:off x="6706329" y="4619817"/>
            <a:ext cx="4508950" cy="1077218"/>
          </a:xfrm>
          <a:prstGeom prst="rect">
            <a:avLst/>
          </a:prstGeom>
          <a:noFill/>
        </p:spPr>
        <p:txBody>
          <a:bodyPr wrap="square">
            <a:spAutoFit/>
          </a:bodyPr>
          <a:lstStyle/>
          <a:p>
            <a:r>
              <a:rPr lang="es-MX" sz="1600"/>
              <a:t>las funciones de resumen suelen estar emparejadas con summarize(). Y podemos usar mutate() cuando desea realizar algún tipo de estandarización grupal</a:t>
            </a:r>
          </a:p>
          <a:p>
            <a:endParaRPr lang="es-MX" sz="1600"/>
          </a:p>
        </p:txBody>
      </p:sp>
      <p:pic>
        <p:nvPicPr>
          <p:cNvPr id="24" name="Imagen 23">
            <a:extLst>
              <a:ext uri="{FF2B5EF4-FFF2-40B4-BE49-F238E27FC236}">
                <a16:creationId xmlns:a16="http://schemas.microsoft.com/office/drawing/2014/main" id="{E49D8D91-5C35-2DF1-8699-FB552A477439}"/>
              </a:ext>
            </a:extLst>
          </p:cNvPr>
          <p:cNvPicPr>
            <a:picLocks noChangeAspect="1"/>
          </p:cNvPicPr>
          <p:nvPr/>
        </p:nvPicPr>
        <p:blipFill>
          <a:blip r:embed="rId4"/>
          <a:stretch>
            <a:fillRect/>
          </a:stretch>
        </p:blipFill>
        <p:spPr>
          <a:xfrm>
            <a:off x="5323523" y="5310437"/>
            <a:ext cx="1143160" cy="333422"/>
          </a:xfrm>
          <a:prstGeom prst="rect">
            <a:avLst/>
          </a:prstGeom>
        </p:spPr>
      </p:pic>
      <p:pic>
        <p:nvPicPr>
          <p:cNvPr id="26" name="Imagen 25">
            <a:extLst>
              <a:ext uri="{FF2B5EF4-FFF2-40B4-BE49-F238E27FC236}">
                <a16:creationId xmlns:a16="http://schemas.microsoft.com/office/drawing/2014/main" id="{9D2F3666-5A69-B187-8045-9F3F793DF779}"/>
              </a:ext>
            </a:extLst>
          </p:cNvPr>
          <p:cNvPicPr>
            <a:picLocks noChangeAspect="1"/>
          </p:cNvPicPr>
          <p:nvPr/>
        </p:nvPicPr>
        <p:blipFill>
          <a:blip r:embed="rId5"/>
          <a:stretch>
            <a:fillRect/>
          </a:stretch>
        </p:blipFill>
        <p:spPr>
          <a:xfrm>
            <a:off x="5323523" y="5701989"/>
            <a:ext cx="2286319" cy="342948"/>
          </a:xfrm>
          <a:prstGeom prst="rect">
            <a:avLst/>
          </a:prstGeom>
        </p:spPr>
      </p:pic>
      <p:pic>
        <p:nvPicPr>
          <p:cNvPr id="28" name="Imagen 27">
            <a:extLst>
              <a:ext uri="{FF2B5EF4-FFF2-40B4-BE49-F238E27FC236}">
                <a16:creationId xmlns:a16="http://schemas.microsoft.com/office/drawing/2014/main" id="{EE372999-7CC9-C73F-4BA7-EBF03E30CDAC}"/>
              </a:ext>
            </a:extLst>
          </p:cNvPr>
          <p:cNvPicPr>
            <a:picLocks noChangeAspect="1"/>
          </p:cNvPicPr>
          <p:nvPr/>
        </p:nvPicPr>
        <p:blipFill>
          <a:blip r:embed="rId6"/>
          <a:stretch>
            <a:fillRect/>
          </a:stretch>
        </p:blipFill>
        <p:spPr>
          <a:xfrm>
            <a:off x="5323523" y="6103067"/>
            <a:ext cx="3581900" cy="390580"/>
          </a:xfrm>
          <a:prstGeom prst="rect">
            <a:avLst/>
          </a:prstGeom>
        </p:spPr>
      </p:pic>
    </p:spTree>
    <p:extLst>
      <p:ext uri="{BB962C8B-B14F-4D97-AF65-F5344CB8AC3E}">
        <p14:creationId xmlns:p14="http://schemas.microsoft.com/office/powerpoint/2010/main" val="22613611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C45E4-C70D-4C2E-7736-C53AA7F20D58}"/>
            </a:ext>
          </a:extLst>
        </p:cNvPr>
        <p:cNvGrpSpPr/>
        <p:nvPr/>
      </p:nvGrpSpPr>
      <p:grpSpPr>
        <a:xfrm>
          <a:off x="0" y="0"/>
          <a:ext cx="0" cy="0"/>
          <a:chOff x="0" y="0"/>
          <a:chExt cx="0" cy="0"/>
        </a:xfrm>
      </p:grpSpPr>
      <p:pic>
        <p:nvPicPr>
          <p:cNvPr id="1026" name="Picture 2" descr="Cómo hacer una nube de palabras (word cloud) en R?">
            <a:extLst>
              <a:ext uri="{FF2B5EF4-FFF2-40B4-BE49-F238E27FC236}">
                <a16:creationId xmlns:a16="http://schemas.microsoft.com/office/drawing/2014/main" id="{26CB637C-1ADA-5164-8EF6-2E484FCDD5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267" r="29675" b="2703"/>
          <a:stretch>
            <a:fillRect/>
          </a:stretch>
        </p:blipFill>
        <p:spPr bwMode="auto">
          <a:xfrm>
            <a:off x="-1" y="0"/>
            <a:ext cx="5512791" cy="6858000"/>
          </a:xfrm>
          <a:prstGeom prst="rect">
            <a:avLst/>
          </a:prstGeom>
          <a:solidFill>
            <a:srgbClr val="FFFF00"/>
          </a:solidFill>
        </p:spPr>
      </p:pic>
      <p:sp>
        <p:nvSpPr>
          <p:cNvPr id="3" name="CuadroTexto 2">
            <a:extLst>
              <a:ext uri="{FF2B5EF4-FFF2-40B4-BE49-F238E27FC236}">
                <a16:creationId xmlns:a16="http://schemas.microsoft.com/office/drawing/2014/main" id="{C8303DBF-E453-E955-68A5-658238956C0D}"/>
              </a:ext>
            </a:extLst>
          </p:cNvPr>
          <p:cNvSpPr txBox="1"/>
          <p:nvPr/>
        </p:nvSpPr>
        <p:spPr>
          <a:xfrm>
            <a:off x="3439159" y="2716189"/>
            <a:ext cx="6097904" cy="1107996"/>
          </a:xfrm>
          <a:prstGeom prst="rect">
            <a:avLst/>
          </a:prstGeom>
          <a:noFill/>
        </p:spPr>
        <p:txBody>
          <a:bodyPr wrap="square">
            <a:spAutoFit/>
          </a:bodyPr>
          <a:lstStyle/>
          <a:p>
            <a:pPr marL="0" indent="0">
              <a:buNone/>
            </a:pPr>
            <a:r>
              <a:rPr lang="es-ES" sz="6600">
                <a:solidFill>
                  <a:srgbClr val="FFFF00"/>
                </a:solidFill>
                <a:highlight>
                  <a:srgbClr val="800080"/>
                </a:highlight>
                <a:latin typeface="Montserrat SemiBold" panose="00000700000000000000" pitchFamily="2" charset="0"/>
              </a:rPr>
              <a:t>14. Strings.</a:t>
            </a:r>
          </a:p>
        </p:txBody>
      </p:sp>
    </p:spTree>
    <p:extLst>
      <p:ext uri="{BB962C8B-B14F-4D97-AF65-F5344CB8AC3E}">
        <p14:creationId xmlns:p14="http://schemas.microsoft.com/office/powerpoint/2010/main" val="25518833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BFDD1CDE-9E96-F99B-05D0-C8AF9C2D2ACB}"/>
              </a:ext>
            </a:extLst>
          </p:cNvPr>
          <p:cNvSpPr txBox="1"/>
          <p:nvPr/>
        </p:nvSpPr>
        <p:spPr>
          <a:xfrm>
            <a:off x="717516" y="383353"/>
            <a:ext cx="7711319" cy="523220"/>
          </a:xfrm>
          <a:prstGeom prst="rect">
            <a:avLst/>
          </a:prstGeom>
          <a:noFill/>
        </p:spPr>
        <p:txBody>
          <a:bodyPr wrap="square">
            <a:spAutoFit/>
          </a:bodyPr>
          <a:lstStyle>
            <a:defPPr>
              <a:defRPr lang="en-US"/>
            </a:defPPr>
            <a:lvl1pPr indent="0">
              <a:buNone/>
              <a:defRPr sz="2800">
                <a:solidFill>
                  <a:srgbClr val="FFFF00"/>
                </a:solidFill>
                <a:latin typeface="Montserrat SemiBold" panose="00000700000000000000" pitchFamily="2" charset="0"/>
              </a:defRPr>
            </a:lvl1pPr>
          </a:lstStyle>
          <a:p>
            <a:r>
              <a:rPr lang="es-ES"/>
              <a:t>1. y 2. Creando una cadena de caracteres</a:t>
            </a:r>
            <a:endParaRPr lang="es-MX"/>
          </a:p>
        </p:txBody>
      </p:sp>
      <p:sp>
        <p:nvSpPr>
          <p:cNvPr id="9" name="CuadroTexto 8">
            <a:extLst>
              <a:ext uri="{FF2B5EF4-FFF2-40B4-BE49-F238E27FC236}">
                <a16:creationId xmlns:a16="http://schemas.microsoft.com/office/drawing/2014/main" id="{AEA0F686-F538-E747-3DF5-0412ADA2459C}"/>
              </a:ext>
            </a:extLst>
          </p:cNvPr>
          <p:cNvSpPr txBox="1"/>
          <p:nvPr/>
        </p:nvSpPr>
        <p:spPr>
          <a:xfrm>
            <a:off x="847119" y="1031363"/>
            <a:ext cx="6097904" cy="369332"/>
          </a:xfrm>
          <a:prstGeom prst="rect">
            <a:avLst/>
          </a:prstGeom>
          <a:noFill/>
        </p:spPr>
        <p:txBody>
          <a:bodyPr wrap="square">
            <a:spAutoFit/>
          </a:bodyPr>
          <a:lstStyle/>
          <a:p>
            <a:r>
              <a:rPr lang="es-ES"/>
              <a:t>Todas las funciones stringr comienzan con str_</a:t>
            </a:r>
            <a:endParaRPr lang="es-MX"/>
          </a:p>
        </p:txBody>
      </p:sp>
      <p:pic>
        <p:nvPicPr>
          <p:cNvPr id="11" name="Imagen 10">
            <a:extLst>
              <a:ext uri="{FF2B5EF4-FFF2-40B4-BE49-F238E27FC236}">
                <a16:creationId xmlns:a16="http://schemas.microsoft.com/office/drawing/2014/main" id="{07207783-9EC1-FEB9-038A-A741C8B0A016}"/>
              </a:ext>
            </a:extLst>
          </p:cNvPr>
          <p:cNvPicPr>
            <a:picLocks noChangeAspect="1"/>
          </p:cNvPicPr>
          <p:nvPr/>
        </p:nvPicPr>
        <p:blipFill>
          <a:blip r:embed="rId5"/>
          <a:stretch>
            <a:fillRect/>
          </a:stretch>
        </p:blipFill>
        <p:spPr>
          <a:xfrm>
            <a:off x="904804" y="1525485"/>
            <a:ext cx="2991267" cy="2915057"/>
          </a:xfrm>
          <a:prstGeom prst="rect">
            <a:avLst/>
          </a:prstGeom>
        </p:spPr>
      </p:pic>
      <p:sp>
        <p:nvSpPr>
          <p:cNvPr id="12" name="CuadroTexto 11">
            <a:extLst>
              <a:ext uri="{FF2B5EF4-FFF2-40B4-BE49-F238E27FC236}">
                <a16:creationId xmlns:a16="http://schemas.microsoft.com/office/drawing/2014/main" id="{9F6E6576-8558-25E0-E7F5-D9FDF48E28FB}"/>
              </a:ext>
            </a:extLst>
          </p:cNvPr>
          <p:cNvSpPr txBox="1"/>
          <p:nvPr/>
        </p:nvSpPr>
        <p:spPr>
          <a:xfrm>
            <a:off x="4087169" y="1679373"/>
            <a:ext cx="1879229" cy="646331"/>
          </a:xfrm>
          <a:prstGeom prst="rect">
            <a:avLst/>
          </a:prstGeom>
          <a:noFill/>
        </p:spPr>
        <p:txBody>
          <a:bodyPr wrap="square">
            <a:spAutoFit/>
          </a:bodyPr>
          <a:lstStyle/>
          <a:p>
            <a:r>
              <a:rPr lang="es-ES"/>
              <a:t>Puedes usar para crear strings :</a:t>
            </a:r>
            <a:endParaRPr lang="es-MX"/>
          </a:p>
        </p:txBody>
      </p:sp>
      <p:pic>
        <p:nvPicPr>
          <p:cNvPr id="14" name="Imagen 13">
            <a:extLst>
              <a:ext uri="{FF2B5EF4-FFF2-40B4-BE49-F238E27FC236}">
                <a16:creationId xmlns:a16="http://schemas.microsoft.com/office/drawing/2014/main" id="{D91B2192-3B51-DA75-BA8C-4F6E17248806}"/>
              </a:ext>
            </a:extLst>
          </p:cNvPr>
          <p:cNvPicPr>
            <a:picLocks noChangeAspect="1"/>
          </p:cNvPicPr>
          <p:nvPr/>
        </p:nvPicPr>
        <p:blipFill>
          <a:blip r:embed="rId6"/>
          <a:stretch>
            <a:fillRect/>
          </a:stretch>
        </p:blipFill>
        <p:spPr>
          <a:xfrm>
            <a:off x="4166344" y="2467219"/>
            <a:ext cx="611759" cy="531264"/>
          </a:xfrm>
          <a:prstGeom prst="rect">
            <a:avLst/>
          </a:prstGeom>
        </p:spPr>
      </p:pic>
      <p:pic>
        <p:nvPicPr>
          <p:cNvPr id="16" name="Imagen 15">
            <a:extLst>
              <a:ext uri="{FF2B5EF4-FFF2-40B4-BE49-F238E27FC236}">
                <a16:creationId xmlns:a16="http://schemas.microsoft.com/office/drawing/2014/main" id="{2E5EE647-E875-6742-CE74-FB16567570FD}"/>
              </a:ext>
            </a:extLst>
          </p:cNvPr>
          <p:cNvPicPr>
            <a:picLocks noChangeAspect="1"/>
          </p:cNvPicPr>
          <p:nvPr/>
        </p:nvPicPr>
        <p:blipFill>
          <a:blip r:embed="rId7"/>
          <a:stretch>
            <a:fillRect/>
          </a:stretch>
        </p:blipFill>
        <p:spPr>
          <a:xfrm>
            <a:off x="4925620" y="2451749"/>
            <a:ext cx="531264" cy="531264"/>
          </a:xfrm>
          <a:prstGeom prst="rect">
            <a:avLst/>
          </a:prstGeom>
        </p:spPr>
      </p:pic>
      <p:sp>
        <p:nvSpPr>
          <p:cNvPr id="19" name="CuadroTexto 18">
            <a:extLst>
              <a:ext uri="{FF2B5EF4-FFF2-40B4-BE49-F238E27FC236}">
                <a16:creationId xmlns:a16="http://schemas.microsoft.com/office/drawing/2014/main" id="{BA3C0483-68EE-E858-5E44-8E56347C6FAF}"/>
              </a:ext>
            </a:extLst>
          </p:cNvPr>
          <p:cNvSpPr txBox="1"/>
          <p:nvPr/>
        </p:nvSpPr>
        <p:spPr>
          <a:xfrm>
            <a:off x="4054413" y="3054736"/>
            <a:ext cx="2010735" cy="1200329"/>
          </a:xfrm>
          <a:prstGeom prst="rect">
            <a:avLst/>
          </a:prstGeom>
          <a:noFill/>
        </p:spPr>
        <p:txBody>
          <a:bodyPr wrap="square">
            <a:spAutoFit/>
          </a:bodyPr>
          <a:lstStyle/>
          <a:p>
            <a:r>
              <a:rPr lang="es-ES"/>
              <a:t>Recomendada al menos a menos que la cadena contenga varios </a:t>
            </a:r>
            <a:r>
              <a:rPr lang="es-ES" b="1">
                <a:solidFill>
                  <a:srgbClr val="FFFF00"/>
                </a:solidFill>
              </a:rPr>
              <a:t>"</a:t>
            </a:r>
            <a:r>
              <a:rPr lang="es-ES"/>
              <a:t>.</a:t>
            </a:r>
            <a:endParaRPr lang="es-MX"/>
          </a:p>
        </p:txBody>
      </p:sp>
      <p:sp>
        <p:nvSpPr>
          <p:cNvPr id="20" name="CuadroTexto 19">
            <a:extLst>
              <a:ext uri="{FF2B5EF4-FFF2-40B4-BE49-F238E27FC236}">
                <a16:creationId xmlns:a16="http://schemas.microsoft.com/office/drawing/2014/main" id="{DF023301-7748-CB50-0F93-4F5B6D54AEAC}"/>
              </a:ext>
            </a:extLst>
          </p:cNvPr>
          <p:cNvSpPr txBox="1"/>
          <p:nvPr/>
        </p:nvSpPr>
        <p:spPr>
          <a:xfrm>
            <a:off x="811270" y="4582057"/>
            <a:ext cx="3966833" cy="369332"/>
          </a:xfrm>
          <a:prstGeom prst="rect">
            <a:avLst/>
          </a:prstGeom>
          <a:noFill/>
        </p:spPr>
        <p:txBody>
          <a:bodyPr wrap="square">
            <a:spAutoFit/>
          </a:bodyPr>
          <a:lstStyle/>
          <a:p>
            <a:pPr marL="0" indent="0" defTabSz="457200">
              <a:buNone/>
            </a:pPr>
            <a:r>
              <a:rPr lang="es-ES" b="1">
                <a:solidFill>
                  <a:srgbClr val="CC00CC"/>
                </a:solidFill>
                <a:highlight>
                  <a:srgbClr val="FFFF00"/>
                </a:highlight>
              </a:rPr>
              <a:t>2.1.</a:t>
            </a:r>
            <a:r>
              <a:rPr lang="es-ES" sz="1800" b="1">
                <a:solidFill>
                  <a:srgbClr val="CC00CC"/>
                </a:solidFill>
                <a:highlight>
                  <a:srgbClr val="FFFF00"/>
                </a:highlight>
              </a:rPr>
              <a:t> </a:t>
            </a:r>
            <a:r>
              <a:rPr lang="es-ES" b="1">
                <a:solidFill>
                  <a:srgbClr val="CC00CC"/>
                </a:solidFill>
                <a:highlight>
                  <a:srgbClr val="FFFF00"/>
                </a:highlight>
              </a:rPr>
              <a:t>Escapadas</a:t>
            </a:r>
            <a:endParaRPr lang="es-ES" sz="1800" b="1">
              <a:solidFill>
                <a:srgbClr val="CC00CC"/>
              </a:solidFill>
              <a:highlight>
                <a:srgbClr val="FFFF00"/>
              </a:highlight>
            </a:endParaRPr>
          </a:p>
        </p:txBody>
      </p:sp>
      <p:pic>
        <p:nvPicPr>
          <p:cNvPr id="22" name="Imagen 21">
            <a:extLst>
              <a:ext uri="{FF2B5EF4-FFF2-40B4-BE49-F238E27FC236}">
                <a16:creationId xmlns:a16="http://schemas.microsoft.com/office/drawing/2014/main" id="{6548B217-043B-591B-29A5-A7D15E5EBC65}"/>
              </a:ext>
            </a:extLst>
          </p:cNvPr>
          <p:cNvPicPr>
            <a:picLocks noChangeAspect="1"/>
          </p:cNvPicPr>
          <p:nvPr/>
        </p:nvPicPr>
        <p:blipFill>
          <a:blip r:embed="rId8"/>
          <a:stretch>
            <a:fillRect/>
          </a:stretch>
        </p:blipFill>
        <p:spPr>
          <a:xfrm>
            <a:off x="6225604" y="901761"/>
            <a:ext cx="4759617" cy="1235965"/>
          </a:xfrm>
          <a:prstGeom prst="rect">
            <a:avLst/>
          </a:prstGeom>
        </p:spPr>
      </p:pic>
      <p:pic>
        <p:nvPicPr>
          <p:cNvPr id="24" name="Imagen 23">
            <a:extLst>
              <a:ext uri="{FF2B5EF4-FFF2-40B4-BE49-F238E27FC236}">
                <a16:creationId xmlns:a16="http://schemas.microsoft.com/office/drawing/2014/main" id="{154AE9B2-CE66-A94B-B548-B8B7ACDD7430}"/>
              </a:ext>
            </a:extLst>
          </p:cNvPr>
          <p:cNvPicPr>
            <a:picLocks noChangeAspect="1"/>
          </p:cNvPicPr>
          <p:nvPr/>
        </p:nvPicPr>
        <p:blipFill>
          <a:blip r:embed="rId9"/>
          <a:stretch>
            <a:fillRect/>
          </a:stretch>
        </p:blipFill>
        <p:spPr>
          <a:xfrm>
            <a:off x="6223490" y="2197781"/>
            <a:ext cx="4759617" cy="1045373"/>
          </a:xfrm>
          <a:prstGeom prst="rect">
            <a:avLst/>
          </a:prstGeom>
        </p:spPr>
      </p:pic>
      <p:pic>
        <p:nvPicPr>
          <p:cNvPr id="32" name="Imagen 31">
            <a:extLst>
              <a:ext uri="{FF2B5EF4-FFF2-40B4-BE49-F238E27FC236}">
                <a16:creationId xmlns:a16="http://schemas.microsoft.com/office/drawing/2014/main" id="{FBF7B0F1-FE8A-FEE3-F706-F4AD709633F7}"/>
              </a:ext>
            </a:extLst>
          </p:cNvPr>
          <p:cNvPicPr>
            <a:picLocks noChangeAspect="1"/>
          </p:cNvPicPr>
          <p:nvPr/>
        </p:nvPicPr>
        <p:blipFill>
          <a:blip r:embed="rId10"/>
          <a:stretch>
            <a:fillRect/>
          </a:stretch>
        </p:blipFill>
        <p:spPr>
          <a:xfrm>
            <a:off x="6223491" y="3299398"/>
            <a:ext cx="3112560" cy="1200559"/>
          </a:xfrm>
          <a:prstGeom prst="rect">
            <a:avLst/>
          </a:prstGeom>
        </p:spPr>
      </p:pic>
      <p:pic>
        <p:nvPicPr>
          <p:cNvPr id="34" name="Imagen 33">
            <a:extLst>
              <a:ext uri="{FF2B5EF4-FFF2-40B4-BE49-F238E27FC236}">
                <a16:creationId xmlns:a16="http://schemas.microsoft.com/office/drawing/2014/main" id="{6FE6800D-385D-384B-7A6C-6C7D177BA79F}"/>
              </a:ext>
            </a:extLst>
          </p:cNvPr>
          <p:cNvPicPr>
            <a:picLocks noChangeAspect="1"/>
          </p:cNvPicPr>
          <p:nvPr/>
        </p:nvPicPr>
        <p:blipFill>
          <a:blip r:embed="rId11"/>
          <a:stretch>
            <a:fillRect/>
          </a:stretch>
        </p:blipFill>
        <p:spPr>
          <a:xfrm>
            <a:off x="6225602" y="4530617"/>
            <a:ext cx="4759617" cy="2074896"/>
          </a:xfrm>
          <a:prstGeom prst="rect">
            <a:avLst/>
          </a:prstGeom>
        </p:spPr>
      </p:pic>
    </p:spTree>
    <p:extLst>
      <p:ext uri="{BB962C8B-B14F-4D97-AF65-F5344CB8AC3E}">
        <p14:creationId xmlns:p14="http://schemas.microsoft.com/office/powerpoint/2010/main" val="4195158142"/>
      </p:ext>
    </p:extLst>
  </p:cSld>
  <p:clrMapOvr>
    <a:overrideClrMapping bg1="dk1" tx1="lt1" bg2="dk2" tx2="lt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9551BFCB-65B4-0277-1A87-EE2969932C35}"/>
              </a:ext>
            </a:extLst>
          </p:cNvPr>
          <p:cNvSpPr txBox="1"/>
          <p:nvPr/>
        </p:nvSpPr>
        <p:spPr>
          <a:xfrm>
            <a:off x="717517" y="512955"/>
            <a:ext cx="4082463" cy="369332"/>
          </a:xfrm>
          <a:prstGeom prst="rect">
            <a:avLst/>
          </a:prstGeom>
          <a:noFill/>
        </p:spPr>
        <p:txBody>
          <a:bodyPr wrap="square">
            <a:spAutoFit/>
          </a:bodyPr>
          <a:lstStyle/>
          <a:p>
            <a:r>
              <a:rPr lang="es-ES" b="1">
                <a:solidFill>
                  <a:srgbClr val="CC00CC"/>
                </a:solidFill>
                <a:highlight>
                  <a:srgbClr val="FFFF00"/>
                </a:highlight>
              </a:rPr>
              <a:t>2.2. Raw Strings</a:t>
            </a:r>
          </a:p>
        </p:txBody>
      </p:sp>
      <p:sp>
        <p:nvSpPr>
          <p:cNvPr id="5" name="CuadroTexto 4">
            <a:extLst>
              <a:ext uri="{FF2B5EF4-FFF2-40B4-BE49-F238E27FC236}">
                <a16:creationId xmlns:a16="http://schemas.microsoft.com/office/drawing/2014/main" id="{DB68300F-1AF1-6085-BD85-16CE591FC554}"/>
              </a:ext>
            </a:extLst>
          </p:cNvPr>
          <p:cNvSpPr txBox="1"/>
          <p:nvPr/>
        </p:nvSpPr>
        <p:spPr>
          <a:xfrm>
            <a:off x="731827" y="3244334"/>
            <a:ext cx="4082463" cy="369332"/>
          </a:xfrm>
          <a:prstGeom prst="rect">
            <a:avLst/>
          </a:prstGeom>
          <a:noFill/>
        </p:spPr>
        <p:txBody>
          <a:bodyPr wrap="square">
            <a:spAutoFit/>
          </a:bodyPr>
          <a:lstStyle/>
          <a:p>
            <a:r>
              <a:rPr lang="es-ES" b="1">
                <a:solidFill>
                  <a:srgbClr val="CC00CC"/>
                </a:solidFill>
                <a:highlight>
                  <a:srgbClr val="FFFF00"/>
                </a:highlight>
              </a:rPr>
              <a:t>2.3. Otros caracteres Especiales</a:t>
            </a:r>
          </a:p>
        </p:txBody>
      </p:sp>
      <p:pic>
        <p:nvPicPr>
          <p:cNvPr id="3" name="Imagen 2">
            <a:extLst>
              <a:ext uri="{FF2B5EF4-FFF2-40B4-BE49-F238E27FC236}">
                <a16:creationId xmlns:a16="http://schemas.microsoft.com/office/drawing/2014/main" id="{1032D51E-6B0D-F222-6828-A95C282B87B4}"/>
              </a:ext>
            </a:extLst>
          </p:cNvPr>
          <p:cNvPicPr>
            <a:picLocks noChangeAspect="1"/>
          </p:cNvPicPr>
          <p:nvPr/>
        </p:nvPicPr>
        <p:blipFill>
          <a:blip r:embed="rId2"/>
          <a:stretch>
            <a:fillRect/>
          </a:stretch>
        </p:blipFill>
        <p:spPr>
          <a:xfrm>
            <a:off x="731827" y="1024940"/>
            <a:ext cx="5364173" cy="2047968"/>
          </a:xfrm>
          <a:prstGeom prst="rect">
            <a:avLst/>
          </a:prstGeom>
        </p:spPr>
      </p:pic>
      <p:pic>
        <p:nvPicPr>
          <p:cNvPr id="7" name="Imagen 6">
            <a:extLst>
              <a:ext uri="{FF2B5EF4-FFF2-40B4-BE49-F238E27FC236}">
                <a16:creationId xmlns:a16="http://schemas.microsoft.com/office/drawing/2014/main" id="{6E07F57A-23E1-812D-57D9-2EDD4634B56B}"/>
              </a:ext>
            </a:extLst>
          </p:cNvPr>
          <p:cNvPicPr>
            <a:picLocks noChangeAspect="1"/>
          </p:cNvPicPr>
          <p:nvPr/>
        </p:nvPicPr>
        <p:blipFill>
          <a:blip r:embed="rId3"/>
          <a:stretch>
            <a:fillRect/>
          </a:stretch>
        </p:blipFill>
        <p:spPr>
          <a:xfrm>
            <a:off x="6249271" y="1024940"/>
            <a:ext cx="5438050" cy="2047968"/>
          </a:xfrm>
          <a:prstGeom prst="rect">
            <a:avLst/>
          </a:prstGeom>
        </p:spPr>
      </p:pic>
      <p:pic>
        <p:nvPicPr>
          <p:cNvPr id="9" name="Imagen 8">
            <a:extLst>
              <a:ext uri="{FF2B5EF4-FFF2-40B4-BE49-F238E27FC236}">
                <a16:creationId xmlns:a16="http://schemas.microsoft.com/office/drawing/2014/main" id="{08ED6D71-ED06-D174-D43A-C939F765765D}"/>
              </a:ext>
            </a:extLst>
          </p:cNvPr>
          <p:cNvPicPr>
            <a:picLocks noChangeAspect="1"/>
          </p:cNvPicPr>
          <p:nvPr/>
        </p:nvPicPr>
        <p:blipFill>
          <a:blip r:embed="rId4"/>
          <a:stretch>
            <a:fillRect/>
          </a:stretch>
        </p:blipFill>
        <p:spPr>
          <a:xfrm>
            <a:off x="731827" y="3768118"/>
            <a:ext cx="5104969" cy="2782438"/>
          </a:xfrm>
          <a:prstGeom prst="rect">
            <a:avLst/>
          </a:prstGeom>
        </p:spPr>
      </p:pic>
    </p:spTree>
    <p:extLst>
      <p:ext uri="{BB962C8B-B14F-4D97-AF65-F5344CB8AC3E}">
        <p14:creationId xmlns:p14="http://schemas.microsoft.com/office/powerpoint/2010/main" val="36261715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C216D99A-984D-FEC9-07A2-9F29576663B9}"/>
              </a:ext>
            </a:extLst>
          </p:cNvPr>
          <p:cNvSpPr txBox="1"/>
          <p:nvPr/>
        </p:nvSpPr>
        <p:spPr>
          <a:xfrm>
            <a:off x="717517" y="188950"/>
            <a:ext cx="9460946" cy="523220"/>
          </a:xfrm>
          <a:prstGeom prst="rect">
            <a:avLst/>
          </a:prstGeom>
          <a:noFill/>
        </p:spPr>
        <p:txBody>
          <a:bodyPr wrap="square">
            <a:spAutoFit/>
          </a:bodyPr>
          <a:lstStyle>
            <a:defPPr>
              <a:defRPr lang="en-US"/>
            </a:defPPr>
            <a:lvl1pPr indent="0">
              <a:buNone/>
              <a:defRPr sz="2800">
                <a:solidFill>
                  <a:srgbClr val="FFFF00"/>
                </a:solidFill>
                <a:latin typeface="Montserrat SemiBold" panose="00000700000000000000" pitchFamily="2" charset="0"/>
              </a:defRPr>
            </a:lvl1pPr>
          </a:lstStyle>
          <a:p>
            <a:r>
              <a:rPr lang="es-ES"/>
              <a:t>3. Creando muchas cadenas apartir de Datos</a:t>
            </a:r>
            <a:endParaRPr lang="es-MX"/>
          </a:p>
        </p:txBody>
      </p:sp>
      <p:sp>
        <p:nvSpPr>
          <p:cNvPr id="5" name="CuadroTexto 4">
            <a:extLst>
              <a:ext uri="{FF2B5EF4-FFF2-40B4-BE49-F238E27FC236}">
                <a16:creationId xmlns:a16="http://schemas.microsoft.com/office/drawing/2014/main" id="{E2E48740-E29A-5942-6592-28AC5C0685CD}"/>
              </a:ext>
            </a:extLst>
          </p:cNvPr>
          <p:cNvSpPr txBox="1"/>
          <p:nvPr/>
        </p:nvSpPr>
        <p:spPr>
          <a:xfrm>
            <a:off x="393511" y="677176"/>
            <a:ext cx="1360821" cy="369332"/>
          </a:xfrm>
          <a:prstGeom prst="rect">
            <a:avLst/>
          </a:prstGeom>
          <a:noFill/>
        </p:spPr>
        <p:txBody>
          <a:bodyPr wrap="square">
            <a:spAutoFit/>
          </a:bodyPr>
          <a:lstStyle/>
          <a:p>
            <a:r>
              <a:rPr lang="es-ES" b="1">
                <a:solidFill>
                  <a:srgbClr val="CC00CC"/>
                </a:solidFill>
                <a:highlight>
                  <a:srgbClr val="FFFF00"/>
                </a:highlight>
              </a:rPr>
              <a:t>3.1. str_c()</a:t>
            </a:r>
          </a:p>
        </p:txBody>
      </p:sp>
      <p:pic>
        <p:nvPicPr>
          <p:cNvPr id="9" name="Imagen 8">
            <a:extLst>
              <a:ext uri="{FF2B5EF4-FFF2-40B4-BE49-F238E27FC236}">
                <a16:creationId xmlns:a16="http://schemas.microsoft.com/office/drawing/2014/main" id="{D4BB8CF4-BF30-45E0-5588-AF5798EBAB11}"/>
              </a:ext>
            </a:extLst>
          </p:cNvPr>
          <p:cNvPicPr>
            <a:picLocks noChangeAspect="1"/>
          </p:cNvPicPr>
          <p:nvPr/>
        </p:nvPicPr>
        <p:blipFill>
          <a:blip r:embed="rId2"/>
          <a:stretch>
            <a:fillRect/>
          </a:stretch>
        </p:blipFill>
        <p:spPr>
          <a:xfrm>
            <a:off x="328710" y="1096164"/>
            <a:ext cx="4212066" cy="2631437"/>
          </a:xfrm>
          <a:prstGeom prst="rect">
            <a:avLst/>
          </a:prstGeom>
        </p:spPr>
      </p:pic>
      <p:pic>
        <p:nvPicPr>
          <p:cNvPr id="14" name="Imagen 13">
            <a:extLst>
              <a:ext uri="{FF2B5EF4-FFF2-40B4-BE49-F238E27FC236}">
                <a16:creationId xmlns:a16="http://schemas.microsoft.com/office/drawing/2014/main" id="{868CEBD9-35CA-6A2A-6443-DD4BD8BA4018}"/>
              </a:ext>
            </a:extLst>
          </p:cNvPr>
          <p:cNvPicPr>
            <a:picLocks noChangeAspect="1"/>
          </p:cNvPicPr>
          <p:nvPr/>
        </p:nvPicPr>
        <p:blipFill>
          <a:blip r:embed="rId3"/>
          <a:stretch>
            <a:fillRect/>
          </a:stretch>
        </p:blipFill>
        <p:spPr>
          <a:xfrm>
            <a:off x="4605577" y="1096164"/>
            <a:ext cx="2397637" cy="2615630"/>
          </a:xfrm>
          <a:prstGeom prst="rect">
            <a:avLst/>
          </a:prstGeom>
        </p:spPr>
      </p:pic>
      <p:sp>
        <p:nvSpPr>
          <p:cNvPr id="15" name="CuadroTexto 14">
            <a:extLst>
              <a:ext uri="{FF2B5EF4-FFF2-40B4-BE49-F238E27FC236}">
                <a16:creationId xmlns:a16="http://schemas.microsoft.com/office/drawing/2014/main" id="{7E392EA1-CE61-CA47-8E3A-E108C62F358B}"/>
              </a:ext>
            </a:extLst>
          </p:cNvPr>
          <p:cNvSpPr txBox="1"/>
          <p:nvPr/>
        </p:nvSpPr>
        <p:spPr>
          <a:xfrm>
            <a:off x="1559930" y="691160"/>
            <a:ext cx="3369652" cy="369332"/>
          </a:xfrm>
          <a:prstGeom prst="rect">
            <a:avLst/>
          </a:prstGeom>
          <a:noFill/>
        </p:spPr>
        <p:txBody>
          <a:bodyPr wrap="square">
            <a:spAutoFit/>
          </a:bodyPr>
          <a:lstStyle/>
          <a:p>
            <a:r>
              <a:rPr lang="es-ES"/>
              <a:t>Afinidad con mutate y tidyverse</a:t>
            </a:r>
            <a:endParaRPr lang="es-MX"/>
          </a:p>
        </p:txBody>
      </p:sp>
      <p:pic>
        <p:nvPicPr>
          <p:cNvPr id="17" name="Imagen 16">
            <a:extLst>
              <a:ext uri="{FF2B5EF4-FFF2-40B4-BE49-F238E27FC236}">
                <a16:creationId xmlns:a16="http://schemas.microsoft.com/office/drawing/2014/main" id="{3A9235F8-8003-87A1-BA0A-AF8A1B634628}"/>
              </a:ext>
            </a:extLst>
          </p:cNvPr>
          <p:cNvPicPr>
            <a:picLocks noChangeAspect="1"/>
          </p:cNvPicPr>
          <p:nvPr/>
        </p:nvPicPr>
        <p:blipFill>
          <a:blip r:embed="rId4"/>
          <a:stretch>
            <a:fillRect/>
          </a:stretch>
        </p:blipFill>
        <p:spPr>
          <a:xfrm>
            <a:off x="7068015" y="1031363"/>
            <a:ext cx="4600871" cy="2617980"/>
          </a:xfrm>
          <a:prstGeom prst="rect">
            <a:avLst/>
          </a:prstGeom>
        </p:spPr>
      </p:pic>
      <p:pic>
        <p:nvPicPr>
          <p:cNvPr id="19" name="Imagen 18">
            <a:extLst>
              <a:ext uri="{FF2B5EF4-FFF2-40B4-BE49-F238E27FC236}">
                <a16:creationId xmlns:a16="http://schemas.microsoft.com/office/drawing/2014/main" id="{8099E0FB-FF9F-9B34-CC5A-10D215E77C36}"/>
              </a:ext>
            </a:extLst>
          </p:cNvPr>
          <p:cNvPicPr>
            <a:picLocks noChangeAspect="1"/>
          </p:cNvPicPr>
          <p:nvPr/>
        </p:nvPicPr>
        <p:blipFill>
          <a:blip r:embed="rId5"/>
          <a:stretch>
            <a:fillRect/>
          </a:stretch>
        </p:blipFill>
        <p:spPr>
          <a:xfrm>
            <a:off x="3640841" y="3753005"/>
            <a:ext cx="4463990" cy="2916045"/>
          </a:xfrm>
          <a:prstGeom prst="rect">
            <a:avLst/>
          </a:prstGeom>
        </p:spPr>
      </p:pic>
      <p:sp>
        <p:nvSpPr>
          <p:cNvPr id="20" name="CuadroTexto 19">
            <a:extLst>
              <a:ext uri="{FF2B5EF4-FFF2-40B4-BE49-F238E27FC236}">
                <a16:creationId xmlns:a16="http://schemas.microsoft.com/office/drawing/2014/main" id="{195DB469-F1E9-C73D-466F-4DB5E93B5852}"/>
              </a:ext>
            </a:extLst>
          </p:cNvPr>
          <p:cNvSpPr txBox="1"/>
          <p:nvPr/>
        </p:nvSpPr>
        <p:spPr>
          <a:xfrm>
            <a:off x="6031199" y="5077222"/>
            <a:ext cx="2887284" cy="923330"/>
          </a:xfrm>
          <a:prstGeom prst="rect">
            <a:avLst/>
          </a:prstGeom>
          <a:noFill/>
        </p:spPr>
        <p:txBody>
          <a:bodyPr wrap="square">
            <a:spAutoFit/>
          </a:bodyPr>
          <a:lstStyle/>
          <a:p>
            <a:r>
              <a:rPr lang="es-ES" b="1"/>
              <a:t>coalesce(name,”you”):</a:t>
            </a:r>
          </a:p>
          <a:p>
            <a:r>
              <a:rPr lang="es-ES"/>
              <a:t>Reemplaza los valores NA por un string a conveniencia</a:t>
            </a:r>
            <a:endParaRPr lang="es-MX"/>
          </a:p>
        </p:txBody>
      </p:sp>
    </p:spTree>
    <p:extLst>
      <p:ext uri="{BB962C8B-B14F-4D97-AF65-F5344CB8AC3E}">
        <p14:creationId xmlns:p14="http://schemas.microsoft.com/office/powerpoint/2010/main" val="34556258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453B1152-32C2-CA23-ED87-A2DB39CD0F5B}"/>
              </a:ext>
            </a:extLst>
          </p:cNvPr>
          <p:cNvSpPr txBox="1"/>
          <p:nvPr/>
        </p:nvSpPr>
        <p:spPr>
          <a:xfrm>
            <a:off x="700186" y="921978"/>
            <a:ext cx="1490424" cy="369332"/>
          </a:xfrm>
          <a:prstGeom prst="rect">
            <a:avLst/>
          </a:prstGeom>
          <a:noFill/>
        </p:spPr>
        <p:txBody>
          <a:bodyPr wrap="square">
            <a:spAutoFit/>
          </a:bodyPr>
          <a:lstStyle/>
          <a:p>
            <a:r>
              <a:rPr lang="es-ES" b="1">
                <a:solidFill>
                  <a:srgbClr val="CC00CC"/>
                </a:solidFill>
                <a:highlight>
                  <a:srgbClr val="FFFF00"/>
                </a:highlight>
              </a:rPr>
              <a:t>3.2. str_glue</a:t>
            </a:r>
          </a:p>
        </p:txBody>
      </p:sp>
      <p:sp>
        <p:nvSpPr>
          <p:cNvPr id="9" name="CuadroTexto 8">
            <a:extLst>
              <a:ext uri="{FF2B5EF4-FFF2-40B4-BE49-F238E27FC236}">
                <a16:creationId xmlns:a16="http://schemas.microsoft.com/office/drawing/2014/main" id="{0DB71312-6C7B-B94B-B031-E6374E1D4732}"/>
              </a:ext>
            </a:extLst>
          </p:cNvPr>
          <p:cNvSpPr txBox="1"/>
          <p:nvPr/>
        </p:nvSpPr>
        <p:spPr>
          <a:xfrm>
            <a:off x="700186" y="1244472"/>
            <a:ext cx="4989677" cy="1200329"/>
          </a:xfrm>
          <a:prstGeom prst="rect">
            <a:avLst/>
          </a:prstGeom>
          <a:noFill/>
        </p:spPr>
        <p:txBody>
          <a:bodyPr wrap="square">
            <a:spAutoFit/>
          </a:bodyPr>
          <a:lstStyle/>
          <a:p>
            <a:r>
              <a:rPr lang="es-ES"/>
              <a:t>proporcionas una sola cadena con una característica especial: todo lo que esté dentro de </a:t>
            </a:r>
          </a:p>
          <a:p>
            <a:r>
              <a:rPr lang="es-ES"/>
              <a:t>{ } se evaluará como si estuviera fuera de las comillas</a:t>
            </a:r>
            <a:endParaRPr lang="es-MX"/>
          </a:p>
        </p:txBody>
      </p:sp>
      <p:pic>
        <p:nvPicPr>
          <p:cNvPr id="11" name="Imagen 10">
            <a:extLst>
              <a:ext uri="{FF2B5EF4-FFF2-40B4-BE49-F238E27FC236}">
                <a16:creationId xmlns:a16="http://schemas.microsoft.com/office/drawing/2014/main" id="{867EF32C-6093-23D7-0BB0-24FC1835961A}"/>
              </a:ext>
            </a:extLst>
          </p:cNvPr>
          <p:cNvPicPr>
            <a:picLocks noChangeAspect="1"/>
          </p:cNvPicPr>
          <p:nvPr/>
        </p:nvPicPr>
        <p:blipFill>
          <a:blip r:embed="rId2"/>
          <a:stretch>
            <a:fillRect/>
          </a:stretch>
        </p:blipFill>
        <p:spPr>
          <a:xfrm>
            <a:off x="700186" y="2476396"/>
            <a:ext cx="4859087" cy="2770950"/>
          </a:xfrm>
          <a:prstGeom prst="rect">
            <a:avLst/>
          </a:prstGeom>
        </p:spPr>
      </p:pic>
      <p:grpSp>
        <p:nvGrpSpPr>
          <p:cNvPr id="16" name="Grupo 15">
            <a:extLst>
              <a:ext uri="{FF2B5EF4-FFF2-40B4-BE49-F238E27FC236}">
                <a16:creationId xmlns:a16="http://schemas.microsoft.com/office/drawing/2014/main" id="{0AE092CD-FF92-BDDF-1895-943F99DCA633}"/>
              </a:ext>
            </a:extLst>
          </p:cNvPr>
          <p:cNvGrpSpPr/>
          <p:nvPr/>
        </p:nvGrpSpPr>
        <p:grpSpPr>
          <a:xfrm>
            <a:off x="2540620" y="3008161"/>
            <a:ext cx="2556075" cy="3340894"/>
            <a:chOff x="5966398" y="1335938"/>
            <a:chExt cx="2556075" cy="3340894"/>
          </a:xfrm>
        </p:grpSpPr>
        <p:pic>
          <p:nvPicPr>
            <p:cNvPr id="3074" name="Picture 2" descr="Alguien puede restaurar esta imagen de Mr. Bean? : r/MemeRestoration">
              <a:extLst>
                <a:ext uri="{FF2B5EF4-FFF2-40B4-BE49-F238E27FC236}">
                  <a16:creationId xmlns:a16="http://schemas.microsoft.com/office/drawing/2014/main" id="{4810B6F9-011B-4F4B-A704-50B1C3566F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6398" y="2794378"/>
              <a:ext cx="1303774" cy="1882454"/>
            </a:xfrm>
            <a:prstGeom prst="rect">
              <a:avLst/>
            </a:prstGeom>
            <a:noFill/>
            <a:extLst>
              <a:ext uri="{909E8E84-426E-40DD-AFC4-6F175D3DCCD1}">
                <a14:hiddenFill xmlns:a14="http://schemas.microsoft.com/office/drawing/2010/main">
                  <a:solidFill>
                    <a:srgbClr val="FFFFFF"/>
                  </a:solidFill>
                </a14:hiddenFill>
              </a:ext>
            </a:extLst>
          </p:spPr>
        </p:pic>
        <p:sp>
          <p:nvSpPr>
            <p:cNvPr id="15" name="Bocadillo: ovalado 14">
              <a:extLst>
                <a:ext uri="{FF2B5EF4-FFF2-40B4-BE49-F238E27FC236}">
                  <a16:creationId xmlns:a16="http://schemas.microsoft.com/office/drawing/2014/main" id="{2BAA2616-9752-9B6C-4502-AD2CCE847DB1}"/>
                </a:ext>
              </a:extLst>
            </p:cNvPr>
            <p:cNvSpPr/>
            <p:nvPr/>
          </p:nvSpPr>
          <p:spPr>
            <a:xfrm rot="922436">
              <a:off x="6854396" y="1335938"/>
              <a:ext cx="1664845" cy="1631172"/>
            </a:xfrm>
            <a:prstGeom prst="wedgeEllipseCallout">
              <a:avLst/>
            </a:prstGeom>
            <a:solidFill>
              <a:srgbClr val="CC00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3" name="CuadroTexto 12">
              <a:extLst>
                <a:ext uri="{FF2B5EF4-FFF2-40B4-BE49-F238E27FC236}">
                  <a16:creationId xmlns:a16="http://schemas.microsoft.com/office/drawing/2014/main" id="{9B8A89DF-14BC-5974-B3D4-6F187025FCCA}"/>
                </a:ext>
              </a:extLst>
            </p:cNvPr>
            <p:cNvSpPr txBox="1"/>
            <p:nvPr/>
          </p:nvSpPr>
          <p:spPr>
            <a:xfrm>
              <a:off x="7042009" y="1551359"/>
              <a:ext cx="1480464" cy="1200329"/>
            </a:xfrm>
            <a:prstGeom prst="rect">
              <a:avLst/>
            </a:prstGeom>
            <a:noFill/>
          </p:spPr>
          <p:txBody>
            <a:bodyPr wrap="square">
              <a:spAutoFit/>
            </a:bodyPr>
            <a:lstStyle/>
            <a:p>
              <a:r>
                <a:rPr lang="es-ES">
                  <a:solidFill>
                    <a:srgbClr val="FFFF00"/>
                  </a:solidFill>
                </a:rPr>
                <a:t>Que pasa si quiero tener llaves ¿Cómo las escapo?</a:t>
              </a:r>
              <a:endParaRPr lang="es-MX">
                <a:solidFill>
                  <a:srgbClr val="FFFF00"/>
                </a:solidFill>
              </a:endParaRPr>
            </a:p>
          </p:txBody>
        </p:sp>
      </p:grpSp>
      <p:pic>
        <p:nvPicPr>
          <p:cNvPr id="18" name="Imagen 17">
            <a:extLst>
              <a:ext uri="{FF2B5EF4-FFF2-40B4-BE49-F238E27FC236}">
                <a16:creationId xmlns:a16="http://schemas.microsoft.com/office/drawing/2014/main" id="{A68218F4-6B50-BE95-9CD0-9462FC393A13}"/>
              </a:ext>
            </a:extLst>
          </p:cNvPr>
          <p:cNvPicPr>
            <a:picLocks noChangeAspect="1"/>
          </p:cNvPicPr>
          <p:nvPr/>
        </p:nvPicPr>
        <p:blipFill>
          <a:blip r:embed="rId4"/>
          <a:stretch>
            <a:fillRect/>
          </a:stretch>
        </p:blipFill>
        <p:spPr>
          <a:xfrm>
            <a:off x="5707195" y="2003378"/>
            <a:ext cx="6042710" cy="3240835"/>
          </a:xfrm>
          <a:prstGeom prst="rect">
            <a:avLst/>
          </a:prstGeom>
        </p:spPr>
      </p:pic>
    </p:spTree>
    <p:extLst>
      <p:ext uri="{BB962C8B-B14F-4D97-AF65-F5344CB8AC3E}">
        <p14:creationId xmlns:p14="http://schemas.microsoft.com/office/powerpoint/2010/main" val="11908709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D2490-AD25-0BE5-ED82-C5F0FFD7AECE}"/>
            </a:ext>
          </a:extLst>
        </p:cNvPr>
        <p:cNvGrpSpPr/>
        <p:nvPr/>
      </p:nvGrpSpPr>
      <p:grpSpPr>
        <a:xfrm>
          <a:off x="0" y="0"/>
          <a:ext cx="0" cy="0"/>
          <a:chOff x="0" y="0"/>
          <a:chExt cx="0" cy="0"/>
        </a:xfrm>
      </p:grpSpPr>
      <p:sp>
        <p:nvSpPr>
          <p:cNvPr id="7" name="CuadroTexto 6">
            <a:extLst>
              <a:ext uri="{FF2B5EF4-FFF2-40B4-BE49-F238E27FC236}">
                <a16:creationId xmlns:a16="http://schemas.microsoft.com/office/drawing/2014/main" id="{3EDA7442-3697-D138-8703-5FDBD2427781}"/>
              </a:ext>
            </a:extLst>
          </p:cNvPr>
          <p:cNvSpPr txBox="1"/>
          <p:nvPr/>
        </p:nvSpPr>
        <p:spPr>
          <a:xfrm>
            <a:off x="458313" y="1355368"/>
            <a:ext cx="1749628" cy="369332"/>
          </a:xfrm>
          <a:prstGeom prst="rect">
            <a:avLst/>
          </a:prstGeom>
          <a:noFill/>
        </p:spPr>
        <p:txBody>
          <a:bodyPr wrap="square">
            <a:spAutoFit/>
          </a:bodyPr>
          <a:lstStyle/>
          <a:p>
            <a:r>
              <a:rPr lang="es-ES" b="1">
                <a:solidFill>
                  <a:srgbClr val="CC00CC"/>
                </a:solidFill>
                <a:highlight>
                  <a:srgbClr val="FFFF00"/>
                </a:highlight>
              </a:rPr>
              <a:t>3.3. str_flatten</a:t>
            </a:r>
          </a:p>
        </p:txBody>
      </p:sp>
      <p:sp>
        <p:nvSpPr>
          <p:cNvPr id="2" name="CuadroTexto 1">
            <a:extLst>
              <a:ext uri="{FF2B5EF4-FFF2-40B4-BE49-F238E27FC236}">
                <a16:creationId xmlns:a16="http://schemas.microsoft.com/office/drawing/2014/main" id="{D2A3CFBC-2C9E-573E-F325-78F7B834B058}"/>
              </a:ext>
            </a:extLst>
          </p:cNvPr>
          <p:cNvSpPr txBox="1"/>
          <p:nvPr/>
        </p:nvSpPr>
        <p:spPr>
          <a:xfrm>
            <a:off x="491332" y="1808893"/>
            <a:ext cx="4989677" cy="923330"/>
          </a:xfrm>
          <a:prstGeom prst="rect">
            <a:avLst/>
          </a:prstGeom>
          <a:noFill/>
        </p:spPr>
        <p:txBody>
          <a:bodyPr wrap="square">
            <a:spAutoFit/>
          </a:bodyPr>
          <a:lstStyle/>
          <a:p>
            <a:r>
              <a:rPr lang="es-ES"/>
              <a:t>A diferencia de str_c() este no combina los strings elemento por elemento sino colapsa todo el vector como un solo string.</a:t>
            </a:r>
            <a:endParaRPr lang="es-MX"/>
          </a:p>
        </p:txBody>
      </p:sp>
      <p:pic>
        <p:nvPicPr>
          <p:cNvPr id="4" name="Imagen 3">
            <a:extLst>
              <a:ext uri="{FF2B5EF4-FFF2-40B4-BE49-F238E27FC236}">
                <a16:creationId xmlns:a16="http://schemas.microsoft.com/office/drawing/2014/main" id="{EF023D80-3888-4102-9AE9-BABC56A1E92F}"/>
              </a:ext>
            </a:extLst>
          </p:cNvPr>
          <p:cNvPicPr>
            <a:picLocks noChangeAspect="1"/>
          </p:cNvPicPr>
          <p:nvPr/>
        </p:nvPicPr>
        <p:blipFill>
          <a:blip r:embed="rId2"/>
          <a:stretch>
            <a:fillRect/>
          </a:stretch>
        </p:blipFill>
        <p:spPr>
          <a:xfrm>
            <a:off x="491332" y="2818648"/>
            <a:ext cx="4860075" cy="2276993"/>
          </a:xfrm>
          <a:prstGeom prst="rect">
            <a:avLst/>
          </a:prstGeom>
        </p:spPr>
      </p:pic>
      <p:pic>
        <p:nvPicPr>
          <p:cNvPr id="12" name="Imagen 11">
            <a:extLst>
              <a:ext uri="{FF2B5EF4-FFF2-40B4-BE49-F238E27FC236}">
                <a16:creationId xmlns:a16="http://schemas.microsoft.com/office/drawing/2014/main" id="{41134D48-3D25-01D4-DA03-53CDBF00C7BD}"/>
              </a:ext>
            </a:extLst>
          </p:cNvPr>
          <p:cNvPicPr>
            <a:picLocks noChangeAspect="1"/>
          </p:cNvPicPr>
          <p:nvPr/>
        </p:nvPicPr>
        <p:blipFill>
          <a:blip r:embed="rId3"/>
          <a:stretch>
            <a:fillRect/>
          </a:stretch>
        </p:blipFill>
        <p:spPr>
          <a:xfrm>
            <a:off x="5481009" y="1192808"/>
            <a:ext cx="2013106" cy="3856217"/>
          </a:xfrm>
          <a:prstGeom prst="rect">
            <a:avLst/>
          </a:prstGeom>
        </p:spPr>
      </p:pic>
      <p:pic>
        <p:nvPicPr>
          <p:cNvPr id="17" name="Imagen 16">
            <a:extLst>
              <a:ext uri="{FF2B5EF4-FFF2-40B4-BE49-F238E27FC236}">
                <a16:creationId xmlns:a16="http://schemas.microsoft.com/office/drawing/2014/main" id="{C4E1E30A-406F-C644-72AB-1C227127CA8B}"/>
              </a:ext>
            </a:extLst>
          </p:cNvPr>
          <p:cNvPicPr>
            <a:picLocks noChangeAspect="1"/>
          </p:cNvPicPr>
          <p:nvPr/>
        </p:nvPicPr>
        <p:blipFill>
          <a:blip r:embed="rId4"/>
          <a:stretch>
            <a:fillRect/>
          </a:stretch>
        </p:blipFill>
        <p:spPr>
          <a:xfrm>
            <a:off x="7623717" y="2132980"/>
            <a:ext cx="4267562" cy="2916045"/>
          </a:xfrm>
          <a:prstGeom prst="rect">
            <a:avLst/>
          </a:prstGeom>
        </p:spPr>
      </p:pic>
      <p:sp>
        <p:nvSpPr>
          <p:cNvPr id="20" name="CuadroTexto 19">
            <a:extLst>
              <a:ext uri="{FF2B5EF4-FFF2-40B4-BE49-F238E27FC236}">
                <a16:creationId xmlns:a16="http://schemas.microsoft.com/office/drawing/2014/main" id="{D4C2C84A-479A-E4F7-D482-C5E12BC5F387}"/>
              </a:ext>
            </a:extLst>
          </p:cNvPr>
          <p:cNvSpPr txBox="1"/>
          <p:nvPr/>
        </p:nvSpPr>
        <p:spPr>
          <a:xfrm>
            <a:off x="7586423" y="1763648"/>
            <a:ext cx="3422000" cy="369332"/>
          </a:xfrm>
          <a:prstGeom prst="rect">
            <a:avLst/>
          </a:prstGeom>
          <a:noFill/>
        </p:spPr>
        <p:txBody>
          <a:bodyPr wrap="square">
            <a:spAutoFit/>
          </a:bodyPr>
          <a:lstStyle/>
          <a:p>
            <a:r>
              <a:rPr lang="es-ES"/>
              <a:t>Funciona muy bien con sumarize()</a:t>
            </a:r>
            <a:endParaRPr lang="es-MX"/>
          </a:p>
        </p:txBody>
      </p:sp>
    </p:spTree>
    <p:extLst>
      <p:ext uri="{BB962C8B-B14F-4D97-AF65-F5344CB8AC3E}">
        <p14:creationId xmlns:p14="http://schemas.microsoft.com/office/powerpoint/2010/main" val="42742269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FCAE3-14CF-E29A-44C4-0D7D3C77F490}"/>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9B250347-951F-1D64-4CDA-509D53AFF759}"/>
              </a:ext>
            </a:extLst>
          </p:cNvPr>
          <p:cNvSpPr txBox="1"/>
          <p:nvPr/>
        </p:nvSpPr>
        <p:spPr>
          <a:xfrm>
            <a:off x="523114" y="383353"/>
            <a:ext cx="6804105" cy="523220"/>
          </a:xfrm>
          <a:prstGeom prst="rect">
            <a:avLst/>
          </a:prstGeom>
          <a:noFill/>
        </p:spPr>
        <p:txBody>
          <a:bodyPr wrap="square">
            <a:spAutoFit/>
          </a:bodyPr>
          <a:lstStyle>
            <a:defPPr>
              <a:defRPr lang="en-US"/>
            </a:defPPr>
            <a:lvl1pPr indent="0">
              <a:buNone/>
              <a:defRPr sz="2800">
                <a:solidFill>
                  <a:srgbClr val="FFFF00"/>
                </a:solidFill>
                <a:latin typeface="Montserrat SemiBold" panose="00000700000000000000" pitchFamily="2" charset="0"/>
              </a:defRPr>
            </a:lvl1pPr>
          </a:lstStyle>
          <a:p>
            <a:r>
              <a:rPr lang="es-ES"/>
              <a:t>4. Extraer datos apartir de strings</a:t>
            </a:r>
            <a:endParaRPr lang="es-MX"/>
          </a:p>
        </p:txBody>
      </p:sp>
      <p:pic>
        <p:nvPicPr>
          <p:cNvPr id="7" name="Imagen 6">
            <a:extLst>
              <a:ext uri="{FF2B5EF4-FFF2-40B4-BE49-F238E27FC236}">
                <a16:creationId xmlns:a16="http://schemas.microsoft.com/office/drawing/2014/main" id="{ECA37497-A0D2-8B90-A8F0-B05866283E25}"/>
              </a:ext>
            </a:extLst>
          </p:cNvPr>
          <p:cNvPicPr>
            <a:picLocks noChangeAspect="1"/>
          </p:cNvPicPr>
          <p:nvPr/>
        </p:nvPicPr>
        <p:blipFill>
          <a:blip r:embed="rId2"/>
          <a:stretch>
            <a:fillRect/>
          </a:stretch>
        </p:blipFill>
        <p:spPr>
          <a:xfrm>
            <a:off x="7902272" y="294024"/>
            <a:ext cx="3690783" cy="267562"/>
          </a:xfrm>
          <a:prstGeom prst="rect">
            <a:avLst/>
          </a:prstGeom>
        </p:spPr>
      </p:pic>
      <p:pic>
        <p:nvPicPr>
          <p:cNvPr id="9" name="Imagen 8">
            <a:extLst>
              <a:ext uri="{FF2B5EF4-FFF2-40B4-BE49-F238E27FC236}">
                <a16:creationId xmlns:a16="http://schemas.microsoft.com/office/drawing/2014/main" id="{FFDA3AB9-0696-528C-2198-212F1055B247}"/>
              </a:ext>
            </a:extLst>
          </p:cNvPr>
          <p:cNvPicPr>
            <a:picLocks noChangeAspect="1"/>
          </p:cNvPicPr>
          <p:nvPr/>
        </p:nvPicPr>
        <p:blipFill>
          <a:blip r:embed="rId3"/>
          <a:stretch>
            <a:fillRect/>
          </a:stretch>
        </p:blipFill>
        <p:spPr>
          <a:xfrm>
            <a:off x="7937620" y="772956"/>
            <a:ext cx="3942606" cy="236084"/>
          </a:xfrm>
          <a:prstGeom prst="rect">
            <a:avLst/>
          </a:prstGeom>
        </p:spPr>
      </p:pic>
      <p:pic>
        <p:nvPicPr>
          <p:cNvPr id="11" name="Imagen 10">
            <a:extLst>
              <a:ext uri="{FF2B5EF4-FFF2-40B4-BE49-F238E27FC236}">
                <a16:creationId xmlns:a16="http://schemas.microsoft.com/office/drawing/2014/main" id="{FDDE0887-4694-9193-7570-6EC96B8F572B}"/>
              </a:ext>
            </a:extLst>
          </p:cNvPr>
          <p:cNvPicPr>
            <a:picLocks noChangeAspect="1"/>
          </p:cNvPicPr>
          <p:nvPr/>
        </p:nvPicPr>
        <p:blipFill>
          <a:blip r:embed="rId4"/>
          <a:stretch>
            <a:fillRect/>
          </a:stretch>
        </p:blipFill>
        <p:spPr>
          <a:xfrm>
            <a:off x="7975229" y="1222066"/>
            <a:ext cx="4202298" cy="243953"/>
          </a:xfrm>
          <a:prstGeom prst="rect">
            <a:avLst/>
          </a:prstGeom>
        </p:spPr>
      </p:pic>
      <p:pic>
        <p:nvPicPr>
          <p:cNvPr id="13" name="Imagen 12">
            <a:extLst>
              <a:ext uri="{FF2B5EF4-FFF2-40B4-BE49-F238E27FC236}">
                <a16:creationId xmlns:a16="http://schemas.microsoft.com/office/drawing/2014/main" id="{27FA7D7E-551E-5FCB-752D-2400108BB3B2}"/>
              </a:ext>
            </a:extLst>
          </p:cNvPr>
          <p:cNvPicPr>
            <a:picLocks noChangeAspect="1"/>
          </p:cNvPicPr>
          <p:nvPr/>
        </p:nvPicPr>
        <p:blipFill>
          <a:blip r:embed="rId5"/>
          <a:stretch>
            <a:fillRect/>
          </a:stretch>
        </p:blipFill>
        <p:spPr>
          <a:xfrm>
            <a:off x="7937620" y="1679046"/>
            <a:ext cx="3942606" cy="243953"/>
          </a:xfrm>
          <a:prstGeom prst="rect">
            <a:avLst/>
          </a:prstGeom>
        </p:spPr>
      </p:pic>
      <p:grpSp>
        <p:nvGrpSpPr>
          <p:cNvPr id="18" name="Grupo 17">
            <a:extLst>
              <a:ext uri="{FF2B5EF4-FFF2-40B4-BE49-F238E27FC236}">
                <a16:creationId xmlns:a16="http://schemas.microsoft.com/office/drawing/2014/main" id="{3A4FC505-F859-D163-F707-C506B6F7BF2A}"/>
              </a:ext>
            </a:extLst>
          </p:cNvPr>
          <p:cNvGrpSpPr/>
          <p:nvPr/>
        </p:nvGrpSpPr>
        <p:grpSpPr>
          <a:xfrm>
            <a:off x="8005711" y="2067587"/>
            <a:ext cx="2252992" cy="191358"/>
            <a:chOff x="894249" y="2898761"/>
            <a:chExt cx="3347820" cy="253636"/>
          </a:xfrm>
        </p:grpSpPr>
        <p:pic>
          <p:nvPicPr>
            <p:cNvPr id="15" name="Imagen 14">
              <a:extLst>
                <a:ext uri="{FF2B5EF4-FFF2-40B4-BE49-F238E27FC236}">
                  <a16:creationId xmlns:a16="http://schemas.microsoft.com/office/drawing/2014/main" id="{08DF8E47-E48C-5727-4AAA-BB29E7D675C7}"/>
                </a:ext>
              </a:extLst>
            </p:cNvPr>
            <p:cNvPicPr>
              <a:picLocks noChangeAspect="1"/>
            </p:cNvPicPr>
            <p:nvPr/>
          </p:nvPicPr>
          <p:blipFill>
            <a:blip r:embed="rId6"/>
            <a:stretch>
              <a:fillRect/>
            </a:stretch>
          </p:blipFill>
          <p:spPr>
            <a:xfrm>
              <a:off x="1647374" y="2898761"/>
              <a:ext cx="2594695" cy="253388"/>
            </a:xfrm>
            <a:prstGeom prst="rect">
              <a:avLst/>
            </a:prstGeom>
          </p:spPr>
        </p:pic>
        <p:pic>
          <p:nvPicPr>
            <p:cNvPr id="17" name="Imagen 16">
              <a:extLst>
                <a:ext uri="{FF2B5EF4-FFF2-40B4-BE49-F238E27FC236}">
                  <a16:creationId xmlns:a16="http://schemas.microsoft.com/office/drawing/2014/main" id="{A0ADE8A5-9B56-E78E-D7ED-748A12B3979E}"/>
                </a:ext>
              </a:extLst>
            </p:cNvPr>
            <p:cNvPicPr>
              <a:picLocks noChangeAspect="1"/>
            </p:cNvPicPr>
            <p:nvPr/>
          </p:nvPicPr>
          <p:blipFill>
            <a:blip r:embed="rId7"/>
            <a:stretch>
              <a:fillRect/>
            </a:stretch>
          </p:blipFill>
          <p:spPr>
            <a:xfrm>
              <a:off x="894249" y="2899009"/>
              <a:ext cx="753125" cy="253388"/>
            </a:xfrm>
            <a:prstGeom prst="rect">
              <a:avLst/>
            </a:prstGeom>
          </p:spPr>
        </p:pic>
      </p:grpSp>
      <p:sp>
        <p:nvSpPr>
          <p:cNvPr id="20" name="CuadroTexto 19">
            <a:extLst>
              <a:ext uri="{FF2B5EF4-FFF2-40B4-BE49-F238E27FC236}">
                <a16:creationId xmlns:a16="http://schemas.microsoft.com/office/drawing/2014/main" id="{564CA4F0-3A27-6B1A-EB56-911853EA9A21}"/>
              </a:ext>
            </a:extLst>
          </p:cNvPr>
          <p:cNvSpPr txBox="1"/>
          <p:nvPr/>
        </p:nvSpPr>
        <p:spPr>
          <a:xfrm>
            <a:off x="621774" y="1265107"/>
            <a:ext cx="2592040" cy="369332"/>
          </a:xfrm>
          <a:prstGeom prst="rect">
            <a:avLst/>
          </a:prstGeom>
          <a:noFill/>
        </p:spPr>
        <p:txBody>
          <a:bodyPr wrap="square">
            <a:spAutoFit/>
          </a:bodyPr>
          <a:lstStyle/>
          <a:p>
            <a:r>
              <a:rPr lang="es-ES" b="1">
                <a:solidFill>
                  <a:srgbClr val="CC00CC"/>
                </a:solidFill>
                <a:highlight>
                  <a:srgbClr val="FFFF00"/>
                </a:highlight>
              </a:rPr>
              <a:t>4.1. Separando en Filas</a:t>
            </a:r>
          </a:p>
        </p:txBody>
      </p:sp>
      <p:pic>
        <p:nvPicPr>
          <p:cNvPr id="21" name="Imagen 20">
            <a:extLst>
              <a:ext uri="{FF2B5EF4-FFF2-40B4-BE49-F238E27FC236}">
                <a16:creationId xmlns:a16="http://schemas.microsoft.com/office/drawing/2014/main" id="{E9405432-32F7-39A8-6D06-B016CCDE35D7}"/>
              </a:ext>
            </a:extLst>
          </p:cNvPr>
          <p:cNvPicPr>
            <a:picLocks noChangeAspect="1"/>
          </p:cNvPicPr>
          <p:nvPr/>
        </p:nvPicPr>
        <p:blipFill>
          <a:blip r:embed="rId8"/>
          <a:srcRect b="79159"/>
          <a:stretch>
            <a:fillRect/>
          </a:stretch>
        </p:blipFill>
        <p:spPr>
          <a:xfrm>
            <a:off x="619682" y="1939611"/>
            <a:ext cx="4212065" cy="591920"/>
          </a:xfrm>
          <a:prstGeom prst="rect">
            <a:avLst/>
          </a:prstGeom>
        </p:spPr>
      </p:pic>
      <p:pic>
        <p:nvPicPr>
          <p:cNvPr id="22" name="Imagen 21">
            <a:extLst>
              <a:ext uri="{FF2B5EF4-FFF2-40B4-BE49-F238E27FC236}">
                <a16:creationId xmlns:a16="http://schemas.microsoft.com/office/drawing/2014/main" id="{7E263E26-3FC9-1B68-E8E1-A036153314C2}"/>
              </a:ext>
            </a:extLst>
          </p:cNvPr>
          <p:cNvPicPr>
            <a:picLocks noChangeAspect="1"/>
          </p:cNvPicPr>
          <p:nvPr/>
        </p:nvPicPr>
        <p:blipFill>
          <a:blip r:embed="rId9"/>
          <a:srcRect b="78055"/>
          <a:stretch>
            <a:fillRect/>
          </a:stretch>
        </p:blipFill>
        <p:spPr>
          <a:xfrm>
            <a:off x="620085" y="2546844"/>
            <a:ext cx="4212065" cy="882156"/>
          </a:xfrm>
          <a:prstGeom prst="rect">
            <a:avLst/>
          </a:prstGeom>
        </p:spPr>
      </p:pic>
      <p:pic>
        <p:nvPicPr>
          <p:cNvPr id="23" name="Imagen 22">
            <a:extLst>
              <a:ext uri="{FF2B5EF4-FFF2-40B4-BE49-F238E27FC236}">
                <a16:creationId xmlns:a16="http://schemas.microsoft.com/office/drawing/2014/main" id="{18DF6D14-61B3-B70A-66A4-223811222A27}"/>
              </a:ext>
            </a:extLst>
          </p:cNvPr>
          <p:cNvPicPr>
            <a:picLocks noChangeAspect="1"/>
          </p:cNvPicPr>
          <p:nvPr/>
        </p:nvPicPr>
        <p:blipFill>
          <a:blip r:embed="rId10"/>
          <a:stretch>
            <a:fillRect/>
          </a:stretch>
        </p:blipFill>
        <p:spPr>
          <a:xfrm>
            <a:off x="5237441" y="1759056"/>
            <a:ext cx="777612" cy="1749626"/>
          </a:xfrm>
          <a:prstGeom prst="rect">
            <a:avLst/>
          </a:prstGeom>
        </p:spPr>
      </p:pic>
      <p:pic>
        <p:nvPicPr>
          <p:cNvPr id="24" name="Imagen 23">
            <a:extLst>
              <a:ext uri="{FF2B5EF4-FFF2-40B4-BE49-F238E27FC236}">
                <a16:creationId xmlns:a16="http://schemas.microsoft.com/office/drawing/2014/main" id="{3CDF2954-E9B3-D1B2-B4DE-C5F3B576BF95}"/>
              </a:ext>
            </a:extLst>
          </p:cNvPr>
          <p:cNvPicPr>
            <a:picLocks noChangeAspect="1"/>
          </p:cNvPicPr>
          <p:nvPr/>
        </p:nvPicPr>
        <p:blipFill>
          <a:blip r:embed="rId11"/>
          <a:stretch>
            <a:fillRect/>
          </a:stretch>
        </p:blipFill>
        <p:spPr>
          <a:xfrm>
            <a:off x="6946425" y="1580382"/>
            <a:ext cx="752580" cy="2610214"/>
          </a:xfrm>
          <a:prstGeom prst="rect">
            <a:avLst/>
          </a:prstGeom>
        </p:spPr>
      </p:pic>
      <p:sp>
        <p:nvSpPr>
          <p:cNvPr id="25" name="Flecha: a la derecha 24">
            <a:extLst>
              <a:ext uri="{FF2B5EF4-FFF2-40B4-BE49-F238E27FC236}">
                <a16:creationId xmlns:a16="http://schemas.microsoft.com/office/drawing/2014/main" id="{CD014597-7793-11A2-F02C-D765ACBBEC50}"/>
              </a:ext>
            </a:extLst>
          </p:cNvPr>
          <p:cNvSpPr/>
          <p:nvPr/>
        </p:nvSpPr>
        <p:spPr>
          <a:xfrm>
            <a:off x="6072985" y="2424301"/>
            <a:ext cx="857370" cy="648010"/>
          </a:xfrm>
          <a:prstGeom prst="rightArrow">
            <a:avLst/>
          </a:prstGeom>
          <a:solidFill>
            <a:srgbClr val="CC00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26" name="Imagen 25">
            <a:extLst>
              <a:ext uri="{FF2B5EF4-FFF2-40B4-BE49-F238E27FC236}">
                <a16:creationId xmlns:a16="http://schemas.microsoft.com/office/drawing/2014/main" id="{8525660D-0DB6-1492-F197-370FE5E84F16}"/>
              </a:ext>
            </a:extLst>
          </p:cNvPr>
          <p:cNvPicPr>
            <a:picLocks noChangeAspect="1"/>
          </p:cNvPicPr>
          <p:nvPr/>
        </p:nvPicPr>
        <p:blipFill>
          <a:blip r:embed="rId12"/>
          <a:stretch>
            <a:fillRect/>
          </a:stretch>
        </p:blipFill>
        <p:spPr>
          <a:xfrm>
            <a:off x="619682" y="4093454"/>
            <a:ext cx="4372586" cy="552050"/>
          </a:xfrm>
          <a:prstGeom prst="rect">
            <a:avLst/>
          </a:prstGeom>
        </p:spPr>
      </p:pic>
      <p:pic>
        <p:nvPicPr>
          <p:cNvPr id="27" name="Imagen 26">
            <a:extLst>
              <a:ext uri="{FF2B5EF4-FFF2-40B4-BE49-F238E27FC236}">
                <a16:creationId xmlns:a16="http://schemas.microsoft.com/office/drawing/2014/main" id="{8C3BCEA2-FF33-1FDA-97AE-7F2EF538ED41}"/>
              </a:ext>
            </a:extLst>
          </p:cNvPr>
          <p:cNvPicPr>
            <a:picLocks noChangeAspect="1"/>
          </p:cNvPicPr>
          <p:nvPr/>
        </p:nvPicPr>
        <p:blipFill>
          <a:blip r:embed="rId13"/>
          <a:stretch>
            <a:fillRect/>
          </a:stretch>
        </p:blipFill>
        <p:spPr>
          <a:xfrm>
            <a:off x="621774" y="4657028"/>
            <a:ext cx="4372586" cy="655888"/>
          </a:xfrm>
          <a:prstGeom prst="rect">
            <a:avLst/>
          </a:prstGeom>
        </p:spPr>
      </p:pic>
      <p:pic>
        <p:nvPicPr>
          <p:cNvPr id="28" name="Imagen 27">
            <a:extLst>
              <a:ext uri="{FF2B5EF4-FFF2-40B4-BE49-F238E27FC236}">
                <a16:creationId xmlns:a16="http://schemas.microsoft.com/office/drawing/2014/main" id="{8281DEB9-AFEA-A5DF-0232-1EB60D1F6810}"/>
              </a:ext>
            </a:extLst>
          </p:cNvPr>
          <p:cNvPicPr>
            <a:picLocks noChangeAspect="1"/>
          </p:cNvPicPr>
          <p:nvPr/>
        </p:nvPicPr>
        <p:blipFill>
          <a:blip r:embed="rId14"/>
          <a:stretch>
            <a:fillRect/>
          </a:stretch>
        </p:blipFill>
        <p:spPr>
          <a:xfrm>
            <a:off x="5215615" y="4093454"/>
            <a:ext cx="857370" cy="2324424"/>
          </a:xfrm>
          <a:prstGeom prst="rect">
            <a:avLst/>
          </a:prstGeom>
        </p:spPr>
      </p:pic>
      <p:sp>
        <p:nvSpPr>
          <p:cNvPr id="29" name="Flecha: a la derecha 28">
            <a:extLst>
              <a:ext uri="{FF2B5EF4-FFF2-40B4-BE49-F238E27FC236}">
                <a16:creationId xmlns:a16="http://schemas.microsoft.com/office/drawing/2014/main" id="{EDC5D0F0-ABBC-DAB2-4D75-A81BACE36837}"/>
              </a:ext>
            </a:extLst>
          </p:cNvPr>
          <p:cNvSpPr/>
          <p:nvPr/>
        </p:nvSpPr>
        <p:spPr>
          <a:xfrm>
            <a:off x="6249240" y="4864405"/>
            <a:ext cx="1643380" cy="648010"/>
          </a:xfrm>
          <a:prstGeom prst="rightArrow">
            <a:avLst/>
          </a:prstGeom>
          <a:solidFill>
            <a:srgbClr val="CC00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30" name="Imagen 29">
            <a:extLst>
              <a:ext uri="{FF2B5EF4-FFF2-40B4-BE49-F238E27FC236}">
                <a16:creationId xmlns:a16="http://schemas.microsoft.com/office/drawing/2014/main" id="{95E6C150-894E-5EA0-1E3E-8B1E35FA3D0D}"/>
              </a:ext>
            </a:extLst>
          </p:cNvPr>
          <p:cNvPicPr>
            <a:picLocks noChangeAspect="1"/>
          </p:cNvPicPr>
          <p:nvPr/>
        </p:nvPicPr>
        <p:blipFill>
          <a:blip r:embed="rId15"/>
          <a:stretch>
            <a:fillRect/>
          </a:stretch>
        </p:blipFill>
        <p:spPr>
          <a:xfrm>
            <a:off x="8086235" y="3429000"/>
            <a:ext cx="704546" cy="3367731"/>
          </a:xfrm>
          <a:prstGeom prst="rect">
            <a:avLst/>
          </a:prstGeom>
        </p:spPr>
      </p:pic>
    </p:spTree>
    <p:extLst>
      <p:ext uri="{BB962C8B-B14F-4D97-AF65-F5344CB8AC3E}">
        <p14:creationId xmlns:p14="http://schemas.microsoft.com/office/powerpoint/2010/main" val="13165854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90F898D2-49A0-0E20-E530-A8616F5185DC}"/>
              </a:ext>
            </a:extLst>
          </p:cNvPr>
          <p:cNvSpPr txBox="1"/>
          <p:nvPr/>
        </p:nvSpPr>
        <p:spPr>
          <a:xfrm>
            <a:off x="458313" y="424430"/>
            <a:ext cx="3045647" cy="369332"/>
          </a:xfrm>
          <a:prstGeom prst="rect">
            <a:avLst/>
          </a:prstGeom>
          <a:noFill/>
        </p:spPr>
        <p:txBody>
          <a:bodyPr wrap="square">
            <a:spAutoFit/>
          </a:bodyPr>
          <a:lstStyle/>
          <a:p>
            <a:r>
              <a:rPr lang="es-ES" b="1">
                <a:solidFill>
                  <a:srgbClr val="CC00CC"/>
                </a:solidFill>
                <a:highlight>
                  <a:srgbClr val="FFFF00"/>
                </a:highlight>
              </a:rPr>
              <a:t>4.2. Separando en Columnas</a:t>
            </a:r>
          </a:p>
        </p:txBody>
      </p:sp>
      <p:pic>
        <p:nvPicPr>
          <p:cNvPr id="31" name="Imagen 30">
            <a:extLst>
              <a:ext uri="{FF2B5EF4-FFF2-40B4-BE49-F238E27FC236}">
                <a16:creationId xmlns:a16="http://schemas.microsoft.com/office/drawing/2014/main" id="{E2259024-F416-0356-3BE5-34CB5211B817}"/>
              </a:ext>
            </a:extLst>
          </p:cNvPr>
          <p:cNvPicPr>
            <a:picLocks noChangeAspect="1"/>
          </p:cNvPicPr>
          <p:nvPr/>
        </p:nvPicPr>
        <p:blipFill>
          <a:blip r:embed="rId2"/>
          <a:stretch>
            <a:fillRect/>
          </a:stretch>
        </p:blipFill>
        <p:spPr>
          <a:xfrm>
            <a:off x="456793" y="1209178"/>
            <a:ext cx="4505954" cy="416969"/>
          </a:xfrm>
          <a:prstGeom prst="rect">
            <a:avLst/>
          </a:prstGeom>
        </p:spPr>
      </p:pic>
      <p:pic>
        <p:nvPicPr>
          <p:cNvPr id="33" name="Imagen 32">
            <a:extLst>
              <a:ext uri="{FF2B5EF4-FFF2-40B4-BE49-F238E27FC236}">
                <a16:creationId xmlns:a16="http://schemas.microsoft.com/office/drawing/2014/main" id="{659F85B8-CE07-6214-9097-1BFDF873DCC3}"/>
              </a:ext>
            </a:extLst>
          </p:cNvPr>
          <p:cNvPicPr>
            <a:picLocks noChangeAspect="1"/>
          </p:cNvPicPr>
          <p:nvPr/>
        </p:nvPicPr>
        <p:blipFill>
          <a:blip r:embed="rId3"/>
          <a:stretch>
            <a:fillRect/>
          </a:stretch>
        </p:blipFill>
        <p:spPr>
          <a:xfrm>
            <a:off x="456792" y="1679373"/>
            <a:ext cx="4505954" cy="1543265"/>
          </a:xfrm>
          <a:prstGeom prst="rect">
            <a:avLst/>
          </a:prstGeom>
        </p:spPr>
      </p:pic>
      <p:pic>
        <p:nvPicPr>
          <p:cNvPr id="35" name="Imagen 34">
            <a:extLst>
              <a:ext uri="{FF2B5EF4-FFF2-40B4-BE49-F238E27FC236}">
                <a16:creationId xmlns:a16="http://schemas.microsoft.com/office/drawing/2014/main" id="{76FED0ED-F279-9E42-6CE1-DE2C7B3F1429}"/>
              </a:ext>
            </a:extLst>
          </p:cNvPr>
          <p:cNvPicPr>
            <a:picLocks noChangeAspect="1"/>
          </p:cNvPicPr>
          <p:nvPr/>
        </p:nvPicPr>
        <p:blipFill>
          <a:blip r:embed="rId4"/>
          <a:stretch>
            <a:fillRect/>
          </a:stretch>
        </p:blipFill>
        <p:spPr>
          <a:xfrm>
            <a:off x="5771995" y="1347025"/>
            <a:ext cx="1143160" cy="1733792"/>
          </a:xfrm>
          <a:prstGeom prst="rect">
            <a:avLst/>
          </a:prstGeom>
        </p:spPr>
      </p:pic>
      <p:pic>
        <p:nvPicPr>
          <p:cNvPr id="37" name="Imagen 36">
            <a:extLst>
              <a:ext uri="{FF2B5EF4-FFF2-40B4-BE49-F238E27FC236}">
                <a16:creationId xmlns:a16="http://schemas.microsoft.com/office/drawing/2014/main" id="{593B793A-4B68-7E81-C640-1CC0AD7D3812}"/>
              </a:ext>
            </a:extLst>
          </p:cNvPr>
          <p:cNvPicPr>
            <a:picLocks noChangeAspect="1"/>
          </p:cNvPicPr>
          <p:nvPr/>
        </p:nvPicPr>
        <p:blipFill>
          <a:blip r:embed="rId5"/>
          <a:stretch>
            <a:fillRect/>
          </a:stretch>
        </p:blipFill>
        <p:spPr>
          <a:xfrm>
            <a:off x="8208902" y="1208893"/>
            <a:ext cx="2438740" cy="2010056"/>
          </a:xfrm>
          <a:prstGeom prst="rect">
            <a:avLst/>
          </a:prstGeom>
        </p:spPr>
      </p:pic>
      <p:sp>
        <p:nvSpPr>
          <p:cNvPr id="38" name="Flecha: a la derecha 37">
            <a:extLst>
              <a:ext uri="{FF2B5EF4-FFF2-40B4-BE49-F238E27FC236}">
                <a16:creationId xmlns:a16="http://schemas.microsoft.com/office/drawing/2014/main" id="{E554F6B3-9143-0405-AD76-F8239D6CA1A8}"/>
              </a:ext>
            </a:extLst>
          </p:cNvPr>
          <p:cNvSpPr/>
          <p:nvPr/>
        </p:nvSpPr>
        <p:spPr>
          <a:xfrm>
            <a:off x="7136270" y="1751784"/>
            <a:ext cx="857370" cy="648010"/>
          </a:xfrm>
          <a:prstGeom prst="rightArrow">
            <a:avLst/>
          </a:prstGeom>
          <a:solidFill>
            <a:srgbClr val="CC00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0" name="CuadroTexto 39">
            <a:extLst>
              <a:ext uri="{FF2B5EF4-FFF2-40B4-BE49-F238E27FC236}">
                <a16:creationId xmlns:a16="http://schemas.microsoft.com/office/drawing/2014/main" id="{C58B200F-CB9B-97B3-F5BF-DC09BD56B376}"/>
              </a:ext>
            </a:extLst>
          </p:cNvPr>
          <p:cNvSpPr txBox="1"/>
          <p:nvPr/>
        </p:nvSpPr>
        <p:spPr>
          <a:xfrm>
            <a:off x="3503960" y="315222"/>
            <a:ext cx="7711319" cy="646331"/>
          </a:xfrm>
          <a:prstGeom prst="rect">
            <a:avLst/>
          </a:prstGeom>
          <a:noFill/>
        </p:spPr>
        <p:txBody>
          <a:bodyPr wrap="square">
            <a:spAutoFit/>
          </a:bodyPr>
          <a:lstStyle/>
          <a:p>
            <a:r>
              <a:rPr lang="es-ES"/>
              <a:t>Separar una cadena en columnas suele ser más útil cuando cada cadena tiene un </a:t>
            </a:r>
            <a:r>
              <a:rPr lang="es-ES" b="1">
                <a:solidFill>
                  <a:srgbClr val="FFFF00"/>
                </a:solidFill>
              </a:rPr>
              <a:t>número fijo </a:t>
            </a:r>
            <a:r>
              <a:rPr lang="es-ES"/>
              <a:t>de componentes y se desea distribuirlos en columna</a:t>
            </a:r>
            <a:endParaRPr lang="es-MX"/>
          </a:p>
        </p:txBody>
      </p:sp>
      <p:sp>
        <p:nvSpPr>
          <p:cNvPr id="45" name="CuadroTexto 44">
            <a:extLst>
              <a:ext uri="{FF2B5EF4-FFF2-40B4-BE49-F238E27FC236}">
                <a16:creationId xmlns:a16="http://schemas.microsoft.com/office/drawing/2014/main" id="{26EE8A98-9ABB-1760-845F-DDCB82416EE1}"/>
              </a:ext>
            </a:extLst>
          </p:cNvPr>
          <p:cNvSpPr txBox="1"/>
          <p:nvPr/>
        </p:nvSpPr>
        <p:spPr>
          <a:xfrm>
            <a:off x="1163753" y="2924128"/>
            <a:ext cx="4795274" cy="307777"/>
          </a:xfrm>
          <a:prstGeom prst="rect">
            <a:avLst/>
          </a:prstGeom>
          <a:noFill/>
        </p:spPr>
        <p:txBody>
          <a:bodyPr wrap="square">
            <a:spAutoFit/>
          </a:bodyPr>
          <a:lstStyle/>
          <a:p>
            <a:r>
              <a:rPr lang="es-ES" sz="1400"/>
              <a:t>Si usas NA esta columna se omite en el resultado</a:t>
            </a:r>
            <a:endParaRPr lang="es-MX" sz="1400"/>
          </a:p>
        </p:txBody>
      </p:sp>
      <p:pic>
        <p:nvPicPr>
          <p:cNvPr id="47" name="Imagen 46">
            <a:extLst>
              <a:ext uri="{FF2B5EF4-FFF2-40B4-BE49-F238E27FC236}">
                <a16:creationId xmlns:a16="http://schemas.microsoft.com/office/drawing/2014/main" id="{13A32E2B-F388-EE10-2EF2-139505563507}"/>
              </a:ext>
            </a:extLst>
          </p:cNvPr>
          <p:cNvPicPr>
            <a:picLocks noChangeAspect="1"/>
          </p:cNvPicPr>
          <p:nvPr/>
        </p:nvPicPr>
        <p:blipFill>
          <a:blip r:embed="rId6"/>
          <a:stretch>
            <a:fillRect/>
          </a:stretch>
        </p:blipFill>
        <p:spPr>
          <a:xfrm>
            <a:off x="352383" y="3777184"/>
            <a:ext cx="4610364" cy="513101"/>
          </a:xfrm>
          <a:prstGeom prst="rect">
            <a:avLst/>
          </a:prstGeom>
        </p:spPr>
      </p:pic>
      <p:pic>
        <p:nvPicPr>
          <p:cNvPr id="49" name="Imagen 48">
            <a:extLst>
              <a:ext uri="{FF2B5EF4-FFF2-40B4-BE49-F238E27FC236}">
                <a16:creationId xmlns:a16="http://schemas.microsoft.com/office/drawing/2014/main" id="{AD4F4623-EADB-69BA-3A27-1C75471EDABA}"/>
              </a:ext>
            </a:extLst>
          </p:cNvPr>
          <p:cNvPicPr>
            <a:picLocks noChangeAspect="1"/>
          </p:cNvPicPr>
          <p:nvPr/>
        </p:nvPicPr>
        <p:blipFill>
          <a:blip r:embed="rId7"/>
          <a:stretch>
            <a:fillRect/>
          </a:stretch>
        </p:blipFill>
        <p:spPr>
          <a:xfrm>
            <a:off x="352383" y="4336214"/>
            <a:ext cx="4610363" cy="1306580"/>
          </a:xfrm>
          <a:prstGeom prst="rect">
            <a:avLst/>
          </a:prstGeom>
        </p:spPr>
      </p:pic>
      <p:pic>
        <p:nvPicPr>
          <p:cNvPr id="51" name="Imagen 50">
            <a:extLst>
              <a:ext uri="{FF2B5EF4-FFF2-40B4-BE49-F238E27FC236}">
                <a16:creationId xmlns:a16="http://schemas.microsoft.com/office/drawing/2014/main" id="{3F06F5D0-1DB0-2A25-3B96-BFB639D1BC1C}"/>
              </a:ext>
            </a:extLst>
          </p:cNvPr>
          <p:cNvPicPr>
            <a:picLocks noChangeAspect="1"/>
          </p:cNvPicPr>
          <p:nvPr/>
        </p:nvPicPr>
        <p:blipFill>
          <a:blip r:embed="rId8"/>
          <a:stretch>
            <a:fillRect/>
          </a:stretch>
        </p:blipFill>
        <p:spPr>
          <a:xfrm>
            <a:off x="8304245" y="3832791"/>
            <a:ext cx="2333951" cy="1810003"/>
          </a:xfrm>
          <a:prstGeom prst="rect">
            <a:avLst/>
          </a:prstGeom>
        </p:spPr>
      </p:pic>
      <p:pic>
        <p:nvPicPr>
          <p:cNvPr id="53" name="Imagen 52">
            <a:extLst>
              <a:ext uri="{FF2B5EF4-FFF2-40B4-BE49-F238E27FC236}">
                <a16:creationId xmlns:a16="http://schemas.microsoft.com/office/drawing/2014/main" id="{1D87A835-6F08-E2FA-B88D-5A6610DEB4DC}"/>
              </a:ext>
            </a:extLst>
          </p:cNvPr>
          <p:cNvPicPr>
            <a:picLocks noChangeAspect="1"/>
          </p:cNvPicPr>
          <p:nvPr/>
        </p:nvPicPr>
        <p:blipFill>
          <a:blip r:embed="rId9"/>
          <a:stretch>
            <a:fillRect/>
          </a:stretch>
        </p:blipFill>
        <p:spPr>
          <a:xfrm>
            <a:off x="5765841" y="3832791"/>
            <a:ext cx="1086002" cy="1743318"/>
          </a:xfrm>
          <a:prstGeom prst="rect">
            <a:avLst/>
          </a:prstGeom>
        </p:spPr>
      </p:pic>
      <p:sp>
        <p:nvSpPr>
          <p:cNvPr id="54" name="Flecha: a la derecha 53">
            <a:extLst>
              <a:ext uri="{FF2B5EF4-FFF2-40B4-BE49-F238E27FC236}">
                <a16:creationId xmlns:a16="http://schemas.microsoft.com/office/drawing/2014/main" id="{EA1D12B0-170F-C5FA-D2C1-109854763F97}"/>
              </a:ext>
            </a:extLst>
          </p:cNvPr>
          <p:cNvSpPr/>
          <p:nvPr/>
        </p:nvSpPr>
        <p:spPr>
          <a:xfrm>
            <a:off x="7136270" y="4458207"/>
            <a:ext cx="857370" cy="648010"/>
          </a:xfrm>
          <a:prstGeom prst="rightArrow">
            <a:avLst/>
          </a:prstGeom>
          <a:solidFill>
            <a:srgbClr val="CC00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8" name="CuadroTexto 57">
            <a:extLst>
              <a:ext uri="{FF2B5EF4-FFF2-40B4-BE49-F238E27FC236}">
                <a16:creationId xmlns:a16="http://schemas.microsoft.com/office/drawing/2014/main" id="{D51AA106-F5ED-6655-617A-D132D995C9BA}"/>
              </a:ext>
            </a:extLst>
          </p:cNvPr>
          <p:cNvSpPr txBox="1"/>
          <p:nvPr/>
        </p:nvSpPr>
        <p:spPr>
          <a:xfrm>
            <a:off x="245671" y="3374745"/>
            <a:ext cx="5007916" cy="369332"/>
          </a:xfrm>
          <a:prstGeom prst="rect">
            <a:avLst/>
          </a:prstGeom>
          <a:noFill/>
        </p:spPr>
        <p:txBody>
          <a:bodyPr wrap="square">
            <a:spAutoFit/>
          </a:bodyPr>
          <a:lstStyle/>
          <a:p>
            <a:r>
              <a:rPr lang="es-ES"/>
              <a:t>Aquí se desea especificar el ancho de cada columna</a:t>
            </a:r>
            <a:endParaRPr lang="es-MX"/>
          </a:p>
        </p:txBody>
      </p:sp>
    </p:spTree>
    <p:extLst>
      <p:ext uri="{BB962C8B-B14F-4D97-AF65-F5344CB8AC3E}">
        <p14:creationId xmlns:p14="http://schemas.microsoft.com/office/powerpoint/2010/main" val="2836893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DD79F4BB-293C-E0DF-41C6-625F3A2331BE}"/>
              </a:ext>
            </a:extLst>
          </p:cNvPr>
          <p:cNvSpPr txBox="1"/>
          <p:nvPr/>
        </p:nvSpPr>
        <p:spPr>
          <a:xfrm>
            <a:off x="587915" y="188950"/>
            <a:ext cx="5349523" cy="369332"/>
          </a:xfrm>
          <a:prstGeom prst="rect">
            <a:avLst/>
          </a:prstGeom>
          <a:noFill/>
        </p:spPr>
        <p:txBody>
          <a:bodyPr wrap="square">
            <a:spAutoFit/>
          </a:bodyPr>
          <a:lstStyle/>
          <a:p>
            <a:r>
              <a:rPr lang="es-ES" b="1">
                <a:solidFill>
                  <a:srgbClr val="CC00CC"/>
                </a:solidFill>
                <a:highlight>
                  <a:srgbClr val="FFFF00"/>
                </a:highlight>
              </a:rPr>
              <a:t>4.3. Diagnostico de problemas de ensanchamiento</a:t>
            </a:r>
          </a:p>
        </p:txBody>
      </p:sp>
      <p:pic>
        <p:nvPicPr>
          <p:cNvPr id="5" name="Imagen 4">
            <a:extLst>
              <a:ext uri="{FF2B5EF4-FFF2-40B4-BE49-F238E27FC236}">
                <a16:creationId xmlns:a16="http://schemas.microsoft.com/office/drawing/2014/main" id="{5E682F4A-3E39-6BB3-A607-6F5A1E178685}"/>
              </a:ext>
            </a:extLst>
          </p:cNvPr>
          <p:cNvPicPr>
            <a:picLocks noChangeAspect="1"/>
          </p:cNvPicPr>
          <p:nvPr/>
        </p:nvPicPr>
        <p:blipFill>
          <a:blip r:embed="rId2"/>
          <a:stretch>
            <a:fillRect/>
          </a:stretch>
        </p:blipFill>
        <p:spPr>
          <a:xfrm>
            <a:off x="652716" y="642557"/>
            <a:ext cx="800212" cy="2514951"/>
          </a:xfrm>
          <a:prstGeom prst="rect">
            <a:avLst/>
          </a:prstGeom>
        </p:spPr>
      </p:pic>
      <p:pic>
        <p:nvPicPr>
          <p:cNvPr id="8" name="Imagen 7">
            <a:extLst>
              <a:ext uri="{FF2B5EF4-FFF2-40B4-BE49-F238E27FC236}">
                <a16:creationId xmlns:a16="http://schemas.microsoft.com/office/drawing/2014/main" id="{96905176-33B6-0E3C-C3B5-F63144203453}"/>
              </a:ext>
            </a:extLst>
          </p:cNvPr>
          <p:cNvPicPr>
            <a:picLocks noChangeAspect="1"/>
          </p:cNvPicPr>
          <p:nvPr/>
        </p:nvPicPr>
        <p:blipFill>
          <a:blip r:embed="rId3"/>
          <a:stretch>
            <a:fillRect/>
          </a:stretch>
        </p:blipFill>
        <p:spPr>
          <a:xfrm>
            <a:off x="1624731" y="577756"/>
            <a:ext cx="5054478" cy="2625879"/>
          </a:xfrm>
          <a:prstGeom prst="rect">
            <a:avLst/>
          </a:prstGeom>
        </p:spPr>
      </p:pic>
      <p:pic>
        <p:nvPicPr>
          <p:cNvPr id="10" name="Imagen 9">
            <a:extLst>
              <a:ext uri="{FF2B5EF4-FFF2-40B4-BE49-F238E27FC236}">
                <a16:creationId xmlns:a16="http://schemas.microsoft.com/office/drawing/2014/main" id="{21FA8699-7861-FCC0-1B81-77D263E78D4C}"/>
              </a:ext>
            </a:extLst>
          </p:cNvPr>
          <p:cNvPicPr>
            <a:picLocks noChangeAspect="1"/>
          </p:cNvPicPr>
          <p:nvPr/>
        </p:nvPicPr>
        <p:blipFill>
          <a:blip r:embed="rId4"/>
          <a:srcRect t="45970"/>
          <a:stretch>
            <a:fillRect/>
          </a:stretch>
        </p:blipFill>
        <p:spPr>
          <a:xfrm>
            <a:off x="3244756" y="3688204"/>
            <a:ext cx="3972816" cy="2625879"/>
          </a:xfrm>
          <a:prstGeom prst="rect">
            <a:avLst/>
          </a:prstGeom>
        </p:spPr>
      </p:pic>
      <p:pic>
        <p:nvPicPr>
          <p:cNvPr id="11" name="Imagen 10">
            <a:extLst>
              <a:ext uri="{FF2B5EF4-FFF2-40B4-BE49-F238E27FC236}">
                <a16:creationId xmlns:a16="http://schemas.microsoft.com/office/drawing/2014/main" id="{CB27A79E-2FD6-4EC3-D415-4E9E7983C7C8}"/>
              </a:ext>
            </a:extLst>
          </p:cNvPr>
          <p:cNvPicPr>
            <a:picLocks noChangeAspect="1"/>
          </p:cNvPicPr>
          <p:nvPr/>
        </p:nvPicPr>
        <p:blipFill>
          <a:blip r:embed="rId4"/>
          <a:srcRect l="12399" r="28070" b="62029"/>
          <a:stretch>
            <a:fillRect/>
          </a:stretch>
        </p:blipFill>
        <p:spPr>
          <a:xfrm>
            <a:off x="601481" y="3712459"/>
            <a:ext cx="2578474" cy="1984576"/>
          </a:xfrm>
          <a:prstGeom prst="rect">
            <a:avLst/>
          </a:prstGeom>
        </p:spPr>
      </p:pic>
      <p:sp>
        <p:nvSpPr>
          <p:cNvPr id="15" name="CuadroTexto 14">
            <a:extLst>
              <a:ext uri="{FF2B5EF4-FFF2-40B4-BE49-F238E27FC236}">
                <a16:creationId xmlns:a16="http://schemas.microsoft.com/office/drawing/2014/main" id="{0FCE0875-8062-6D80-57A4-5E6E06ACC6F6}"/>
              </a:ext>
            </a:extLst>
          </p:cNvPr>
          <p:cNvSpPr txBox="1"/>
          <p:nvPr/>
        </p:nvSpPr>
        <p:spPr>
          <a:xfrm>
            <a:off x="633756" y="5616118"/>
            <a:ext cx="2481398" cy="923330"/>
          </a:xfrm>
          <a:prstGeom prst="rect">
            <a:avLst/>
          </a:prstGeom>
          <a:noFill/>
        </p:spPr>
        <p:txBody>
          <a:bodyPr wrap="square">
            <a:spAutoFit/>
          </a:bodyPr>
          <a:lstStyle/>
          <a:p>
            <a:r>
              <a:rPr lang="es-ES"/>
              <a:t>nos agrega 3 columnas. Que ayuda a depurar con el prefijo.</a:t>
            </a:r>
            <a:endParaRPr lang="es-MX"/>
          </a:p>
        </p:txBody>
      </p:sp>
      <p:pic>
        <p:nvPicPr>
          <p:cNvPr id="17" name="Imagen 16">
            <a:extLst>
              <a:ext uri="{FF2B5EF4-FFF2-40B4-BE49-F238E27FC236}">
                <a16:creationId xmlns:a16="http://schemas.microsoft.com/office/drawing/2014/main" id="{D644D106-06A1-0991-4664-3F433D209A4D}"/>
              </a:ext>
            </a:extLst>
          </p:cNvPr>
          <p:cNvPicPr>
            <a:picLocks noChangeAspect="1"/>
          </p:cNvPicPr>
          <p:nvPr/>
        </p:nvPicPr>
        <p:blipFill>
          <a:blip r:embed="rId5"/>
          <a:stretch>
            <a:fillRect/>
          </a:stretch>
        </p:blipFill>
        <p:spPr>
          <a:xfrm>
            <a:off x="7456821" y="373616"/>
            <a:ext cx="4410691" cy="2162477"/>
          </a:xfrm>
          <a:prstGeom prst="rect">
            <a:avLst/>
          </a:prstGeom>
        </p:spPr>
      </p:pic>
      <p:sp>
        <p:nvSpPr>
          <p:cNvPr id="21" name="CuadroTexto 20">
            <a:extLst>
              <a:ext uri="{FF2B5EF4-FFF2-40B4-BE49-F238E27FC236}">
                <a16:creationId xmlns:a16="http://schemas.microsoft.com/office/drawing/2014/main" id="{B2ACA76E-989D-A698-5A60-B7AA9276D349}"/>
              </a:ext>
            </a:extLst>
          </p:cNvPr>
          <p:cNvSpPr txBox="1"/>
          <p:nvPr/>
        </p:nvSpPr>
        <p:spPr>
          <a:xfrm>
            <a:off x="581305" y="3299247"/>
            <a:ext cx="6097904" cy="369332"/>
          </a:xfrm>
          <a:prstGeom prst="rect">
            <a:avLst/>
          </a:prstGeom>
          <a:noFill/>
        </p:spPr>
        <p:txBody>
          <a:bodyPr wrap="square">
            <a:spAutoFit/>
          </a:bodyPr>
          <a:lstStyle/>
          <a:p>
            <a:r>
              <a:rPr lang="es-MX"/>
              <a:t>Usar too_few = "debug" para investigar</a:t>
            </a:r>
          </a:p>
        </p:txBody>
      </p:sp>
      <p:sp>
        <p:nvSpPr>
          <p:cNvPr id="22" name="Rectángulo 21">
            <a:extLst>
              <a:ext uri="{FF2B5EF4-FFF2-40B4-BE49-F238E27FC236}">
                <a16:creationId xmlns:a16="http://schemas.microsoft.com/office/drawing/2014/main" id="{482AFCA1-DBC3-CC31-8650-880E76403809}"/>
              </a:ext>
            </a:extLst>
          </p:cNvPr>
          <p:cNvSpPr/>
          <p:nvPr/>
        </p:nvSpPr>
        <p:spPr>
          <a:xfrm>
            <a:off x="7309785" y="219647"/>
            <a:ext cx="54823" cy="6508234"/>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25" name="Imagen 24">
            <a:extLst>
              <a:ext uri="{FF2B5EF4-FFF2-40B4-BE49-F238E27FC236}">
                <a16:creationId xmlns:a16="http://schemas.microsoft.com/office/drawing/2014/main" id="{5EF427F1-C2B4-6AA1-BC02-DDEB117F1C73}"/>
              </a:ext>
            </a:extLst>
          </p:cNvPr>
          <p:cNvPicPr>
            <a:picLocks noChangeAspect="1"/>
          </p:cNvPicPr>
          <p:nvPr/>
        </p:nvPicPr>
        <p:blipFill>
          <a:blip r:embed="rId6"/>
          <a:stretch>
            <a:fillRect/>
          </a:stretch>
        </p:blipFill>
        <p:spPr>
          <a:xfrm>
            <a:off x="7456821" y="2635721"/>
            <a:ext cx="2934783" cy="3968528"/>
          </a:xfrm>
          <a:prstGeom prst="rect">
            <a:avLst/>
          </a:prstGeom>
        </p:spPr>
      </p:pic>
    </p:spTree>
    <p:extLst>
      <p:ext uri="{BB962C8B-B14F-4D97-AF65-F5344CB8AC3E}">
        <p14:creationId xmlns:p14="http://schemas.microsoft.com/office/powerpoint/2010/main" val="30002623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BDE11-FD3E-EEBD-2E30-D4DCD1272899}"/>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1DF59FCA-70F2-3CBA-59A4-F03857739C72}"/>
              </a:ext>
            </a:extLst>
          </p:cNvPr>
          <p:cNvSpPr txBox="1"/>
          <p:nvPr/>
        </p:nvSpPr>
        <p:spPr>
          <a:xfrm>
            <a:off x="717517" y="383353"/>
            <a:ext cx="6097904" cy="523220"/>
          </a:xfrm>
          <a:prstGeom prst="rect">
            <a:avLst/>
          </a:prstGeom>
          <a:noFill/>
        </p:spPr>
        <p:txBody>
          <a:bodyPr wrap="square">
            <a:spAutoFit/>
          </a:bodyPr>
          <a:lstStyle>
            <a:defPPr>
              <a:defRPr lang="en-US"/>
            </a:defPPr>
            <a:lvl1pPr indent="0">
              <a:buNone/>
              <a:defRPr sz="2800">
                <a:solidFill>
                  <a:srgbClr val="FFFF00"/>
                </a:solidFill>
                <a:latin typeface="Montserrat SemiBold" panose="00000700000000000000" pitchFamily="2" charset="0"/>
              </a:defRPr>
            </a:lvl1pPr>
          </a:lstStyle>
          <a:p>
            <a:r>
              <a:rPr lang="es-ES"/>
              <a:t>5. Letras</a:t>
            </a:r>
            <a:endParaRPr lang="es-MX"/>
          </a:p>
        </p:txBody>
      </p:sp>
      <p:sp>
        <p:nvSpPr>
          <p:cNvPr id="2" name="CuadroTexto 1">
            <a:extLst>
              <a:ext uri="{FF2B5EF4-FFF2-40B4-BE49-F238E27FC236}">
                <a16:creationId xmlns:a16="http://schemas.microsoft.com/office/drawing/2014/main" id="{67B914C6-1B0C-5F3B-1A72-71B00EFB936A}"/>
              </a:ext>
            </a:extLst>
          </p:cNvPr>
          <p:cNvSpPr txBox="1"/>
          <p:nvPr/>
        </p:nvSpPr>
        <p:spPr>
          <a:xfrm>
            <a:off x="717517" y="908787"/>
            <a:ext cx="2592040" cy="369332"/>
          </a:xfrm>
          <a:prstGeom prst="rect">
            <a:avLst/>
          </a:prstGeom>
          <a:noFill/>
        </p:spPr>
        <p:txBody>
          <a:bodyPr wrap="square">
            <a:spAutoFit/>
          </a:bodyPr>
          <a:lstStyle/>
          <a:p>
            <a:r>
              <a:rPr lang="es-ES" b="1">
                <a:solidFill>
                  <a:srgbClr val="CC00CC"/>
                </a:solidFill>
                <a:highlight>
                  <a:srgbClr val="FFFF00"/>
                </a:highlight>
              </a:rPr>
              <a:t>5.1. Longitud</a:t>
            </a:r>
          </a:p>
        </p:txBody>
      </p:sp>
      <p:pic>
        <p:nvPicPr>
          <p:cNvPr id="6" name="Imagen 5">
            <a:extLst>
              <a:ext uri="{FF2B5EF4-FFF2-40B4-BE49-F238E27FC236}">
                <a16:creationId xmlns:a16="http://schemas.microsoft.com/office/drawing/2014/main" id="{7A315FE1-B7EE-39DC-3BE8-948D77F42F3C}"/>
              </a:ext>
            </a:extLst>
          </p:cNvPr>
          <p:cNvPicPr>
            <a:picLocks noChangeAspect="1"/>
          </p:cNvPicPr>
          <p:nvPr/>
        </p:nvPicPr>
        <p:blipFill>
          <a:blip r:embed="rId2"/>
          <a:stretch>
            <a:fillRect/>
          </a:stretch>
        </p:blipFill>
        <p:spPr>
          <a:xfrm>
            <a:off x="757775" y="1662644"/>
            <a:ext cx="4819818" cy="1133566"/>
          </a:xfrm>
          <a:prstGeom prst="rect">
            <a:avLst/>
          </a:prstGeom>
        </p:spPr>
      </p:pic>
      <p:sp>
        <p:nvSpPr>
          <p:cNvPr id="10" name="CuadroTexto 9">
            <a:extLst>
              <a:ext uri="{FF2B5EF4-FFF2-40B4-BE49-F238E27FC236}">
                <a16:creationId xmlns:a16="http://schemas.microsoft.com/office/drawing/2014/main" id="{421B3D25-4C65-093C-1144-C2615762A25D}"/>
              </a:ext>
            </a:extLst>
          </p:cNvPr>
          <p:cNvSpPr txBox="1"/>
          <p:nvPr/>
        </p:nvSpPr>
        <p:spPr>
          <a:xfrm>
            <a:off x="717517" y="1278119"/>
            <a:ext cx="3952861" cy="369332"/>
          </a:xfrm>
          <a:prstGeom prst="rect">
            <a:avLst/>
          </a:prstGeom>
          <a:noFill/>
        </p:spPr>
        <p:txBody>
          <a:bodyPr wrap="square">
            <a:spAutoFit/>
          </a:bodyPr>
          <a:lstStyle/>
          <a:p>
            <a:r>
              <a:rPr lang="es-MX"/>
              <a:t>str_length() inidica la longitud del string</a:t>
            </a:r>
          </a:p>
        </p:txBody>
      </p:sp>
      <p:sp>
        <p:nvSpPr>
          <p:cNvPr id="14" name="CuadroTexto 13">
            <a:extLst>
              <a:ext uri="{FF2B5EF4-FFF2-40B4-BE49-F238E27FC236}">
                <a16:creationId xmlns:a16="http://schemas.microsoft.com/office/drawing/2014/main" id="{65E0FF98-C8E6-0F9A-9E7D-F12573AC6D8F}"/>
              </a:ext>
            </a:extLst>
          </p:cNvPr>
          <p:cNvSpPr txBox="1"/>
          <p:nvPr/>
        </p:nvSpPr>
        <p:spPr>
          <a:xfrm>
            <a:off x="717517" y="2845791"/>
            <a:ext cx="6097904" cy="369332"/>
          </a:xfrm>
          <a:prstGeom prst="rect">
            <a:avLst/>
          </a:prstGeom>
          <a:noFill/>
        </p:spPr>
        <p:txBody>
          <a:bodyPr wrap="square">
            <a:spAutoFit/>
          </a:bodyPr>
          <a:lstStyle/>
          <a:p>
            <a:r>
              <a:rPr lang="es-MX"/>
              <a:t>Distribución de longitudes nombres de bebés</a:t>
            </a:r>
          </a:p>
        </p:txBody>
      </p:sp>
      <p:pic>
        <p:nvPicPr>
          <p:cNvPr id="16" name="Imagen 15">
            <a:extLst>
              <a:ext uri="{FF2B5EF4-FFF2-40B4-BE49-F238E27FC236}">
                <a16:creationId xmlns:a16="http://schemas.microsoft.com/office/drawing/2014/main" id="{F775F6F8-3F51-F041-4C20-087217F754DA}"/>
              </a:ext>
            </a:extLst>
          </p:cNvPr>
          <p:cNvPicPr>
            <a:picLocks noChangeAspect="1"/>
          </p:cNvPicPr>
          <p:nvPr/>
        </p:nvPicPr>
        <p:blipFill>
          <a:blip r:embed="rId3"/>
          <a:stretch>
            <a:fillRect/>
          </a:stretch>
        </p:blipFill>
        <p:spPr>
          <a:xfrm>
            <a:off x="757774" y="3169796"/>
            <a:ext cx="4706007" cy="971686"/>
          </a:xfrm>
          <a:prstGeom prst="rect">
            <a:avLst/>
          </a:prstGeom>
        </p:spPr>
      </p:pic>
      <p:pic>
        <p:nvPicPr>
          <p:cNvPr id="18" name="Imagen 17">
            <a:extLst>
              <a:ext uri="{FF2B5EF4-FFF2-40B4-BE49-F238E27FC236}">
                <a16:creationId xmlns:a16="http://schemas.microsoft.com/office/drawing/2014/main" id="{546FDF38-E161-1489-4DA2-8726AB22C0AF}"/>
              </a:ext>
            </a:extLst>
          </p:cNvPr>
          <p:cNvPicPr>
            <a:picLocks noChangeAspect="1"/>
          </p:cNvPicPr>
          <p:nvPr/>
        </p:nvPicPr>
        <p:blipFill>
          <a:blip r:embed="rId4"/>
          <a:stretch>
            <a:fillRect/>
          </a:stretch>
        </p:blipFill>
        <p:spPr>
          <a:xfrm>
            <a:off x="757774" y="4168958"/>
            <a:ext cx="1458302" cy="2418470"/>
          </a:xfrm>
          <a:prstGeom prst="rect">
            <a:avLst/>
          </a:prstGeom>
        </p:spPr>
      </p:pic>
      <p:pic>
        <p:nvPicPr>
          <p:cNvPr id="20" name="Imagen 19">
            <a:extLst>
              <a:ext uri="{FF2B5EF4-FFF2-40B4-BE49-F238E27FC236}">
                <a16:creationId xmlns:a16="http://schemas.microsoft.com/office/drawing/2014/main" id="{DE2FCFF2-D69F-3A9B-6299-5CE139ED99CC}"/>
              </a:ext>
            </a:extLst>
          </p:cNvPr>
          <p:cNvPicPr>
            <a:picLocks noChangeAspect="1"/>
          </p:cNvPicPr>
          <p:nvPr/>
        </p:nvPicPr>
        <p:blipFill>
          <a:blip r:embed="rId5"/>
          <a:srcRect r="25134"/>
          <a:stretch>
            <a:fillRect/>
          </a:stretch>
        </p:blipFill>
        <p:spPr>
          <a:xfrm>
            <a:off x="5966398" y="253751"/>
            <a:ext cx="4816511" cy="2132161"/>
          </a:xfrm>
          <a:prstGeom prst="rect">
            <a:avLst/>
          </a:prstGeom>
        </p:spPr>
      </p:pic>
      <p:sp>
        <p:nvSpPr>
          <p:cNvPr id="22" name="CuadroTexto 21">
            <a:extLst>
              <a:ext uri="{FF2B5EF4-FFF2-40B4-BE49-F238E27FC236}">
                <a16:creationId xmlns:a16="http://schemas.microsoft.com/office/drawing/2014/main" id="{CD409771-037A-23E2-C16C-6E27DAFE8D2E}"/>
              </a:ext>
            </a:extLst>
          </p:cNvPr>
          <p:cNvSpPr txBox="1"/>
          <p:nvPr/>
        </p:nvSpPr>
        <p:spPr>
          <a:xfrm>
            <a:off x="5939989" y="2426878"/>
            <a:ext cx="6097904" cy="369332"/>
          </a:xfrm>
          <a:prstGeom prst="rect">
            <a:avLst/>
          </a:prstGeom>
          <a:noFill/>
        </p:spPr>
        <p:txBody>
          <a:bodyPr wrap="square">
            <a:spAutoFit/>
          </a:bodyPr>
          <a:lstStyle/>
          <a:p>
            <a:r>
              <a:rPr lang="es-MX"/>
              <a:t>nombres más largos (n=15)</a:t>
            </a:r>
          </a:p>
        </p:txBody>
      </p:sp>
      <p:pic>
        <p:nvPicPr>
          <p:cNvPr id="24" name="Imagen 23">
            <a:extLst>
              <a:ext uri="{FF2B5EF4-FFF2-40B4-BE49-F238E27FC236}">
                <a16:creationId xmlns:a16="http://schemas.microsoft.com/office/drawing/2014/main" id="{ADD5DBF4-34E9-8353-2349-E37696E65672}"/>
              </a:ext>
            </a:extLst>
          </p:cNvPr>
          <p:cNvPicPr>
            <a:picLocks noChangeAspect="1"/>
          </p:cNvPicPr>
          <p:nvPr/>
        </p:nvPicPr>
        <p:blipFill>
          <a:blip r:embed="rId6"/>
          <a:stretch>
            <a:fillRect/>
          </a:stretch>
        </p:blipFill>
        <p:spPr>
          <a:xfrm>
            <a:off x="5959708" y="2796210"/>
            <a:ext cx="4086795" cy="1038370"/>
          </a:xfrm>
          <a:prstGeom prst="rect">
            <a:avLst/>
          </a:prstGeom>
        </p:spPr>
      </p:pic>
      <p:pic>
        <p:nvPicPr>
          <p:cNvPr id="26" name="Imagen 25">
            <a:extLst>
              <a:ext uri="{FF2B5EF4-FFF2-40B4-BE49-F238E27FC236}">
                <a16:creationId xmlns:a16="http://schemas.microsoft.com/office/drawing/2014/main" id="{4A9FEF87-AAF3-79DC-CC77-0266FF7AA876}"/>
              </a:ext>
            </a:extLst>
          </p:cNvPr>
          <p:cNvPicPr>
            <a:picLocks noChangeAspect="1"/>
          </p:cNvPicPr>
          <p:nvPr/>
        </p:nvPicPr>
        <p:blipFill>
          <a:blip r:embed="rId7"/>
          <a:stretch>
            <a:fillRect/>
          </a:stretch>
        </p:blipFill>
        <p:spPr>
          <a:xfrm>
            <a:off x="5956518" y="3892742"/>
            <a:ext cx="1934710" cy="2460187"/>
          </a:xfrm>
          <a:prstGeom prst="rect">
            <a:avLst/>
          </a:prstGeom>
        </p:spPr>
      </p:pic>
    </p:spTree>
    <p:extLst>
      <p:ext uri="{BB962C8B-B14F-4D97-AF65-F5344CB8AC3E}">
        <p14:creationId xmlns:p14="http://schemas.microsoft.com/office/powerpoint/2010/main" val="21227722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99A9DF33-83B7-4F0D-2452-BA504D531F1F}"/>
              </a:ext>
            </a:extLst>
          </p:cNvPr>
          <p:cNvSpPr txBox="1"/>
          <p:nvPr/>
        </p:nvSpPr>
        <p:spPr>
          <a:xfrm>
            <a:off x="523114" y="448154"/>
            <a:ext cx="2592040" cy="369332"/>
          </a:xfrm>
          <a:prstGeom prst="rect">
            <a:avLst/>
          </a:prstGeom>
          <a:noFill/>
        </p:spPr>
        <p:txBody>
          <a:bodyPr wrap="square">
            <a:spAutoFit/>
          </a:bodyPr>
          <a:lstStyle/>
          <a:p>
            <a:r>
              <a:rPr lang="es-ES" b="1">
                <a:solidFill>
                  <a:srgbClr val="CC00CC"/>
                </a:solidFill>
                <a:highlight>
                  <a:srgbClr val="FFFF00"/>
                </a:highlight>
              </a:rPr>
              <a:t>5.2. Subconjunto	</a:t>
            </a:r>
          </a:p>
        </p:txBody>
      </p:sp>
      <p:pic>
        <p:nvPicPr>
          <p:cNvPr id="6" name="Imagen 5">
            <a:extLst>
              <a:ext uri="{FF2B5EF4-FFF2-40B4-BE49-F238E27FC236}">
                <a16:creationId xmlns:a16="http://schemas.microsoft.com/office/drawing/2014/main" id="{2A6B3D15-E4F5-B26E-3C34-B8AB1666E85C}"/>
              </a:ext>
            </a:extLst>
          </p:cNvPr>
          <p:cNvPicPr>
            <a:picLocks noChangeAspect="1"/>
          </p:cNvPicPr>
          <p:nvPr/>
        </p:nvPicPr>
        <p:blipFill>
          <a:blip r:embed="rId2"/>
          <a:stretch>
            <a:fillRect/>
          </a:stretch>
        </p:blipFill>
        <p:spPr>
          <a:xfrm>
            <a:off x="615489" y="966562"/>
            <a:ext cx="2629267" cy="238158"/>
          </a:xfrm>
          <a:prstGeom prst="rect">
            <a:avLst/>
          </a:prstGeom>
        </p:spPr>
      </p:pic>
      <p:pic>
        <p:nvPicPr>
          <p:cNvPr id="10" name="Imagen 9">
            <a:extLst>
              <a:ext uri="{FF2B5EF4-FFF2-40B4-BE49-F238E27FC236}">
                <a16:creationId xmlns:a16="http://schemas.microsoft.com/office/drawing/2014/main" id="{BAA2227B-B74A-EDC4-A935-A6627D138E73}"/>
              </a:ext>
            </a:extLst>
          </p:cNvPr>
          <p:cNvPicPr>
            <a:picLocks noChangeAspect="1"/>
          </p:cNvPicPr>
          <p:nvPr/>
        </p:nvPicPr>
        <p:blipFill>
          <a:blip r:embed="rId3"/>
          <a:stretch>
            <a:fillRect/>
          </a:stretch>
        </p:blipFill>
        <p:spPr>
          <a:xfrm>
            <a:off x="615489" y="1353796"/>
            <a:ext cx="4082463" cy="1382323"/>
          </a:xfrm>
          <a:prstGeom prst="rect">
            <a:avLst/>
          </a:prstGeom>
        </p:spPr>
      </p:pic>
      <p:pic>
        <p:nvPicPr>
          <p:cNvPr id="12" name="Imagen 11">
            <a:extLst>
              <a:ext uri="{FF2B5EF4-FFF2-40B4-BE49-F238E27FC236}">
                <a16:creationId xmlns:a16="http://schemas.microsoft.com/office/drawing/2014/main" id="{0741C814-67E2-AF71-FD05-13DB588F18E5}"/>
              </a:ext>
            </a:extLst>
          </p:cNvPr>
          <p:cNvPicPr>
            <a:picLocks noChangeAspect="1"/>
          </p:cNvPicPr>
          <p:nvPr/>
        </p:nvPicPr>
        <p:blipFill>
          <a:blip r:embed="rId4"/>
          <a:stretch>
            <a:fillRect/>
          </a:stretch>
        </p:blipFill>
        <p:spPr>
          <a:xfrm>
            <a:off x="615489" y="2814552"/>
            <a:ext cx="2800741" cy="1228896"/>
          </a:xfrm>
          <a:prstGeom prst="rect">
            <a:avLst/>
          </a:prstGeom>
        </p:spPr>
      </p:pic>
      <p:pic>
        <p:nvPicPr>
          <p:cNvPr id="14" name="Imagen 13">
            <a:extLst>
              <a:ext uri="{FF2B5EF4-FFF2-40B4-BE49-F238E27FC236}">
                <a16:creationId xmlns:a16="http://schemas.microsoft.com/office/drawing/2014/main" id="{0BA7164D-92C0-FA2F-493F-787DDBE8EDF8}"/>
              </a:ext>
            </a:extLst>
          </p:cNvPr>
          <p:cNvPicPr>
            <a:picLocks noChangeAspect="1"/>
          </p:cNvPicPr>
          <p:nvPr/>
        </p:nvPicPr>
        <p:blipFill>
          <a:blip r:embed="rId5"/>
          <a:stretch>
            <a:fillRect/>
          </a:stretch>
        </p:blipFill>
        <p:spPr>
          <a:xfrm>
            <a:off x="5836796" y="1369748"/>
            <a:ext cx="5550426" cy="4651291"/>
          </a:xfrm>
          <a:prstGeom prst="rect">
            <a:avLst/>
          </a:prstGeom>
        </p:spPr>
      </p:pic>
      <p:sp>
        <p:nvSpPr>
          <p:cNvPr id="15" name="Rectángulo 14">
            <a:extLst>
              <a:ext uri="{FF2B5EF4-FFF2-40B4-BE49-F238E27FC236}">
                <a16:creationId xmlns:a16="http://schemas.microsoft.com/office/drawing/2014/main" id="{21821D0F-299B-B6D3-DC95-A6CC90CF16AD}"/>
              </a:ext>
            </a:extLst>
          </p:cNvPr>
          <p:cNvSpPr/>
          <p:nvPr/>
        </p:nvSpPr>
        <p:spPr>
          <a:xfrm>
            <a:off x="5318388" y="318551"/>
            <a:ext cx="64801" cy="6156095"/>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2614599522"/>
      </p:ext>
    </p:extLst>
  </p:cSld>
  <p:clrMapOvr>
    <a:masterClrMapping/>
  </p:clrMapOvr>
</p:sld>
</file>

<file path=ppt/theme/theme1.xml><?xml version="1.0" encoding="utf-8"?>
<a:theme xmlns:a="http://schemas.openxmlformats.org/drawingml/2006/main" name="Profundidad">
  <a:themeElements>
    <a:clrScheme name="Profundidad">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Profundidad">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rofundidad">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rofundidad">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themeOverride>
</file>

<file path=docProps/app.xml><?xml version="1.0" encoding="utf-8"?>
<Properties xmlns="http://schemas.openxmlformats.org/officeDocument/2006/extended-properties" xmlns:vt="http://schemas.openxmlformats.org/officeDocument/2006/docPropsVTypes">
  <Template/>
  <TotalTime>7705</TotalTime>
  <Words>927</Words>
  <Application>Microsoft Office PowerPoint</Application>
  <PresentationFormat>Panorámica</PresentationFormat>
  <Paragraphs>131</Paragraphs>
  <Slides>32</Slides>
  <Notes>3</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32</vt:i4>
      </vt:variant>
    </vt:vector>
  </HeadingPairs>
  <TitlesOfParts>
    <vt:vector size="41" baseType="lpstr">
      <vt:lpstr>Arial</vt:lpstr>
      <vt:lpstr>Calibri</vt:lpstr>
      <vt:lpstr>Corbel</vt:lpstr>
      <vt:lpstr>Lato Black</vt:lpstr>
      <vt:lpstr>Montserrat Light</vt:lpstr>
      <vt:lpstr>Montserrat SemiBold</vt:lpstr>
      <vt:lpstr>SFMono-Regular</vt:lpstr>
      <vt:lpstr>Source Sans Pro</vt:lpstr>
      <vt:lpstr>Profundidad</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Rodrigo Charalla</dc:creator>
  <cp:lastModifiedBy>Rodrigo Charalla</cp:lastModifiedBy>
  <cp:revision>70</cp:revision>
  <dcterms:created xsi:type="dcterms:W3CDTF">2025-10-10T00:02:50Z</dcterms:created>
  <dcterms:modified xsi:type="dcterms:W3CDTF">2025-11-06T00:03:04Z</dcterms:modified>
</cp:coreProperties>
</file>