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8" r:id="rId4"/>
    <p:sldId id="264" r:id="rId5"/>
    <p:sldId id="260" r:id="rId6"/>
    <p:sldId id="265" r:id="rId7"/>
    <p:sldId id="259" r:id="rId8"/>
    <p:sldId id="261" r:id="rId9"/>
    <p:sldId id="268" r:id="rId10"/>
    <p:sldId id="269" r:id="rId11"/>
    <p:sldId id="279" r:id="rId12"/>
    <p:sldId id="280" r:id="rId13"/>
    <p:sldId id="281" r:id="rId14"/>
    <p:sldId id="282" r:id="rId15"/>
    <p:sldId id="283" r:id="rId16"/>
    <p:sldId id="270" r:id="rId17"/>
    <p:sldId id="284" r:id="rId18"/>
    <p:sldId id="285" r:id="rId19"/>
    <p:sldId id="272" r:id="rId20"/>
    <p:sldId id="286" r:id="rId21"/>
    <p:sldId id="287" r:id="rId22"/>
    <p:sldId id="288" r:id="rId23"/>
    <p:sldId id="262" r:id="rId24"/>
    <p:sldId id="273" r:id="rId25"/>
    <p:sldId id="289" r:id="rId26"/>
    <p:sldId id="274" r:id="rId27"/>
    <p:sldId id="290" r:id="rId28"/>
    <p:sldId id="275" r:id="rId29"/>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62438-B446-DCC6-0C66-2410C8325E7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0BCCF8DE-D51C-39C2-40DB-715579F6D4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50435770-449A-E03C-C278-210BBE1C1843}"/>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5" name="Marcador de pie de página 4">
            <a:extLst>
              <a:ext uri="{FF2B5EF4-FFF2-40B4-BE49-F238E27FC236}">
                <a16:creationId xmlns:a16="http://schemas.microsoft.com/office/drawing/2014/main" id="{8D99CB91-3562-38EC-09A6-47A6107AE25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D0F1D1B-A4D6-3A52-D956-5F3199A60A5F}"/>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3370352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44BBB3-654F-A99A-B366-2D476D4DDC68}"/>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FF4521B0-9893-5989-6F05-3715523EEE1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97731D24-2DAB-DF89-446A-E1B8A8838DA1}"/>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5" name="Marcador de pie de página 4">
            <a:extLst>
              <a:ext uri="{FF2B5EF4-FFF2-40B4-BE49-F238E27FC236}">
                <a16:creationId xmlns:a16="http://schemas.microsoft.com/office/drawing/2014/main" id="{ACAA2472-771C-EFE0-F62D-444EC59076D6}"/>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E1D30DAD-2CD0-0A7B-CD0B-B6C954B399CF}"/>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2766690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5C7E60-82EC-8F3B-F1CE-8642EB6FE88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BDFA6A0B-994B-88CD-9F84-9894AE5A97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70555A6-36A7-2FA8-5A3C-DCFBE181230A}"/>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5" name="Marcador de pie de página 4">
            <a:extLst>
              <a:ext uri="{FF2B5EF4-FFF2-40B4-BE49-F238E27FC236}">
                <a16:creationId xmlns:a16="http://schemas.microsoft.com/office/drawing/2014/main" id="{E6317487-0AC0-E436-3EC9-FA023673EAA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F0374AA-2AD4-9BDD-0D5D-96FA0A6BF973}"/>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3643528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AB874-1B29-8635-F194-BBD6A7FB71AE}"/>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37C3F2FF-F65E-D7A1-24B2-DC30A81A232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3C69D556-8276-2B23-67EB-312E8EA4BDC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E12A6C94-EC62-0056-3AB2-290F73486DD7}"/>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6" name="Marcador de pie de página 5">
            <a:extLst>
              <a:ext uri="{FF2B5EF4-FFF2-40B4-BE49-F238E27FC236}">
                <a16:creationId xmlns:a16="http://schemas.microsoft.com/office/drawing/2014/main" id="{A9694FE7-C7D6-3938-7FAE-762DAF78F044}"/>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11239236-74D6-5E29-619F-B845FB3B4303}"/>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277125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44BA2-CFCC-7400-7477-58A28F94E01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2407C314-7682-1BA6-8AE4-1BF62CF4C3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BF3E91A-1732-B096-2793-34485B79369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C6CEFCB-B8B6-5F2C-84C2-BEECEBDB96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4B5AEA-6AB1-FD99-4DEE-E5FBFE5DCE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E80F5D87-CA0E-D2CB-66D0-94FA01A10C22}"/>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8" name="Marcador de pie de página 7">
            <a:extLst>
              <a:ext uri="{FF2B5EF4-FFF2-40B4-BE49-F238E27FC236}">
                <a16:creationId xmlns:a16="http://schemas.microsoft.com/office/drawing/2014/main" id="{E9E77F7C-9819-A29C-2A18-5E34FBE13E39}"/>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E250625A-75FC-2CEC-756A-45E4A3D840E3}"/>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1396867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5F996F-8CE5-769C-EAB0-CF6B649A0E8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0E523094-C2B6-F062-4B27-A83996AD12E2}"/>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4" name="Marcador de pie de página 3">
            <a:extLst>
              <a:ext uri="{FF2B5EF4-FFF2-40B4-BE49-F238E27FC236}">
                <a16:creationId xmlns:a16="http://schemas.microsoft.com/office/drawing/2014/main" id="{93953CEB-8C8F-BA41-5702-9EC23DFFFE85}"/>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E7A0EE8D-B481-458B-064A-CE18A6A8AA50}"/>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3347838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D7666E0-591A-5C68-DB41-6C57E93FAAA7}"/>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3" name="Marcador de pie de página 2">
            <a:extLst>
              <a:ext uri="{FF2B5EF4-FFF2-40B4-BE49-F238E27FC236}">
                <a16:creationId xmlns:a16="http://schemas.microsoft.com/office/drawing/2014/main" id="{095D441B-7903-23CE-E90C-01A76BC1196D}"/>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8549C53F-1E7D-3F8C-96D0-43BAAF8F5CEB}"/>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2562941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CD1C21-3685-8427-8100-BDFEF0C02D3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ECC03ED-ACF4-3E16-C1B9-FD730D0404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F2B97D3F-33B4-C650-095B-8E9F0842A7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474FCA6-C334-6BBF-9302-9ECD4E33DFDD}"/>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6" name="Marcador de pie de página 5">
            <a:extLst>
              <a:ext uri="{FF2B5EF4-FFF2-40B4-BE49-F238E27FC236}">
                <a16:creationId xmlns:a16="http://schemas.microsoft.com/office/drawing/2014/main" id="{14038820-EFC0-D1FB-DDAB-14B8488EBE89}"/>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D8E5646A-81CD-47A7-8FFA-B846A4705D08}"/>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3930423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BD37E9-5354-0C76-8F39-FC661C6830F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A4772A00-5939-5737-78F0-8312A92B2D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D1BB6CFD-48FD-00A4-A4F7-952761A576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FEF8625-B28F-E51C-4634-2211B4A85F2B}"/>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6" name="Marcador de pie de página 5">
            <a:extLst>
              <a:ext uri="{FF2B5EF4-FFF2-40B4-BE49-F238E27FC236}">
                <a16:creationId xmlns:a16="http://schemas.microsoft.com/office/drawing/2014/main" id="{07C1474D-A0E8-4ED9-3DFC-3690E24A2E2B}"/>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7BE3CF5F-2427-D87F-7525-871CE4B0050B}"/>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425528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122DB6-0F6C-5773-E5D9-3ACB20101C9D}"/>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CBDA2C8C-D6BB-99FC-1EB3-D8744C8A09E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C6E28F6B-FA6F-96B2-AA8C-C9594642118F}"/>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5" name="Marcador de pie de página 4">
            <a:extLst>
              <a:ext uri="{FF2B5EF4-FFF2-40B4-BE49-F238E27FC236}">
                <a16:creationId xmlns:a16="http://schemas.microsoft.com/office/drawing/2014/main" id="{6B0820DF-B540-EA09-E190-79D943F1960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2D4B2AD3-EE66-181A-5298-D4EC1EFE6F8A}"/>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924035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D9558E6-9E0B-FF60-752F-12829A4D741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65CF94A6-6CC4-75F9-ED9E-156953B0761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919370F-AFE8-3FEC-C97E-CAD318350AB0}"/>
              </a:ext>
            </a:extLst>
          </p:cNvPr>
          <p:cNvSpPr>
            <a:spLocks noGrp="1"/>
          </p:cNvSpPr>
          <p:nvPr>
            <p:ph type="dt" sz="half" idx="10"/>
          </p:nvPr>
        </p:nvSpPr>
        <p:spPr/>
        <p:txBody>
          <a:bodyPr/>
          <a:lstStyle/>
          <a:p>
            <a:fld id="{9689860C-3C30-4458-A898-191CFEC70350}" type="datetimeFigureOut">
              <a:rPr lang="es-EC" smtClean="0"/>
              <a:t>21/9/2025</a:t>
            </a:fld>
            <a:endParaRPr lang="es-EC"/>
          </a:p>
        </p:txBody>
      </p:sp>
      <p:sp>
        <p:nvSpPr>
          <p:cNvPr id="5" name="Marcador de pie de página 4">
            <a:extLst>
              <a:ext uri="{FF2B5EF4-FFF2-40B4-BE49-F238E27FC236}">
                <a16:creationId xmlns:a16="http://schemas.microsoft.com/office/drawing/2014/main" id="{CBFA5218-9448-EFED-789E-2B623D0E45A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5998A8F-A574-BA6A-81BE-C76E9A6D225E}"/>
              </a:ext>
            </a:extLst>
          </p:cNvPr>
          <p:cNvSpPr>
            <a:spLocks noGrp="1"/>
          </p:cNvSpPr>
          <p:nvPr>
            <p:ph type="sldNum" sz="quarter" idx="12"/>
          </p:nvPr>
        </p:nvSpPr>
        <p:spPr/>
        <p:txBody>
          <a:bodyPr/>
          <a:lstStyle/>
          <a:p>
            <a:fld id="{3395E439-9BCF-4DF4-AC3D-50432FBF2A6A}" type="slidenum">
              <a:rPr lang="es-EC" smtClean="0"/>
              <a:t>‹Nº›</a:t>
            </a:fld>
            <a:endParaRPr lang="es-EC"/>
          </a:p>
        </p:txBody>
      </p:sp>
    </p:spTree>
    <p:extLst>
      <p:ext uri="{BB962C8B-B14F-4D97-AF65-F5344CB8AC3E}">
        <p14:creationId xmlns:p14="http://schemas.microsoft.com/office/powerpoint/2010/main" val="3936054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D5BA188-51B9-C925-57FD-914ABD9B53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D6DDD2ED-E018-E07F-ED36-ACF9B705A8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25D41F56-1EB9-7FD6-4FE6-664359A63F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89860C-3C30-4458-A898-191CFEC70350}" type="datetimeFigureOut">
              <a:rPr lang="es-EC" smtClean="0"/>
              <a:t>21/9/2025</a:t>
            </a:fld>
            <a:endParaRPr lang="es-EC"/>
          </a:p>
        </p:txBody>
      </p:sp>
      <p:sp>
        <p:nvSpPr>
          <p:cNvPr id="5" name="Marcador de pie de página 4">
            <a:extLst>
              <a:ext uri="{FF2B5EF4-FFF2-40B4-BE49-F238E27FC236}">
                <a16:creationId xmlns:a16="http://schemas.microsoft.com/office/drawing/2014/main" id="{D5E56481-D428-6DE9-1EB5-DB8ECD28CB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1A268C5E-90D7-C631-0713-A83C87596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95E439-9BCF-4DF4-AC3D-50432FBF2A6A}" type="slidenum">
              <a:rPr lang="es-EC" smtClean="0"/>
              <a:t>‹Nº›</a:t>
            </a:fld>
            <a:endParaRPr lang="es-EC"/>
          </a:p>
        </p:txBody>
      </p:sp>
    </p:spTree>
    <p:extLst>
      <p:ext uri="{BB962C8B-B14F-4D97-AF65-F5344CB8AC3E}">
        <p14:creationId xmlns:p14="http://schemas.microsoft.com/office/powerpoint/2010/main" val="622390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https://aditya-dahiya.github.io/RfDS2solutions/" TargetMode="External"/><Relationship Id="rId5" Type="http://schemas.openxmlformats.org/officeDocument/2006/relationships/image" Target="../media/image2.jpg"/><Relationship Id="rId4" Type="http://schemas.openxmlformats.org/officeDocument/2006/relationships/hyperlink" Target="https://datascienceforbio.com/calculate-standard-deviation-in-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Rdatatable/data.table" TargetMode="External"/><Relationship Id="rId2" Type="http://schemas.openxmlformats.org/officeDocument/2006/relationships/hyperlink" Target="https://www.tmwr.org/"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posit.co/download/rstudio-desktop/" TargetMode="External"/><Relationship Id="rId2" Type="http://schemas.openxmlformats.org/officeDocument/2006/relationships/hyperlink" Target="https://cloud.r-project.org/" TargetMode="Externa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hyperlink" Target="https://www.youtube.com/watch?v=LgwT8OS7e5c" TargetMode="Externa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hyperlink" Target="https://tidyverse.tidyverse.org/reference/tidyverse_update.html" TargetMode="External"/><Relationship Id="rId2" Type="http://schemas.openxmlformats.org/officeDocument/2006/relationships/hyperlink" Target="https://rdrr.io/r/base/library.html"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www.analyticsvidhya.com/blog/2016/02/complete-tutorial-learn-data-science-scratch/"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ggplot2.tidyverse.org/reference/ggsave.html" TargetMode="Externa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radoseis.blogspot.com/2012/04/gracias.html" TargetMode="External"/><Relationship Id="rId2" Type="http://schemas.openxmlformats.org/officeDocument/2006/relationships/image" Target="../media/image3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11A97195-5A51-9846-1E61-049197A9A72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30000"/>
                    </a14:imgEffect>
                    <a14:imgEffect>
                      <a14:saturation sat="75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9427" y="9833"/>
            <a:ext cx="12201428" cy="6860032"/>
          </a:xfrm>
          <a:prstGeom prst="rect">
            <a:avLst/>
          </a:prstGeom>
          <a:noFill/>
        </p:spPr>
      </p:pic>
      <p:sp>
        <p:nvSpPr>
          <p:cNvPr id="2" name="Título 1">
            <a:extLst>
              <a:ext uri="{FF2B5EF4-FFF2-40B4-BE49-F238E27FC236}">
                <a16:creationId xmlns:a16="http://schemas.microsoft.com/office/drawing/2014/main" id="{EE10DD21-76DB-FC63-6A36-9B815E8DA763}"/>
              </a:ext>
            </a:extLst>
          </p:cNvPr>
          <p:cNvSpPr>
            <a:spLocks noGrp="1"/>
          </p:cNvSpPr>
          <p:nvPr>
            <p:ph type="ctrTitle"/>
          </p:nvPr>
        </p:nvSpPr>
        <p:spPr>
          <a:xfrm>
            <a:off x="3730837" y="9833"/>
            <a:ext cx="8461164" cy="1187224"/>
          </a:xfrm>
          <a:effectLst>
            <a:outerShdw blurRad="50800" dist="38100" dir="2700000" algn="tl" rotWithShape="0">
              <a:prstClr val="black">
                <a:alpha val="40000"/>
              </a:prstClr>
            </a:outerShdw>
          </a:effectLst>
        </p:spPr>
        <p:txBody>
          <a:bodyPr>
            <a:noAutofit/>
          </a:bodyPr>
          <a:lstStyle/>
          <a:p>
            <a:r>
              <a:rPr lang="es-EC" sz="6600" b="1" dirty="0">
                <a:solidFill>
                  <a:schemeClr val="bg2"/>
                </a:solidFill>
                <a:effectLst>
                  <a:outerShdw blurRad="38100" dist="38100" dir="2700000" algn="tl">
                    <a:srgbClr val="000000">
                      <a:alpha val="43137"/>
                    </a:srgbClr>
                  </a:outerShdw>
                </a:effectLst>
                <a:latin typeface="Arial Rounded MT Bold" panose="020F0704030504030204" pitchFamily="34" charset="0"/>
              </a:rPr>
              <a:t>CLUB DE LECTURA</a:t>
            </a:r>
          </a:p>
        </p:txBody>
      </p:sp>
      <p:sp>
        <p:nvSpPr>
          <p:cNvPr id="3" name="Subtítulo 2">
            <a:extLst>
              <a:ext uri="{FF2B5EF4-FFF2-40B4-BE49-F238E27FC236}">
                <a16:creationId xmlns:a16="http://schemas.microsoft.com/office/drawing/2014/main" id="{2791CA49-E2E9-F1C0-44AB-42097360A633}"/>
              </a:ext>
            </a:extLst>
          </p:cNvPr>
          <p:cNvSpPr>
            <a:spLocks noGrp="1"/>
          </p:cNvSpPr>
          <p:nvPr>
            <p:ph type="subTitle" idx="1"/>
          </p:nvPr>
        </p:nvSpPr>
        <p:spPr>
          <a:xfrm>
            <a:off x="-1" y="3989461"/>
            <a:ext cx="5584723" cy="2880404"/>
          </a:xfrm>
          <a:prstGeom prst="round1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normAutofit/>
          </a:bodyPr>
          <a:lstStyle/>
          <a:p>
            <a:r>
              <a:rPr lang="es-EC" sz="4300" b="1" dirty="0">
                <a:solidFill>
                  <a:srgbClr val="0070C0"/>
                </a:solidFill>
              </a:rPr>
              <a:t>SESION 01</a:t>
            </a:r>
          </a:p>
          <a:p>
            <a:pPr marL="342900" indent="-342900" algn="l">
              <a:buFont typeface="Arial" panose="020B0604020202020204" pitchFamily="34" charset="0"/>
              <a:buChar char="•"/>
            </a:pPr>
            <a:r>
              <a:rPr lang="es-EC" sz="3600" dirty="0">
                <a:solidFill>
                  <a:schemeClr val="accent2">
                    <a:lumMod val="75000"/>
                  </a:schemeClr>
                </a:solidFill>
              </a:rPr>
              <a:t>INTRODUCCIÓN</a:t>
            </a:r>
          </a:p>
          <a:p>
            <a:pPr marL="342900" indent="-342900" algn="l">
              <a:buFont typeface="Arial" panose="020B0604020202020204" pitchFamily="34" charset="0"/>
              <a:buChar char="•"/>
            </a:pPr>
            <a:r>
              <a:rPr lang="es-EC" sz="3600" dirty="0">
                <a:solidFill>
                  <a:schemeClr val="accent5">
                    <a:lumMod val="75000"/>
                  </a:schemeClr>
                </a:solidFill>
              </a:rPr>
              <a:t>VISUALIZACIÓN DE DATOS</a:t>
            </a:r>
          </a:p>
          <a:p>
            <a:pPr marL="342900" indent="-342900" algn="l">
              <a:buFont typeface="Arial" panose="020B0604020202020204" pitchFamily="34" charset="0"/>
              <a:buChar char="•"/>
            </a:pPr>
            <a:r>
              <a:rPr lang="es-EC" sz="3600" dirty="0">
                <a:solidFill>
                  <a:schemeClr val="accent6">
                    <a:lumMod val="75000"/>
                  </a:schemeClr>
                </a:solidFill>
              </a:rPr>
              <a:t>FLUJOS DE TRABAJO</a:t>
            </a:r>
          </a:p>
        </p:txBody>
      </p:sp>
      <p:pic>
        <p:nvPicPr>
          <p:cNvPr id="5" name="Imagen 4">
            <a:extLst>
              <a:ext uri="{FF2B5EF4-FFF2-40B4-BE49-F238E27FC236}">
                <a16:creationId xmlns:a16="http://schemas.microsoft.com/office/drawing/2014/main" id="{35C3903A-C9D4-D4C9-9D44-FD4621B4238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9428" y="0"/>
            <a:ext cx="3033253" cy="3979628"/>
          </a:xfrm>
          <a:prstGeom prst="rect">
            <a:avLst/>
          </a:prstGeom>
        </p:spPr>
      </p:pic>
      <p:sp>
        <p:nvSpPr>
          <p:cNvPr id="12" name="Subtítulo 2">
            <a:extLst>
              <a:ext uri="{FF2B5EF4-FFF2-40B4-BE49-F238E27FC236}">
                <a16:creationId xmlns:a16="http://schemas.microsoft.com/office/drawing/2014/main" id="{82521103-A166-7512-9231-D9E90C422C8E}"/>
              </a:ext>
            </a:extLst>
          </p:cNvPr>
          <p:cNvSpPr txBox="1">
            <a:spLocks/>
          </p:cNvSpPr>
          <p:nvPr/>
        </p:nvSpPr>
        <p:spPr>
          <a:xfrm>
            <a:off x="7669158" y="6410633"/>
            <a:ext cx="4439384" cy="437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s-EC" b="1" dirty="0">
                <a:solidFill>
                  <a:srgbClr val="FFFF00"/>
                </a:solidFill>
              </a:rPr>
              <a:t>EXPONENTE: HENRY GUARANDA</a:t>
            </a:r>
            <a:endParaRPr lang="es-EC" sz="1200" dirty="0">
              <a:solidFill>
                <a:srgbClr val="FFFF00"/>
              </a:solidFill>
            </a:endParaRPr>
          </a:p>
        </p:txBody>
      </p:sp>
      <p:sp>
        <p:nvSpPr>
          <p:cNvPr id="14" name="Título 1">
            <a:extLst>
              <a:ext uri="{FF2B5EF4-FFF2-40B4-BE49-F238E27FC236}">
                <a16:creationId xmlns:a16="http://schemas.microsoft.com/office/drawing/2014/main" id="{EE3CF9CD-FB4B-FCFC-83FF-19562B82D015}"/>
              </a:ext>
            </a:extLst>
          </p:cNvPr>
          <p:cNvSpPr txBox="1">
            <a:spLocks/>
          </p:cNvSpPr>
          <p:nvPr/>
        </p:nvSpPr>
        <p:spPr>
          <a:xfrm>
            <a:off x="8967020" y="3883740"/>
            <a:ext cx="3224982" cy="258710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C" b="1" dirty="0">
                <a:solidFill>
                  <a:schemeClr val="bg1"/>
                </a:solidFill>
                <a:effectLst>
                  <a:outerShdw blurRad="38100" dist="38100" dir="2700000" algn="tl">
                    <a:srgbClr val="000000">
                      <a:alpha val="43137"/>
                    </a:srgbClr>
                  </a:outerShdw>
                </a:effectLst>
                <a:latin typeface="Bahnschrift" panose="020B0502040204020203" pitchFamily="34" charset="0"/>
              </a:rPr>
              <a:t>FOR DATA SCIENCE</a:t>
            </a:r>
          </a:p>
        </p:txBody>
      </p:sp>
      <p:sp>
        <p:nvSpPr>
          <p:cNvPr id="15" name="Rectángulo: esquinas redondeadas 14">
            <a:extLst>
              <a:ext uri="{FF2B5EF4-FFF2-40B4-BE49-F238E27FC236}">
                <a16:creationId xmlns:a16="http://schemas.microsoft.com/office/drawing/2014/main" id="{E54205CE-EB5B-31EB-E718-8C2ADA5D7184}"/>
              </a:ext>
            </a:extLst>
          </p:cNvPr>
          <p:cNvSpPr/>
          <p:nvPr/>
        </p:nvSpPr>
        <p:spPr>
          <a:xfrm>
            <a:off x="6467224" y="1105486"/>
            <a:ext cx="3421626" cy="560461"/>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C" sz="2400" b="1" dirty="0">
                <a:solidFill>
                  <a:schemeClr val="tx1"/>
                </a:solidFill>
              </a:rPr>
              <a:t>SEGUNDA TEMPORADA</a:t>
            </a:r>
          </a:p>
        </p:txBody>
      </p:sp>
    </p:spTree>
    <p:extLst>
      <p:ext uri="{BB962C8B-B14F-4D97-AF65-F5344CB8AC3E}">
        <p14:creationId xmlns:p14="http://schemas.microsoft.com/office/powerpoint/2010/main" val="3294824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B34088-A3F3-0A53-F759-CDF2D8CD6869}"/>
              </a:ext>
            </a:extLst>
          </p:cNvPr>
          <p:cNvSpPr>
            <a:spLocks noGrp="1"/>
          </p:cNvSpPr>
          <p:nvPr>
            <p:ph type="title"/>
          </p:nvPr>
        </p:nvSpPr>
        <p:spPr>
          <a:xfrm>
            <a:off x="838200" y="365125"/>
            <a:ext cx="10515600" cy="1325563"/>
          </a:xfrm>
        </p:spPr>
        <p:txBody>
          <a:bodyPr>
            <a:normAutofit/>
          </a:bodyPr>
          <a:lstStyle/>
          <a:p>
            <a:r>
              <a:rPr lang="es-EC" sz="5000" b="1" dirty="0">
                <a:solidFill>
                  <a:schemeClr val="accent2">
                    <a:lumMod val="75000"/>
                  </a:schemeClr>
                </a:solidFill>
              </a:rPr>
              <a:t>INTRODUCCIÓN</a:t>
            </a:r>
            <a:endParaRPr lang="es-EC" sz="5000" dirty="0"/>
          </a:p>
        </p:txBody>
      </p:sp>
      <p:sp>
        <p:nvSpPr>
          <p:cNvPr id="11" name="Marcador de texto 3">
            <a:extLst>
              <a:ext uri="{FF2B5EF4-FFF2-40B4-BE49-F238E27FC236}">
                <a16:creationId xmlns:a16="http://schemas.microsoft.com/office/drawing/2014/main" id="{546A379F-CE14-9CD9-C975-5544E77F0C8A}"/>
              </a:ext>
            </a:extLst>
          </p:cNvPr>
          <p:cNvSpPr txBox="1">
            <a:spLocks/>
          </p:cNvSpPr>
          <p:nvPr/>
        </p:nvSpPr>
        <p:spPr>
          <a:xfrm>
            <a:off x="839788" y="2057399"/>
            <a:ext cx="5256212" cy="406059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dirty="0">
                <a:solidFill>
                  <a:srgbClr val="0070C0"/>
                </a:solidFill>
              </a:rPr>
              <a:t>Contenido:</a:t>
            </a:r>
          </a:p>
          <a:p>
            <a:pPr algn="just">
              <a:buFont typeface="Wingdings" panose="05000000000000000000" pitchFamily="2" charset="2"/>
              <a:buChar char="Ø"/>
            </a:pPr>
            <a:r>
              <a:rPr lang="es-ES" dirty="0"/>
              <a:t> Lo que aprenderás.</a:t>
            </a:r>
          </a:p>
          <a:p>
            <a:pPr algn="just">
              <a:buFont typeface="Wingdings" panose="05000000000000000000" pitchFamily="2" charset="2"/>
              <a:buChar char="Ø"/>
            </a:pPr>
            <a:r>
              <a:rPr lang="es-ES" dirty="0"/>
              <a:t> Cómo está organizado este libro.</a:t>
            </a:r>
          </a:p>
          <a:p>
            <a:pPr algn="just">
              <a:buFont typeface="Wingdings" panose="05000000000000000000" pitchFamily="2" charset="2"/>
              <a:buChar char="Ø"/>
            </a:pPr>
            <a:r>
              <a:rPr lang="es-ES" dirty="0"/>
              <a:t> Lo que no aprenderás.</a:t>
            </a:r>
          </a:p>
          <a:p>
            <a:pPr algn="just">
              <a:buFont typeface="Wingdings" panose="05000000000000000000" pitchFamily="2" charset="2"/>
              <a:buChar char="Ø"/>
            </a:pPr>
            <a:r>
              <a:rPr lang="es-ES" dirty="0"/>
              <a:t> Prerrequisitos.</a:t>
            </a:r>
          </a:p>
          <a:p>
            <a:pPr algn="just">
              <a:buFont typeface="Wingdings" panose="05000000000000000000" pitchFamily="2" charset="2"/>
              <a:buChar char="Ø"/>
            </a:pPr>
            <a:r>
              <a:rPr lang="es-ES" dirty="0"/>
              <a:t> Ejecución de códigos R.</a:t>
            </a:r>
            <a:endParaRPr lang="es-EC" dirty="0"/>
          </a:p>
        </p:txBody>
      </p:sp>
    </p:spTree>
    <p:extLst>
      <p:ext uri="{BB962C8B-B14F-4D97-AF65-F5344CB8AC3E}">
        <p14:creationId xmlns:p14="http://schemas.microsoft.com/office/powerpoint/2010/main" val="3485424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6FB1F-40CA-2BC0-1907-3EB0565D873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0667D5-86F1-0AEF-733E-6AE24AAEC1D1}"/>
              </a:ext>
            </a:extLst>
          </p:cNvPr>
          <p:cNvSpPr>
            <a:spLocks noGrp="1"/>
          </p:cNvSpPr>
          <p:nvPr>
            <p:ph type="title"/>
          </p:nvPr>
        </p:nvSpPr>
        <p:spPr>
          <a:xfrm>
            <a:off x="838200" y="365125"/>
            <a:ext cx="10515600" cy="1325563"/>
          </a:xfrm>
        </p:spPr>
        <p:txBody>
          <a:bodyPr>
            <a:normAutofit/>
          </a:bodyPr>
          <a:lstStyle/>
          <a:p>
            <a:r>
              <a:rPr lang="es-EC" sz="5000" b="1" dirty="0">
                <a:solidFill>
                  <a:schemeClr val="accent2">
                    <a:lumMod val="40000"/>
                    <a:lumOff val="60000"/>
                  </a:schemeClr>
                </a:solidFill>
              </a:rPr>
              <a:t>INTRODUCCIÓN</a:t>
            </a:r>
            <a:endParaRPr lang="es-EC" sz="5000" dirty="0">
              <a:solidFill>
                <a:schemeClr val="accent2">
                  <a:lumMod val="40000"/>
                  <a:lumOff val="60000"/>
                </a:schemeClr>
              </a:solidFill>
            </a:endParaRPr>
          </a:p>
        </p:txBody>
      </p:sp>
      <p:pic>
        <p:nvPicPr>
          <p:cNvPr id="5" name="Marcador de contenido 4">
            <a:extLst>
              <a:ext uri="{FF2B5EF4-FFF2-40B4-BE49-F238E27FC236}">
                <a16:creationId xmlns:a16="http://schemas.microsoft.com/office/drawing/2014/main" id="{D5F4F6AC-E641-5D84-9A23-45EC96EDC7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9696" y="2291731"/>
            <a:ext cx="6449325" cy="2438740"/>
          </a:xfrm>
        </p:spPr>
      </p:pic>
      <p:sp>
        <p:nvSpPr>
          <p:cNvPr id="11" name="Marcador de texto 3">
            <a:extLst>
              <a:ext uri="{FF2B5EF4-FFF2-40B4-BE49-F238E27FC236}">
                <a16:creationId xmlns:a16="http://schemas.microsoft.com/office/drawing/2014/main" id="{3CB4F1A1-7CFC-5AAE-22B9-3FB70034D1B2}"/>
              </a:ext>
            </a:extLst>
          </p:cNvPr>
          <p:cNvSpPr txBox="1">
            <a:spLocks/>
          </p:cNvSpPr>
          <p:nvPr/>
        </p:nvSpPr>
        <p:spPr>
          <a:xfrm>
            <a:off x="839788" y="2057400"/>
            <a:ext cx="4015016" cy="3811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dirty="0"/>
              <a:t>La </a:t>
            </a:r>
            <a:r>
              <a:rPr lang="es-ES" dirty="0">
                <a:solidFill>
                  <a:srgbClr val="0070C0"/>
                </a:solidFill>
              </a:rPr>
              <a:t>ciencia de datos</a:t>
            </a:r>
            <a:r>
              <a:rPr lang="es-ES" dirty="0"/>
              <a:t> (</a:t>
            </a:r>
            <a:r>
              <a:rPr lang="es-ES" i="1" dirty="0"/>
              <a:t>data </a:t>
            </a:r>
            <a:r>
              <a:rPr lang="es-ES" i="1" dirty="0" err="1"/>
              <a:t>science</a:t>
            </a:r>
            <a:r>
              <a:rPr lang="es-ES" dirty="0"/>
              <a:t>) es una disciplina que te permite convertir datos sin procesar en entendimiento, comprensión y conocimiento.</a:t>
            </a:r>
            <a:endParaRPr lang="es-EC" dirty="0"/>
          </a:p>
        </p:txBody>
      </p:sp>
      <p:sp>
        <p:nvSpPr>
          <p:cNvPr id="3" name="Marcador de texto 6">
            <a:extLst>
              <a:ext uri="{FF2B5EF4-FFF2-40B4-BE49-F238E27FC236}">
                <a16:creationId xmlns:a16="http://schemas.microsoft.com/office/drawing/2014/main" id="{3A9C0E60-1E21-D137-7257-C261D96C9095}"/>
              </a:ext>
            </a:extLst>
          </p:cNvPr>
          <p:cNvSpPr txBox="1">
            <a:spLocks/>
          </p:cNvSpPr>
          <p:nvPr/>
        </p:nvSpPr>
        <p:spPr>
          <a:xfrm>
            <a:off x="6795833" y="755342"/>
            <a:ext cx="5183188"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C" sz="3200" b="1" dirty="0">
                <a:solidFill>
                  <a:schemeClr val="accent2">
                    <a:lumMod val="75000"/>
                  </a:schemeClr>
                </a:solidFill>
              </a:rPr>
              <a:t>Lo que aprenderás:</a:t>
            </a:r>
          </a:p>
        </p:txBody>
      </p:sp>
    </p:spTree>
    <p:extLst>
      <p:ext uri="{BB962C8B-B14F-4D97-AF65-F5344CB8AC3E}">
        <p14:creationId xmlns:p14="http://schemas.microsoft.com/office/powerpoint/2010/main" val="349938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1+#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BD3C4-2119-9A0E-EB6D-1A42FC9466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4ABF37-5252-E837-6EA9-BBFEDAD1ABE2}"/>
              </a:ext>
            </a:extLst>
          </p:cNvPr>
          <p:cNvSpPr>
            <a:spLocks noGrp="1"/>
          </p:cNvSpPr>
          <p:nvPr>
            <p:ph type="title"/>
          </p:nvPr>
        </p:nvSpPr>
        <p:spPr/>
        <p:txBody>
          <a:bodyPr>
            <a:normAutofit/>
          </a:bodyPr>
          <a:lstStyle/>
          <a:p>
            <a:r>
              <a:rPr lang="es-EC" sz="5000" b="1" dirty="0">
                <a:solidFill>
                  <a:schemeClr val="accent2">
                    <a:lumMod val="40000"/>
                    <a:lumOff val="60000"/>
                  </a:schemeClr>
                </a:solidFill>
              </a:rPr>
              <a:t>INTRODUCCIÓN</a:t>
            </a:r>
          </a:p>
        </p:txBody>
      </p:sp>
      <p:sp>
        <p:nvSpPr>
          <p:cNvPr id="6" name="Marcador de texto 5">
            <a:extLst>
              <a:ext uri="{FF2B5EF4-FFF2-40B4-BE49-F238E27FC236}">
                <a16:creationId xmlns:a16="http://schemas.microsoft.com/office/drawing/2014/main" id="{76EBE88B-E867-97F1-B550-62B2956B84CC}"/>
              </a:ext>
            </a:extLst>
          </p:cNvPr>
          <p:cNvSpPr>
            <a:spLocks noGrp="1"/>
          </p:cNvSpPr>
          <p:nvPr>
            <p:ph type="body" idx="1"/>
          </p:nvPr>
        </p:nvSpPr>
        <p:spPr>
          <a:xfrm>
            <a:off x="839788" y="1296155"/>
            <a:ext cx="5157787" cy="823912"/>
          </a:xfrm>
        </p:spPr>
        <p:txBody>
          <a:bodyPr>
            <a:normAutofit fontScale="92500"/>
          </a:bodyPr>
          <a:lstStyle/>
          <a:p>
            <a:r>
              <a:rPr lang="es-EC" sz="3200" dirty="0">
                <a:solidFill>
                  <a:schemeClr val="accent2">
                    <a:lumMod val="75000"/>
                  </a:schemeClr>
                </a:solidFill>
              </a:rPr>
              <a:t>Cómo está organizado el libro.</a:t>
            </a:r>
          </a:p>
        </p:txBody>
      </p:sp>
      <p:sp>
        <p:nvSpPr>
          <p:cNvPr id="4" name="Marcador de contenido 3">
            <a:extLst>
              <a:ext uri="{FF2B5EF4-FFF2-40B4-BE49-F238E27FC236}">
                <a16:creationId xmlns:a16="http://schemas.microsoft.com/office/drawing/2014/main" id="{16AF4989-9B9F-A7DB-CE35-5926ADE08819}"/>
              </a:ext>
            </a:extLst>
          </p:cNvPr>
          <p:cNvSpPr>
            <a:spLocks noGrp="1"/>
          </p:cNvSpPr>
          <p:nvPr>
            <p:ph sz="half" idx="2"/>
          </p:nvPr>
        </p:nvSpPr>
        <p:spPr>
          <a:xfrm>
            <a:off x="839788" y="2120067"/>
            <a:ext cx="5157787" cy="3684588"/>
          </a:xfrm>
        </p:spPr>
        <p:txBody>
          <a:bodyPr>
            <a:normAutofit fontScale="92500" lnSpcReduction="10000"/>
          </a:bodyPr>
          <a:lstStyle/>
          <a:p>
            <a:pPr marL="0" indent="0" algn="just">
              <a:buNone/>
            </a:pPr>
            <a:r>
              <a:rPr lang="es-EC" dirty="0"/>
              <a:t>Aprender a importar y ordenar datos al principio no es óptimo.</a:t>
            </a:r>
          </a:p>
          <a:p>
            <a:pPr>
              <a:buFontTx/>
              <a:buChar char="-"/>
            </a:pPr>
            <a:r>
              <a:rPr lang="es-EC" dirty="0"/>
              <a:t>80% rutinario y aburrido.</a:t>
            </a:r>
          </a:p>
          <a:p>
            <a:pPr>
              <a:buFontTx/>
              <a:buChar char="-"/>
            </a:pPr>
            <a:r>
              <a:rPr lang="es-EC" dirty="0"/>
              <a:t>20% extraño y frustrante.</a:t>
            </a:r>
          </a:p>
          <a:p>
            <a:pPr marL="0" indent="0" algn="just">
              <a:buNone/>
            </a:pPr>
            <a:endParaRPr lang="es-EC" dirty="0"/>
          </a:p>
          <a:p>
            <a:pPr marL="0" indent="0" algn="just">
              <a:buNone/>
            </a:pPr>
            <a:r>
              <a:rPr lang="es-EC" dirty="0"/>
              <a:t>El libro empieza con la visualización y transformación de datos ya importados y ordenados.</a:t>
            </a:r>
          </a:p>
        </p:txBody>
      </p:sp>
      <p:sp>
        <p:nvSpPr>
          <p:cNvPr id="7" name="Marcador de texto 6">
            <a:extLst>
              <a:ext uri="{FF2B5EF4-FFF2-40B4-BE49-F238E27FC236}">
                <a16:creationId xmlns:a16="http://schemas.microsoft.com/office/drawing/2014/main" id="{B6A95966-71EF-B764-0316-391541114B1E}"/>
              </a:ext>
            </a:extLst>
          </p:cNvPr>
          <p:cNvSpPr>
            <a:spLocks noGrp="1"/>
          </p:cNvSpPr>
          <p:nvPr>
            <p:ph type="body" sz="quarter" idx="3"/>
          </p:nvPr>
        </p:nvSpPr>
        <p:spPr>
          <a:xfrm>
            <a:off x="6172200" y="1296155"/>
            <a:ext cx="5183188" cy="823912"/>
          </a:xfrm>
        </p:spPr>
        <p:txBody>
          <a:bodyPr>
            <a:normAutofit fontScale="92500"/>
          </a:bodyPr>
          <a:lstStyle/>
          <a:p>
            <a:pPr algn="ctr"/>
            <a:r>
              <a:rPr lang="es-EC" sz="3200" dirty="0">
                <a:solidFill>
                  <a:schemeClr val="accent2">
                    <a:lumMod val="75000"/>
                  </a:schemeClr>
                </a:solidFill>
              </a:rPr>
              <a:t>Que no aprenderás:</a:t>
            </a:r>
          </a:p>
        </p:txBody>
      </p:sp>
      <p:sp>
        <p:nvSpPr>
          <p:cNvPr id="8" name="Marcador de contenido 7">
            <a:extLst>
              <a:ext uri="{FF2B5EF4-FFF2-40B4-BE49-F238E27FC236}">
                <a16:creationId xmlns:a16="http://schemas.microsoft.com/office/drawing/2014/main" id="{241C4AC5-2D20-B1F5-1DB0-5E927CA63A2B}"/>
              </a:ext>
            </a:extLst>
          </p:cNvPr>
          <p:cNvSpPr>
            <a:spLocks noGrp="1"/>
          </p:cNvSpPr>
          <p:nvPr>
            <p:ph sz="quarter" idx="4"/>
          </p:nvPr>
        </p:nvSpPr>
        <p:spPr>
          <a:xfrm>
            <a:off x="6172200" y="2120067"/>
            <a:ext cx="5183188" cy="3684588"/>
          </a:xfrm>
        </p:spPr>
        <p:txBody>
          <a:bodyPr>
            <a:normAutofit fontScale="92500" lnSpcReduction="10000"/>
          </a:bodyPr>
          <a:lstStyle/>
          <a:p>
            <a:pPr algn="just">
              <a:buFont typeface="Calibri" panose="020F0502020204030204" pitchFamily="34" charset="0"/>
              <a:buChar char="‒"/>
            </a:pPr>
            <a:r>
              <a:rPr lang="es-EC" dirty="0"/>
              <a:t> Modelado: es un gran tema pero no hay espacio. Se recomienda  </a:t>
            </a:r>
            <a:r>
              <a:rPr lang="es-EC" u="sng" dirty="0" err="1">
                <a:hlinkClick r:id="rId2"/>
              </a:rPr>
              <a:t>Tidy</a:t>
            </a:r>
            <a:r>
              <a:rPr lang="es-EC" u="sng" dirty="0">
                <a:hlinkClick r:id="rId2"/>
              </a:rPr>
              <a:t> </a:t>
            </a:r>
            <a:r>
              <a:rPr lang="es-EC" u="sng" dirty="0" err="1">
                <a:hlinkClick r:id="rId2"/>
              </a:rPr>
              <a:t>Modeling</a:t>
            </a:r>
            <a:r>
              <a:rPr lang="es-EC" u="sng" dirty="0">
                <a:hlinkClick r:id="rId2"/>
              </a:rPr>
              <a:t> </a:t>
            </a:r>
            <a:r>
              <a:rPr lang="es-EC" u="sng" dirty="0" err="1">
                <a:hlinkClick r:id="rId2"/>
              </a:rPr>
              <a:t>with</a:t>
            </a:r>
            <a:r>
              <a:rPr lang="es-EC" u="sng" dirty="0">
                <a:hlinkClick r:id="rId2"/>
              </a:rPr>
              <a:t> R</a:t>
            </a:r>
            <a:r>
              <a:rPr lang="es-EC" dirty="0"/>
              <a:t>.</a:t>
            </a:r>
          </a:p>
          <a:p>
            <a:pPr algn="just">
              <a:buFont typeface="Calibri" panose="020F0502020204030204" pitchFamily="34" charset="0"/>
              <a:buChar char="‒"/>
            </a:pPr>
            <a:r>
              <a:rPr lang="es-EC" dirty="0"/>
              <a:t> Grandes datos: No se puede abordar </a:t>
            </a:r>
            <a:r>
              <a:rPr lang="es-EC" dirty="0" err="1"/>
              <a:t>big</a:t>
            </a:r>
            <a:r>
              <a:rPr lang="es-EC" dirty="0"/>
              <a:t> data sin contar con experiencia en datos pequeños. </a:t>
            </a:r>
            <a:r>
              <a:rPr lang="es-EC" u="sng" dirty="0" err="1">
                <a:hlinkClick r:id="rId3"/>
              </a:rPr>
              <a:t>data.table</a:t>
            </a:r>
            <a:r>
              <a:rPr lang="es-EC" dirty="0"/>
              <a:t> para </a:t>
            </a:r>
            <a:r>
              <a:rPr lang="es-EC" dirty="0" err="1"/>
              <a:t>big</a:t>
            </a:r>
            <a:r>
              <a:rPr lang="es-EC" dirty="0"/>
              <a:t> data.</a:t>
            </a:r>
          </a:p>
          <a:p>
            <a:pPr algn="just">
              <a:buFont typeface="Calibri" panose="020F0502020204030204" pitchFamily="34" charset="0"/>
              <a:buChar char="‒"/>
            </a:pPr>
            <a:r>
              <a:rPr lang="es-EC" dirty="0"/>
              <a:t> Python, Julia y sus amigos: NO son malas herramientas, pero es mejor dominar una a la vez.</a:t>
            </a:r>
          </a:p>
        </p:txBody>
      </p:sp>
    </p:spTree>
    <p:extLst>
      <p:ext uri="{BB962C8B-B14F-4D97-AF65-F5344CB8AC3E}">
        <p14:creationId xmlns:p14="http://schemas.microsoft.com/office/powerpoint/2010/main" val="31990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 calcmode="lin" valueType="num">
                                      <p:cBhvr additive="base">
                                        <p:cTn id="2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arn(inVertical)">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 calcmode="lin" valueType="num">
                                      <p:cBhvr>
                                        <p:cTn id="32"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3"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4" dur="500"/>
                                        <p:tgtEl>
                                          <p:spTgt spid="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anim calcmode="lin" valueType="num">
                                      <p:cBhvr>
                                        <p:cTn id="39" dur="500" fill="hold"/>
                                        <p:tgtEl>
                                          <p:spTgt spid="8">
                                            <p:txEl>
                                              <p:pRg st="1" end="1"/>
                                            </p:txEl>
                                          </p:spTgt>
                                        </p:tgtEl>
                                        <p:attrNameLst>
                                          <p:attrName>ppt_w</p:attrName>
                                        </p:attrNameLst>
                                      </p:cBhvr>
                                      <p:tavLst>
                                        <p:tav tm="0">
                                          <p:val>
                                            <p:fltVal val="0"/>
                                          </p:val>
                                        </p:tav>
                                        <p:tav tm="100000">
                                          <p:val>
                                            <p:strVal val="#ppt_w"/>
                                          </p:val>
                                        </p:tav>
                                      </p:tavLst>
                                    </p:anim>
                                    <p:anim calcmode="lin" valueType="num">
                                      <p:cBhvr>
                                        <p:cTn id="40" dur="500" fill="hold"/>
                                        <p:tgtEl>
                                          <p:spTgt spid="8">
                                            <p:txEl>
                                              <p:pRg st="1" end="1"/>
                                            </p:txEl>
                                          </p:spTgt>
                                        </p:tgtEl>
                                        <p:attrNameLst>
                                          <p:attrName>ppt_h</p:attrName>
                                        </p:attrNameLst>
                                      </p:cBhvr>
                                      <p:tavLst>
                                        <p:tav tm="0">
                                          <p:val>
                                            <p:fltVal val="0"/>
                                          </p:val>
                                        </p:tav>
                                        <p:tav tm="100000">
                                          <p:val>
                                            <p:strVal val="#ppt_h"/>
                                          </p:val>
                                        </p:tav>
                                      </p:tavLst>
                                    </p:anim>
                                    <p:animEffect transition="in" filter="fade">
                                      <p:cBhvr>
                                        <p:cTn id="41" dur="500"/>
                                        <p:tgtEl>
                                          <p:spTgt spid="8">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nodeType="clickEffect">
                                  <p:stCondLst>
                                    <p:cond delay="0"/>
                                  </p:stCondLst>
                                  <p:childTnLst>
                                    <p:set>
                                      <p:cBhvr>
                                        <p:cTn id="45" dur="1" fill="hold">
                                          <p:stCondLst>
                                            <p:cond delay="0"/>
                                          </p:stCondLst>
                                        </p:cTn>
                                        <p:tgtEl>
                                          <p:spTgt spid="8">
                                            <p:txEl>
                                              <p:pRg st="2" end="2"/>
                                            </p:txEl>
                                          </p:spTgt>
                                        </p:tgtEl>
                                        <p:attrNameLst>
                                          <p:attrName>style.visibility</p:attrName>
                                        </p:attrNameLst>
                                      </p:cBhvr>
                                      <p:to>
                                        <p:strVal val="visible"/>
                                      </p:to>
                                    </p:set>
                                    <p:anim calcmode="lin" valueType="num">
                                      <p:cBhvr>
                                        <p:cTn id="46" dur="500" fill="hold"/>
                                        <p:tgtEl>
                                          <p:spTgt spid="8">
                                            <p:txEl>
                                              <p:pRg st="2" end="2"/>
                                            </p:txEl>
                                          </p:spTgt>
                                        </p:tgtEl>
                                        <p:attrNameLst>
                                          <p:attrName>ppt_w</p:attrName>
                                        </p:attrNameLst>
                                      </p:cBhvr>
                                      <p:tavLst>
                                        <p:tav tm="0">
                                          <p:val>
                                            <p:fltVal val="0"/>
                                          </p:val>
                                        </p:tav>
                                        <p:tav tm="100000">
                                          <p:val>
                                            <p:strVal val="#ppt_w"/>
                                          </p:val>
                                        </p:tav>
                                      </p:tavLst>
                                    </p:anim>
                                    <p:anim calcmode="lin" valueType="num">
                                      <p:cBhvr>
                                        <p:cTn id="47" dur="500" fill="hold"/>
                                        <p:tgtEl>
                                          <p:spTgt spid="8">
                                            <p:txEl>
                                              <p:pRg st="2" end="2"/>
                                            </p:txEl>
                                          </p:spTgt>
                                        </p:tgtEl>
                                        <p:attrNameLst>
                                          <p:attrName>ppt_h</p:attrName>
                                        </p:attrNameLst>
                                      </p:cBhvr>
                                      <p:tavLst>
                                        <p:tav tm="0">
                                          <p:val>
                                            <p:fltVal val="0"/>
                                          </p:val>
                                        </p:tav>
                                        <p:tav tm="100000">
                                          <p:val>
                                            <p:strVal val="#ppt_h"/>
                                          </p:val>
                                        </p:tav>
                                      </p:tavLst>
                                    </p:anim>
                                    <p:animEffect transition="in" filter="fade">
                                      <p:cBhvr>
                                        <p:cTn id="48"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81FE1-7429-1EAE-3BEB-EFBFA3C8864B}"/>
              </a:ext>
            </a:extLst>
          </p:cNvPr>
          <p:cNvSpPr>
            <a:spLocks noGrp="1"/>
          </p:cNvSpPr>
          <p:nvPr>
            <p:ph type="title"/>
          </p:nvPr>
        </p:nvSpPr>
        <p:spPr/>
        <p:txBody>
          <a:bodyPr>
            <a:normAutofit/>
          </a:bodyPr>
          <a:lstStyle/>
          <a:p>
            <a:r>
              <a:rPr lang="es-EC" sz="5000" b="1" dirty="0">
                <a:solidFill>
                  <a:schemeClr val="accent2">
                    <a:lumMod val="40000"/>
                    <a:lumOff val="60000"/>
                  </a:schemeClr>
                </a:solidFill>
              </a:rPr>
              <a:t>INTRODUCCIÓN</a:t>
            </a:r>
          </a:p>
        </p:txBody>
      </p:sp>
      <p:sp>
        <p:nvSpPr>
          <p:cNvPr id="9" name="Marcador de contenido 8">
            <a:extLst>
              <a:ext uri="{FF2B5EF4-FFF2-40B4-BE49-F238E27FC236}">
                <a16:creationId xmlns:a16="http://schemas.microsoft.com/office/drawing/2014/main" id="{9B141284-6CAB-6C64-1A11-5DF3AB7D761A}"/>
              </a:ext>
            </a:extLst>
          </p:cNvPr>
          <p:cNvSpPr>
            <a:spLocks noGrp="1"/>
          </p:cNvSpPr>
          <p:nvPr>
            <p:ph sz="half" idx="1"/>
          </p:nvPr>
        </p:nvSpPr>
        <p:spPr/>
        <p:txBody>
          <a:bodyPr/>
          <a:lstStyle/>
          <a:p>
            <a:pPr marL="0" indent="0">
              <a:buNone/>
            </a:pPr>
            <a:r>
              <a:rPr lang="es-EC" b="1" dirty="0">
                <a:solidFill>
                  <a:schemeClr val="accent2">
                    <a:lumMod val="75000"/>
                  </a:schemeClr>
                </a:solidFill>
              </a:rPr>
              <a:t>Prerrequisitos:</a:t>
            </a:r>
          </a:p>
          <a:p>
            <a:pPr marL="0" indent="0">
              <a:buNone/>
            </a:pPr>
            <a:r>
              <a:rPr lang="es-EC" dirty="0"/>
              <a:t>Se necesitan 4 cosas para ejecutar el código de este libro:</a:t>
            </a:r>
          </a:p>
          <a:p>
            <a:pPr>
              <a:buFontTx/>
              <a:buChar char="-"/>
            </a:pPr>
            <a:r>
              <a:rPr lang="es-EC" dirty="0"/>
              <a:t>R (</a:t>
            </a:r>
            <a:r>
              <a:rPr lang="es-EC" u="sng" dirty="0">
                <a:hlinkClick r:id="rId2"/>
              </a:rPr>
              <a:t>https://cloud.r-project.org</a:t>
            </a:r>
            <a:r>
              <a:rPr lang="es-EC" dirty="0"/>
              <a:t>.)</a:t>
            </a:r>
          </a:p>
          <a:p>
            <a:pPr>
              <a:buFontTx/>
              <a:buChar char="-"/>
            </a:pPr>
            <a:r>
              <a:rPr lang="es-EC" dirty="0" err="1"/>
              <a:t>Rstudio</a:t>
            </a:r>
            <a:r>
              <a:rPr lang="es-EC" dirty="0"/>
              <a:t> ( </a:t>
            </a:r>
            <a:r>
              <a:rPr lang="es-EC" u="sng" dirty="0">
                <a:hlinkClick r:id="rId3"/>
              </a:rPr>
              <a:t>https://posit.co/download/rstudio-desktop/</a:t>
            </a:r>
            <a:r>
              <a:rPr lang="es-EC" u="sng" dirty="0"/>
              <a:t>)</a:t>
            </a:r>
            <a:endParaRPr lang="es-EC" dirty="0"/>
          </a:p>
          <a:p>
            <a:pPr>
              <a:buFontTx/>
              <a:buChar char="-"/>
            </a:pPr>
            <a:r>
              <a:rPr lang="es-EC" dirty="0"/>
              <a:t>Paquete de R llamada </a:t>
            </a:r>
            <a:r>
              <a:rPr lang="es-EC" b="1" dirty="0" err="1"/>
              <a:t>tidyverse</a:t>
            </a:r>
            <a:r>
              <a:rPr lang="es-EC" b="1" dirty="0"/>
              <a:t>.</a:t>
            </a:r>
          </a:p>
          <a:p>
            <a:pPr>
              <a:buFontTx/>
              <a:buChar char="-"/>
            </a:pPr>
            <a:r>
              <a:rPr lang="es-EC" dirty="0"/>
              <a:t>Otros paquetes.</a:t>
            </a:r>
          </a:p>
        </p:txBody>
      </p:sp>
      <p:pic>
        <p:nvPicPr>
          <p:cNvPr id="10" name="Marcador de contenido 4">
            <a:extLst>
              <a:ext uri="{FF2B5EF4-FFF2-40B4-BE49-F238E27FC236}">
                <a16:creationId xmlns:a16="http://schemas.microsoft.com/office/drawing/2014/main" id="{D3A1704D-1C2C-B5C7-09F1-82EDF8C5C026}"/>
              </a:ext>
            </a:extLst>
          </p:cNvPr>
          <p:cNvPicPr>
            <a:picLocks noGrp="1" noChangeAspect="1"/>
          </p:cNvPicPr>
          <p:nvPr>
            <p:ph sz="half" idx="2"/>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rcRect l="8234" t="31454" r="5196" b="5140"/>
          <a:stretch>
            <a:fillRect/>
          </a:stretch>
        </p:blipFill>
        <p:spPr>
          <a:xfrm>
            <a:off x="7078951" y="231832"/>
            <a:ext cx="3987538" cy="1583703"/>
          </a:xfrm>
        </p:spPr>
      </p:pic>
      <p:pic>
        <p:nvPicPr>
          <p:cNvPr id="1026" name="Picture 2" descr="The RStudio IDE with the panes Console and Output highlighted.">
            <a:extLst>
              <a:ext uri="{FF2B5EF4-FFF2-40B4-BE49-F238E27FC236}">
                <a16:creationId xmlns:a16="http://schemas.microsoft.com/office/drawing/2014/main" id="{9DFD1551-A25D-685B-1705-A4E16F6C07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7272" y="1940383"/>
            <a:ext cx="5150897" cy="4769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07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wipe(down)">
                                      <p:cBhvr>
                                        <p:cTn id="7" dur="500"/>
                                        <p:tgtEl>
                                          <p:spTgt spid="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xEl>
                                              <p:pRg st="3" end="3"/>
                                            </p:txEl>
                                          </p:spTgt>
                                        </p:tgtEl>
                                        <p:attrNameLst>
                                          <p:attrName>style.visibility</p:attrName>
                                        </p:attrNameLst>
                                      </p:cBhvr>
                                      <p:to>
                                        <p:strVal val="visible"/>
                                      </p:to>
                                    </p:set>
                                    <p:animEffect transition="in" filter="wipe(down)">
                                      <p:cBhvr>
                                        <p:cTn id="12" dur="500"/>
                                        <p:tgtEl>
                                          <p:spTgt spid="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wipe(down)">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wipe(down)">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26"/>
                                        </p:tgtEl>
                                        <p:attrNameLst>
                                          <p:attrName>style.visibility</p:attrName>
                                        </p:attrNameLst>
                                      </p:cBhvr>
                                      <p:to>
                                        <p:strVal val="visible"/>
                                      </p:to>
                                    </p:set>
                                    <p:animEffect transition="in" filter="wipe(down)">
                                      <p:cBhvr>
                                        <p:cTn id="3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B34E3-78CB-D96A-3AA5-53F6E672E9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FF7478-6F69-ED6C-B0B5-B2DBB440C516}"/>
              </a:ext>
            </a:extLst>
          </p:cNvPr>
          <p:cNvSpPr>
            <a:spLocks noGrp="1"/>
          </p:cNvSpPr>
          <p:nvPr>
            <p:ph type="title"/>
          </p:nvPr>
        </p:nvSpPr>
        <p:spPr/>
        <p:txBody>
          <a:bodyPr>
            <a:normAutofit/>
          </a:bodyPr>
          <a:lstStyle/>
          <a:p>
            <a:r>
              <a:rPr lang="es-EC" sz="5000" b="1" dirty="0">
                <a:solidFill>
                  <a:schemeClr val="accent2">
                    <a:lumMod val="40000"/>
                    <a:lumOff val="60000"/>
                  </a:schemeClr>
                </a:solidFill>
              </a:rPr>
              <a:t>INTRODUCCIÓN</a:t>
            </a:r>
          </a:p>
        </p:txBody>
      </p:sp>
      <p:sp>
        <p:nvSpPr>
          <p:cNvPr id="4" name="Marcador de contenido 3">
            <a:extLst>
              <a:ext uri="{FF2B5EF4-FFF2-40B4-BE49-F238E27FC236}">
                <a16:creationId xmlns:a16="http://schemas.microsoft.com/office/drawing/2014/main" id="{54A7BD22-8F3A-5F05-38E3-A50A6D5B0ADF}"/>
              </a:ext>
            </a:extLst>
          </p:cNvPr>
          <p:cNvSpPr>
            <a:spLocks noGrp="1"/>
          </p:cNvSpPr>
          <p:nvPr>
            <p:ph idx="1"/>
          </p:nvPr>
        </p:nvSpPr>
        <p:spPr>
          <a:xfrm>
            <a:off x="838200" y="1825625"/>
            <a:ext cx="10515600" cy="4028420"/>
          </a:xfrm>
        </p:spPr>
        <p:txBody>
          <a:bodyPr/>
          <a:lstStyle/>
          <a:p>
            <a:r>
              <a:rPr lang="es-EC" dirty="0"/>
              <a:t>Instalación de </a:t>
            </a:r>
            <a:r>
              <a:rPr lang="es-EC" dirty="0" err="1"/>
              <a:t>tidyverse</a:t>
            </a:r>
            <a:r>
              <a:rPr lang="es-EC" dirty="0"/>
              <a:t>.</a:t>
            </a:r>
          </a:p>
          <a:p>
            <a:endParaRPr lang="es-EC" dirty="0"/>
          </a:p>
          <a:p>
            <a:r>
              <a:rPr lang="es-EC" dirty="0"/>
              <a:t>Se debe cargar el paquete instalado usando la función </a:t>
            </a:r>
            <a:r>
              <a:rPr lang="es-EC" dirty="0" err="1">
                <a:hlinkClick r:id="rId2"/>
              </a:rPr>
              <a:t>library</a:t>
            </a:r>
            <a:r>
              <a:rPr lang="es-EC" dirty="0">
                <a:hlinkClick r:id="rId2"/>
              </a:rPr>
              <a:t>() </a:t>
            </a:r>
            <a:r>
              <a:rPr lang="es-EC" i="1" dirty="0"/>
              <a:t>  </a:t>
            </a:r>
          </a:p>
          <a:p>
            <a:endParaRPr lang="es-EC" dirty="0"/>
          </a:p>
          <a:p>
            <a:r>
              <a:rPr lang="es-ES" dirty="0"/>
              <a:t>Los paquetes en el </a:t>
            </a:r>
            <a:r>
              <a:rPr lang="es-ES" dirty="0" err="1"/>
              <a:t>tidyverse</a:t>
            </a:r>
            <a:r>
              <a:rPr lang="es-ES" dirty="0"/>
              <a:t> cambian con bastante frecuencia. Puede ver si hay actualizaciones disponibles ejecutando </a:t>
            </a:r>
            <a:r>
              <a:rPr lang="es-ES" dirty="0" err="1">
                <a:hlinkClick r:id="rId3"/>
              </a:rPr>
              <a:t>tidyverse_update</a:t>
            </a:r>
            <a:r>
              <a:rPr lang="es-ES" dirty="0">
                <a:hlinkClick r:id="rId3"/>
              </a:rPr>
              <a:t>()</a:t>
            </a:r>
            <a:endParaRPr lang="es-EC" dirty="0"/>
          </a:p>
        </p:txBody>
      </p:sp>
      <p:pic>
        <p:nvPicPr>
          <p:cNvPr id="5" name="Imagen 4">
            <a:extLst>
              <a:ext uri="{FF2B5EF4-FFF2-40B4-BE49-F238E27FC236}">
                <a16:creationId xmlns:a16="http://schemas.microsoft.com/office/drawing/2014/main" id="{FCD709F2-0EA9-BB46-49D5-4499DABFEDEB}"/>
              </a:ext>
            </a:extLst>
          </p:cNvPr>
          <p:cNvPicPr>
            <a:picLocks noChangeAspect="1"/>
          </p:cNvPicPr>
          <p:nvPr/>
        </p:nvPicPr>
        <p:blipFill>
          <a:blip r:embed="rId4"/>
          <a:srcRect t="15302" r="20668" b="18031"/>
          <a:stretch>
            <a:fillRect/>
          </a:stretch>
        </p:blipFill>
        <p:spPr>
          <a:xfrm>
            <a:off x="838201" y="2343079"/>
            <a:ext cx="6590122" cy="438211"/>
          </a:xfrm>
          <a:prstGeom prst="rect">
            <a:avLst/>
          </a:prstGeom>
        </p:spPr>
      </p:pic>
      <p:pic>
        <p:nvPicPr>
          <p:cNvPr id="7" name="Imagen 6">
            <a:extLst>
              <a:ext uri="{FF2B5EF4-FFF2-40B4-BE49-F238E27FC236}">
                <a16:creationId xmlns:a16="http://schemas.microsoft.com/office/drawing/2014/main" id="{FFF776C6-A1A7-88D9-2C53-36EEC52295B4}"/>
              </a:ext>
            </a:extLst>
          </p:cNvPr>
          <p:cNvPicPr>
            <a:picLocks noChangeAspect="1"/>
          </p:cNvPicPr>
          <p:nvPr/>
        </p:nvPicPr>
        <p:blipFill>
          <a:blip r:embed="rId5"/>
          <a:stretch>
            <a:fillRect/>
          </a:stretch>
        </p:blipFill>
        <p:spPr>
          <a:xfrm>
            <a:off x="838199" y="3298744"/>
            <a:ext cx="6505280" cy="438211"/>
          </a:xfrm>
          <a:prstGeom prst="rect">
            <a:avLst/>
          </a:prstGeom>
        </p:spPr>
      </p:pic>
    </p:spTree>
    <p:extLst>
      <p:ext uri="{BB962C8B-B14F-4D97-AF65-F5344CB8AC3E}">
        <p14:creationId xmlns:p14="http://schemas.microsoft.com/office/powerpoint/2010/main" val="1618678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5D30F1-18B5-6479-8BEC-2D31745CAB15}"/>
              </a:ext>
            </a:extLst>
          </p:cNvPr>
          <p:cNvSpPr>
            <a:spLocks noGrp="1"/>
          </p:cNvSpPr>
          <p:nvPr>
            <p:ph type="title"/>
          </p:nvPr>
        </p:nvSpPr>
        <p:spPr/>
        <p:txBody>
          <a:bodyPr/>
          <a:lstStyle/>
          <a:p>
            <a:endParaRPr lang="es-EC"/>
          </a:p>
        </p:txBody>
      </p:sp>
      <p:sp>
        <p:nvSpPr>
          <p:cNvPr id="3" name="Marcador de contenido 2">
            <a:extLst>
              <a:ext uri="{FF2B5EF4-FFF2-40B4-BE49-F238E27FC236}">
                <a16:creationId xmlns:a16="http://schemas.microsoft.com/office/drawing/2014/main" id="{950CC1B0-FA9F-9AFE-8541-A817B5D75062}"/>
              </a:ext>
            </a:extLst>
          </p:cNvPr>
          <p:cNvSpPr>
            <a:spLocks noGrp="1"/>
          </p:cNvSpPr>
          <p:nvPr>
            <p:ph idx="1"/>
          </p:nvPr>
        </p:nvSpPr>
        <p:spPr/>
        <p:txBody>
          <a:bodyPr/>
          <a:lstStyle/>
          <a:p>
            <a:endParaRPr lang="es-EC"/>
          </a:p>
        </p:txBody>
      </p:sp>
      <p:pic>
        <p:nvPicPr>
          <p:cNvPr id="7" name="Imagen 6">
            <a:extLst>
              <a:ext uri="{FF2B5EF4-FFF2-40B4-BE49-F238E27FC236}">
                <a16:creationId xmlns:a16="http://schemas.microsoft.com/office/drawing/2014/main" id="{4D02C650-16F6-42D1-DD01-BB3A49B9D7E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39825" y="150000"/>
            <a:ext cx="11612350" cy="6858000"/>
          </a:xfrm>
          <a:prstGeom prst="rect">
            <a:avLst/>
          </a:prstGeom>
        </p:spPr>
      </p:pic>
    </p:spTree>
    <p:extLst>
      <p:ext uri="{BB962C8B-B14F-4D97-AF65-F5344CB8AC3E}">
        <p14:creationId xmlns:p14="http://schemas.microsoft.com/office/powerpoint/2010/main" val="1130788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A5FF99-E640-AC48-53E9-CCD6A5C11820}"/>
              </a:ext>
            </a:extLst>
          </p:cNvPr>
          <p:cNvSpPr>
            <a:spLocks noGrp="1"/>
          </p:cNvSpPr>
          <p:nvPr>
            <p:ph type="title"/>
          </p:nvPr>
        </p:nvSpPr>
        <p:spPr/>
        <p:txBody>
          <a:bodyPr>
            <a:normAutofit/>
          </a:bodyPr>
          <a:lstStyle/>
          <a:p>
            <a:r>
              <a:rPr lang="es-EC" sz="5000" b="1" dirty="0">
                <a:solidFill>
                  <a:schemeClr val="accent5">
                    <a:lumMod val="75000"/>
                  </a:schemeClr>
                </a:solidFill>
              </a:rPr>
              <a:t>VISUALIZACIÓN DE DATOS</a:t>
            </a:r>
          </a:p>
        </p:txBody>
      </p:sp>
      <p:sp>
        <p:nvSpPr>
          <p:cNvPr id="4" name="Marcador de texto 3">
            <a:extLst>
              <a:ext uri="{FF2B5EF4-FFF2-40B4-BE49-F238E27FC236}">
                <a16:creationId xmlns:a16="http://schemas.microsoft.com/office/drawing/2014/main" id="{A2DF4AB6-9256-379C-6AF3-614D929C2D4A}"/>
              </a:ext>
            </a:extLst>
          </p:cNvPr>
          <p:cNvSpPr txBox="1">
            <a:spLocks noGrp="1"/>
          </p:cNvSpPr>
          <p:nvPr>
            <p:ph idx="1"/>
          </p:nvPr>
        </p:nvSpPr>
        <p:spPr>
          <a:xfrm>
            <a:off x="838200" y="1825624"/>
            <a:ext cx="10515600" cy="4667251"/>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dirty="0">
                <a:solidFill>
                  <a:srgbClr val="0070C0"/>
                </a:solidFill>
              </a:rPr>
              <a:t>Contenido:</a:t>
            </a:r>
          </a:p>
          <a:p>
            <a:pPr algn="just">
              <a:buFont typeface="Wingdings" panose="05000000000000000000" pitchFamily="2" charset="2"/>
              <a:buChar char="Ø"/>
            </a:pPr>
            <a:r>
              <a:rPr lang="es-ES" dirty="0"/>
              <a:t> Introducción.</a:t>
            </a:r>
          </a:p>
          <a:p>
            <a:pPr lvl="1" algn="just">
              <a:buFont typeface="Wingdings" panose="05000000000000000000" pitchFamily="2" charset="2"/>
              <a:buChar char="Ø"/>
            </a:pPr>
            <a:r>
              <a:rPr lang="es-ES" dirty="0"/>
              <a:t>Requisitos previos.</a:t>
            </a:r>
          </a:p>
          <a:p>
            <a:pPr algn="just">
              <a:buFont typeface="Wingdings" panose="05000000000000000000" pitchFamily="2" charset="2"/>
              <a:buChar char="Ø"/>
            </a:pPr>
            <a:r>
              <a:rPr lang="es-ES" dirty="0"/>
              <a:t> Primeros pasos.</a:t>
            </a:r>
          </a:p>
          <a:p>
            <a:pPr algn="just">
              <a:buFont typeface="Wingdings" panose="05000000000000000000" pitchFamily="2" charset="2"/>
              <a:buChar char="Ø"/>
            </a:pPr>
            <a:r>
              <a:rPr lang="es-ES" dirty="0"/>
              <a:t> Llamadas ggplot2.</a:t>
            </a:r>
          </a:p>
          <a:p>
            <a:pPr algn="just">
              <a:buFont typeface="Wingdings" panose="05000000000000000000" pitchFamily="2" charset="2"/>
              <a:buChar char="Ø"/>
            </a:pPr>
            <a:r>
              <a:rPr lang="es-ES" dirty="0"/>
              <a:t> Visualización de distribuciones.</a:t>
            </a:r>
          </a:p>
          <a:p>
            <a:pPr algn="just">
              <a:buFont typeface="Wingdings" panose="05000000000000000000" pitchFamily="2" charset="2"/>
              <a:buChar char="Ø"/>
            </a:pPr>
            <a:r>
              <a:rPr lang="es-ES" dirty="0"/>
              <a:t> Visualización de relaciones.</a:t>
            </a:r>
          </a:p>
          <a:p>
            <a:pPr algn="just">
              <a:buFont typeface="Wingdings" panose="05000000000000000000" pitchFamily="2" charset="2"/>
              <a:buChar char="Ø"/>
            </a:pPr>
            <a:r>
              <a:rPr lang="es-ES" dirty="0"/>
              <a:t>Guardar tus gráficos.</a:t>
            </a:r>
          </a:p>
          <a:p>
            <a:pPr algn="just">
              <a:buFont typeface="Wingdings" panose="05000000000000000000" pitchFamily="2" charset="2"/>
              <a:buChar char="Ø"/>
            </a:pPr>
            <a:r>
              <a:rPr lang="es-ES" dirty="0"/>
              <a:t>Problemas comunes.</a:t>
            </a:r>
          </a:p>
          <a:p>
            <a:pPr algn="just">
              <a:buFont typeface="Wingdings" panose="05000000000000000000" pitchFamily="2" charset="2"/>
              <a:buChar char="Ø"/>
            </a:pPr>
            <a:r>
              <a:rPr lang="es-ES" dirty="0"/>
              <a:t>Resumen.</a:t>
            </a:r>
            <a:endParaRPr lang="es-EC" dirty="0"/>
          </a:p>
        </p:txBody>
      </p:sp>
    </p:spTree>
    <p:extLst>
      <p:ext uri="{BB962C8B-B14F-4D97-AF65-F5344CB8AC3E}">
        <p14:creationId xmlns:p14="http://schemas.microsoft.com/office/powerpoint/2010/main" val="236835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785BB-7C80-97F9-B48D-CED9F9D876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6D9E50-F3EF-AE4D-E922-F9DA5AC12E96}"/>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3" name="Marcador de contenido 2">
            <a:extLst>
              <a:ext uri="{FF2B5EF4-FFF2-40B4-BE49-F238E27FC236}">
                <a16:creationId xmlns:a16="http://schemas.microsoft.com/office/drawing/2014/main" id="{4315170B-21F0-9544-D8FC-7218683458ED}"/>
              </a:ext>
            </a:extLst>
          </p:cNvPr>
          <p:cNvSpPr>
            <a:spLocks noGrp="1"/>
          </p:cNvSpPr>
          <p:nvPr>
            <p:ph idx="1"/>
          </p:nvPr>
        </p:nvSpPr>
        <p:spPr/>
        <p:txBody>
          <a:bodyPr/>
          <a:lstStyle/>
          <a:p>
            <a:r>
              <a:rPr lang="es-EC" dirty="0"/>
              <a:t>Se enseña la visualización de datos usando </a:t>
            </a:r>
            <a:r>
              <a:rPr lang="es-EC" b="1" dirty="0"/>
              <a:t>ggplot2.</a:t>
            </a:r>
          </a:p>
          <a:p>
            <a:endParaRPr lang="es-EC" b="1" dirty="0"/>
          </a:p>
          <a:p>
            <a:r>
              <a:rPr lang="es-EC" dirty="0"/>
              <a:t>Para ello vamos a empezar cargando el </a:t>
            </a:r>
            <a:r>
              <a:rPr lang="es-EC" b="1" dirty="0" err="1"/>
              <a:t>library</a:t>
            </a:r>
            <a:r>
              <a:rPr lang="es-EC" b="1" dirty="0"/>
              <a:t>(</a:t>
            </a:r>
            <a:r>
              <a:rPr lang="es-EC" b="1" dirty="0" err="1"/>
              <a:t>tidyverse</a:t>
            </a:r>
            <a:r>
              <a:rPr lang="es-EC" b="1" dirty="0"/>
              <a:t>)</a:t>
            </a:r>
          </a:p>
          <a:p>
            <a:endParaRPr lang="es-EC" b="1" dirty="0"/>
          </a:p>
          <a:p>
            <a:pPr algn="just"/>
            <a:r>
              <a:rPr lang="es-ES" dirty="0"/>
              <a:t>Además de </a:t>
            </a:r>
            <a:r>
              <a:rPr lang="es-ES" dirty="0" err="1"/>
              <a:t>tidyverse</a:t>
            </a:r>
            <a:r>
              <a:rPr lang="es-ES" dirty="0"/>
              <a:t>, también usaremos el paquete </a:t>
            </a:r>
            <a:r>
              <a:rPr lang="es-ES" b="1" dirty="0" err="1"/>
              <a:t>palmerpenguins</a:t>
            </a:r>
            <a:r>
              <a:rPr lang="es-ES" dirty="0"/>
              <a:t>, que incluye el conjunto de datos que contiene las medidas corporales de los pingüinos en tres islas del archipiélago Palmer, y el paquete </a:t>
            </a:r>
            <a:r>
              <a:rPr lang="es-ES" dirty="0" err="1"/>
              <a:t>ggthemes</a:t>
            </a:r>
            <a:r>
              <a:rPr lang="es-ES" dirty="0"/>
              <a:t>, que ofrece una paleta de colores segura para daltónicos.</a:t>
            </a:r>
            <a:endParaRPr lang="es-EC" b="1" dirty="0"/>
          </a:p>
        </p:txBody>
      </p:sp>
    </p:spTree>
    <p:extLst>
      <p:ext uri="{BB962C8B-B14F-4D97-AF65-F5344CB8AC3E}">
        <p14:creationId xmlns:p14="http://schemas.microsoft.com/office/powerpoint/2010/main" val="852076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E8CDD-7CAB-5C33-612F-62D03E74DE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C18147-F812-9EEA-E63C-0517E4853686}"/>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F2F7519A-1F16-CA29-2A45-DB7570F7DD96}"/>
              </a:ext>
            </a:extLst>
          </p:cNvPr>
          <p:cNvSpPr>
            <a:spLocks noGrp="1"/>
          </p:cNvSpPr>
          <p:nvPr>
            <p:ph type="body" idx="1"/>
          </p:nvPr>
        </p:nvSpPr>
        <p:spPr/>
        <p:txBody>
          <a:bodyPr>
            <a:normAutofit/>
          </a:bodyPr>
          <a:lstStyle/>
          <a:p>
            <a:r>
              <a:rPr lang="es-EC" sz="2800" dirty="0">
                <a:solidFill>
                  <a:schemeClr val="accent5">
                    <a:lumMod val="75000"/>
                  </a:schemeClr>
                </a:solidFill>
              </a:rPr>
              <a:t>Primeros Pasos</a:t>
            </a:r>
            <a:br>
              <a:rPr lang="es-EC" sz="2800" dirty="0">
                <a:solidFill>
                  <a:schemeClr val="accent5">
                    <a:lumMod val="75000"/>
                  </a:schemeClr>
                </a:solidFill>
              </a:rPr>
            </a:br>
            <a:r>
              <a:rPr lang="es-EC" dirty="0">
                <a:solidFill>
                  <a:schemeClr val="accent5">
                    <a:lumMod val="75000"/>
                  </a:schemeClr>
                </a:solidFill>
              </a:rPr>
              <a:t>Data </a:t>
            </a:r>
            <a:r>
              <a:rPr lang="es-EC" dirty="0" err="1">
                <a:solidFill>
                  <a:schemeClr val="accent5">
                    <a:lumMod val="75000"/>
                  </a:schemeClr>
                </a:solidFill>
              </a:rPr>
              <a:t>Frame</a:t>
            </a: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7BBA1E20-3EE6-6286-99B7-9D69C99C919E}"/>
              </a:ext>
            </a:extLst>
          </p:cNvPr>
          <p:cNvSpPr>
            <a:spLocks noGrp="1"/>
          </p:cNvSpPr>
          <p:nvPr>
            <p:ph sz="half" idx="2"/>
          </p:nvPr>
        </p:nvSpPr>
        <p:spPr/>
        <p:txBody>
          <a:bodyPr>
            <a:normAutofit fontScale="92500"/>
          </a:bodyPr>
          <a:lstStyle/>
          <a:p>
            <a:pPr marL="0" indent="0" algn="just">
              <a:buNone/>
            </a:pPr>
            <a:r>
              <a:rPr lang="es-ES" dirty="0"/>
              <a:t>Un Data </a:t>
            </a:r>
            <a:r>
              <a:rPr lang="es-ES" dirty="0" err="1"/>
              <a:t>Frame</a:t>
            </a:r>
            <a:r>
              <a:rPr lang="es-ES" dirty="0"/>
              <a:t> es una colección rectangular de variables (en las columnas) y observaciones (en las filas).</a:t>
            </a:r>
          </a:p>
          <a:p>
            <a:pPr marL="0" indent="0" algn="just">
              <a:buNone/>
            </a:pPr>
            <a:r>
              <a:rPr lang="es-ES" dirty="0"/>
              <a:t>Ejemplo: una variable se refiere a un atributo de todos los pingüinos, y una observación se refiere a todos los atributos de un solo pingüino.</a:t>
            </a:r>
            <a:endParaRPr lang="es-EC" dirty="0"/>
          </a:p>
        </p:txBody>
      </p:sp>
      <p:sp>
        <p:nvSpPr>
          <p:cNvPr id="6" name="Marcador de texto 5">
            <a:extLst>
              <a:ext uri="{FF2B5EF4-FFF2-40B4-BE49-F238E27FC236}">
                <a16:creationId xmlns:a16="http://schemas.microsoft.com/office/drawing/2014/main" id="{22E6B8F4-B8DB-DF11-B1FB-06DD03C9ADA4}"/>
              </a:ext>
            </a:extLst>
          </p:cNvPr>
          <p:cNvSpPr>
            <a:spLocks noGrp="1"/>
          </p:cNvSpPr>
          <p:nvPr>
            <p:ph type="body" sz="quarter" idx="3"/>
          </p:nvPr>
        </p:nvSpPr>
        <p:spPr/>
        <p:txBody>
          <a:bodyPr>
            <a:normAutofit/>
          </a:bodyPr>
          <a:lstStyle/>
          <a:p>
            <a:r>
              <a:rPr lang="es-EC" dirty="0">
                <a:solidFill>
                  <a:schemeClr val="accent5">
                    <a:lumMod val="75000"/>
                  </a:schemeClr>
                </a:solidFill>
              </a:rPr>
              <a:t>Definiendo los términos:</a:t>
            </a:r>
          </a:p>
        </p:txBody>
      </p:sp>
      <p:sp>
        <p:nvSpPr>
          <p:cNvPr id="7" name="Marcador de contenido 6">
            <a:extLst>
              <a:ext uri="{FF2B5EF4-FFF2-40B4-BE49-F238E27FC236}">
                <a16:creationId xmlns:a16="http://schemas.microsoft.com/office/drawing/2014/main" id="{D5ABA3A6-BEBF-5A10-9365-D420E70A5D7A}"/>
              </a:ext>
            </a:extLst>
          </p:cNvPr>
          <p:cNvSpPr>
            <a:spLocks noGrp="1"/>
          </p:cNvSpPr>
          <p:nvPr>
            <p:ph sz="quarter" idx="4"/>
          </p:nvPr>
        </p:nvSpPr>
        <p:spPr>
          <a:xfrm>
            <a:off x="6172200" y="2520181"/>
            <a:ext cx="5183188" cy="3684588"/>
          </a:xfrm>
        </p:spPr>
        <p:txBody>
          <a:bodyPr>
            <a:normAutofit fontScale="92500"/>
          </a:bodyPr>
          <a:lstStyle/>
          <a:p>
            <a:pPr algn="just"/>
            <a:r>
              <a:rPr lang="es-ES" sz="1600" dirty="0"/>
              <a:t>Una </a:t>
            </a:r>
            <a:r>
              <a:rPr lang="es-ES" sz="1600" b="1" dirty="0"/>
              <a:t>variable</a:t>
            </a:r>
            <a:r>
              <a:rPr lang="es-ES" sz="1600" dirty="0"/>
              <a:t> es una cantidad, calidad o propiedad que se puede medir.</a:t>
            </a:r>
          </a:p>
          <a:p>
            <a:pPr algn="just"/>
            <a:r>
              <a:rPr lang="es-ES" sz="1600" dirty="0"/>
              <a:t>Un </a:t>
            </a:r>
            <a:r>
              <a:rPr lang="es-ES" sz="1600" b="1" dirty="0"/>
              <a:t>valor</a:t>
            </a:r>
            <a:r>
              <a:rPr lang="es-ES" sz="1600" dirty="0"/>
              <a:t> es el estado de una variable cuando se mide. El valor de una variable puede cambiar de una medición a otra.</a:t>
            </a:r>
          </a:p>
          <a:p>
            <a:pPr algn="just"/>
            <a:r>
              <a:rPr lang="es-ES" sz="1600" dirty="0"/>
              <a:t>Una </a:t>
            </a:r>
            <a:r>
              <a:rPr lang="es-ES" sz="1600" b="1" dirty="0"/>
              <a:t>observación</a:t>
            </a:r>
            <a:r>
              <a:rPr lang="es-ES" sz="1600" dirty="0"/>
              <a:t> es un conjunto de mediciones realizadas en condiciones similares (generalmente realiza todas las mediciones en una observación al mismo tiempo y en el mismo objeto). Una observación contendrá varios valores, cada uno asociado con una variable diferente. A veces nos referiremos a una observación como un punto de datos.</a:t>
            </a:r>
          </a:p>
          <a:p>
            <a:pPr algn="just"/>
            <a:r>
              <a:rPr lang="es-ES" sz="1600" b="1" dirty="0"/>
              <a:t>Los datos tabulares</a:t>
            </a:r>
            <a:r>
              <a:rPr lang="es-ES" sz="1600" dirty="0"/>
              <a:t> son un conjunto de valores, cada uno asociado con una variable y una observación. Los datos tabulares son </a:t>
            </a:r>
            <a:r>
              <a:rPr lang="es-ES" sz="1600" i="1" dirty="0"/>
              <a:t>ordenados</a:t>
            </a:r>
            <a:r>
              <a:rPr lang="es-ES" sz="1600" dirty="0"/>
              <a:t> si cada valor se coloca en su propia "celda", cada variable en su propia columna y cada observación en su propia fila.</a:t>
            </a:r>
          </a:p>
        </p:txBody>
      </p:sp>
    </p:spTree>
    <p:extLst>
      <p:ext uri="{BB962C8B-B14F-4D97-AF65-F5344CB8AC3E}">
        <p14:creationId xmlns:p14="http://schemas.microsoft.com/office/powerpoint/2010/main" val="1517869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8F5BF-7401-3AFA-0B10-7C4BC08D04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9E1A0F-48AD-3FF8-85F0-A95D1921CF28}"/>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B3351688-1078-4EF1-AD86-1C2B9545EEE5}"/>
              </a:ext>
            </a:extLst>
          </p:cNvPr>
          <p:cNvSpPr>
            <a:spLocks noGrp="1"/>
          </p:cNvSpPr>
          <p:nvPr>
            <p:ph type="body" idx="1"/>
          </p:nvPr>
        </p:nvSpPr>
        <p:spPr/>
        <p:txBody>
          <a:bodyPr>
            <a:normAutofit lnSpcReduction="10000"/>
          </a:bodyPr>
          <a:lstStyle/>
          <a:p>
            <a:r>
              <a:rPr lang="es-EC" sz="2800" dirty="0">
                <a:solidFill>
                  <a:schemeClr val="accent5">
                    <a:lumMod val="75000"/>
                  </a:schemeClr>
                </a:solidFill>
              </a:rPr>
              <a:t>Crear un </a:t>
            </a:r>
            <a:r>
              <a:rPr lang="es-EC" sz="2800" dirty="0" err="1">
                <a:solidFill>
                  <a:schemeClr val="accent5">
                    <a:lumMod val="75000"/>
                  </a:schemeClr>
                </a:solidFill>
              </a:rPr>
              <a:t>ggplot</a:t>
            </a:r>
            <a:br>
              <a:rPr lang="es-EC" sz="2800" dirty="0">
                <a:solidFill>
                  <a:schemeClr val="accent5">
                    <a:lumMod val="75000"/>
                  </a:schemeClr>
                </a:solidFill>
              </a:rPr>
            </a:b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CAF21742-F4DD-8746-71A0-C8538395ED43}"/>
              </a:ext>
            </a:extLst>
          </p:cNvPr>
          <p:cNvSpPr>
            <a:spLocks noGrp="1"/>
          </p:cNvSpPr>
          <p:nvPr>
            <p:ph sz="half" idx="2"/>
          </p:nvPr>
        </p:nvSpPr>
        <p:spPr/>
        <p:txBody>
          <a:bodyPr>
            <a:normAutofit/>
          </a:bodyPr>
          <a:lstStyle/>
          <a:p>
            <a:pPr marL="0" indent="0" algn="just">
              <a:buNone/>
            </a:pPr>
            <a:r>
              <a:rPr lang="es-ES" dirty="0"/>
              <a:t>Con ggplot2, comienza un gráfico con la función, definiendo un objeto de gráfico al que luego agrega </a:t>
            </a:r>
            <a:r>
              <a:rPr lang="es-ES" b="1" dirty="0"/>
              <a:t>capas.</a:t>
            </a:r>
          </a:p>
          <a:p>
            <a:pPr marL="0" indent="0" algn="just">
              <a:buNone/>
            </a:pPr>
            <a:endParaRPr lang="es-EC" dirty="0"/>
          </a:p>
          <a:p>
            <a:pPr marL="514350" indent="-514350" algn="just">
              <a:buFont typeface="+mj-lt"/>
              <a:buAutoNum type="arabicPeriod"/>
            </a:pPr>
            <a:r>
              <a:rPr lang="es-EC" dirty="0"/>
              <a:t>El conjunto de datos que se usará en el gráfico.</a:t>
            </a:r>
          </a:p>
          <a:p>
            <a:pPr marL="514350" indent="-514350" algn="just">
              <a:buFont typeface="+mj-lt"/>
              <a:buAutoNum type="arabicPeriod"/>
            </a:pPr>
            <a:endParaRPr lang="es-EC" dirty="0"/>
          </a:p>
        </p:txBody>
      </p:sp>
      <p:pic>
        <p:nvPicPr>
          <p:cNvPr id="12" name="Marcador de contenido 11">
            <a:extLst>
              <a:ext uri="{FF2B5EF4-FFF2-40B4-BE49-F238E27FC236}">
                <a16:creationId xmlns:a16="http://schemas.microsoft.com/office/drawing/2014/main" id="{1FBB38EE-97CF-F761-8882-81D6EE02422B}"/>
              </a:ext>
            </a:extLst>
          </p:cNvPr>
          <p:cNvPicPr>
            <a:picLocks noGrp="1" noChangeAspect="1"/>
          </p:cNvPicPr>
          <p:nvPr>
            <p:ph sz="quarter" idx="4"/>
          </p:nvPr>
        </p:nvPicPr>
        <p:blipFill>
          <a:blip r:embed="rId2"/>
          <a:stretch>
            <a:fillRect/>
          </a:stretch>
        </p:blipFill>
        <p:spPr>
          <a:xfrm>
            <a:off x="6194427" y="2505075"/>
            <a:ext cx="5183188" cy="3135774"/>
          </a:xfrm>
          <a:prstGeom prst="rect">
            <a:avLst/>
          </a:prstGeom>
        </p:spPr>
      </p:pic>
      <p:sp>
        <p:nvSpPr>
          <p:cNvPr id="10" name="Marcador de texto 9">
            <a:extLst>
              <a:ext uri="{FF2B5EF4-FFF2-40B4-BE49-F238E27FC236}">
                <a16:creationId xmlns:a16="http://schemas.microsoft.com/office/drawing/2014/main" id="{D6EBED1B-C99E-8E8B-BFB5-8A4DDE8F2B79}"/>
              </a:ext>
            </a:extLst>
          </p:cNvPr>
          <p:cNvSpPr>
            <a:spLocks noGrp="1"/>
          </p:cNvSpPr>
          <p:nvPr>
            <p:ph type="body" sz="quarter" idx="3"/>
          </p:nvPr>
        </p:nvSpPr>
        <p:spPr/>
        <p:txBody>
          <a:bodyPr/>
          <a:lstStyle/>
          <a:p>
            <a:endParaRPr lang="es-EC"/>
          </a:p>
        </p:txBody>
      </p:sp>
      <p:sp>
        <p:nvSpPr>
          <p:cNvPr id="13" name="Rectángulo 12">
            <a:extLst>
              <a:ext uri="{FF2B5EF4-FFF2-40B4-BE49-F238E27FC236}">
                <a16:creationId xmlns:a16="http://schemas.microsoft.com/office/drawing/2014/main" id="{9B98586C-CD09-A290-1A01-F56850393F35}"/>
              </a:ext>
            </a:extLst>
          </p:cNvPr>
          <p:cNvSpPr/>
          <p:nvPr/>
        </p:nvSpPr>
        <p:spPr>
          <a:xfrm>
            <a:off x="6228762" y="5250729"/>
            <a:ext cx="1661474" cy="21681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EC"/>
          </a:p>
        </p:txBody>
      </p:sp>
      <p:cxnSp>
        <p:nvCxnSpPr>
          <p:cNvPr id="15" name="Conector recto de flecha 14">
            <a:extLst>
              <a:ext uri="{FF2B5EF4-FFF2-40B4-BE49-F238E27FC236}">
                <a16:creationId xmlns:a16="http://schemas.microsoft.com/office/drawing/2014/main" id="{672E5EFD-5497-FB94-DEF3-35625200A47F}"/>
              </a:ext>
            </a:extLst>
          </p:cNvPr>
          <p:cNvCxnSpPr/>
          <p:nvPr/>
        </p:nvCxnSpPr>
        <p:spPr>
          <a:xfrm flipV="1">
            <a:off x="8069344" y="5090474"/>
            <a:ext cx="914400" cy="292231"/>
          </a:xfrm>
          <a:prstGeom prst="straightConnector1">
            <a:avLst/>
          </a:prstGeom>
          <a:ln w="3810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687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D1AA-4FBF-36A6-6DC6-66970F05043C}"/>
            </a:ext>
          </a:extLst>
        </p:cNvPr>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0EB63D2C-1280-C351-6C9B-8475D07EE889}"/>
              </a:ext>
            </a:extLst>
          </p:cNvPr>
          <p:cNvPicPr>
            <a:picLocks noGrp="1" noChangeAspect="1"/>
          </p:cNvPicPr>
          <p:nvPr>
            <p:ph sz="quarter" idx="4"/>
          </p:nvPr>
        </p:nvPicPr>
        <p:blipFill>
          <a:blip r:embed="rId2"/>
          <a:stretch>
            <a:fillRect/>
          </a:stretch>
        </p:blipFill>
        <p:spPr>
          <a:xfrm>
            <a:off x="6172200" y="2795662"/>
            <a:ext cx="5183188" cy="3103413"/>
          </a:xfrm>
          <a:prstGeom prst="rect">
            <a:avLst/>
          </a:prstGeom>
        </p:spPr>
      </p:pic>
      <p:sp>
        <p:nvSpPr>
          <p:cNvPr id="2" name="Título 1">
            <a:extLst>
              <a:ext uri="{FF2B5EF4-FFF2-40B4-BE49-F238E27FC236}">
                <a16:creationId xmlns:a16="http://schemas.microsoft.com/office/drawing/2014/main" id="{772E6B59-E59C-77D4-2673-37A399B9E453}"/>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74A1310C-798D-B91E-833B-68CD8D6C94BD}"/>
              </a:ext>
            </a:extLst>
          </p:cNvPr>
          <p:cNvSpPr>
            <a:spLocks noGrp="1"/>
          </p:cNvSpPr>
          <p:nvPr>
            <p:ph type="body" idx="1"/>
          </p:nvPr>
        </p:nvSpPr>
        <p:spPr/>
        <p:txBody>
          <a:bodyPr>
            <a:normAutofit lnSpcReduction="10000"/>
          </a:bodyPr>
          <a:lstStyle/>
          <a:p>
            <a:r>
              <a:rPr lang="es-EC" sz="2800" dirty="0">
                <a:solidFill>
                  <a:schemeClr val="accent5">
                    <a:lumMod val="75000"/>
                  </a:schemeClr>
                </a:solidFill>
              </a:rPr>
              <a:t>Crear un </a:t>
            </a:r>
            <a:r>
              <a:rPr lang="es-EC" sz="2800" dirty="0" err="1">
                <a:solidFill>
                  <a:schemeClr val="accent5">
                    <a:lumMod val="75000"/>
                  </a:schemeClr>
                </a:solidFill>
              </a:rPr>
              <a:t>ggplot</a:t>
            </a:r>
            <a:br>
              <a:rPr lang="es-EC" sz="2800" dirty="0">
                <a:solidFill>
                  <a:schemeClr val="accent5">
                    <a:lumMod val="75000"/>
                  </a:schemeClr>
                </a:solidFill>
              </a:rPr>
            </a:b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677ACBFD-F0B0-5630-3E6D-7F589D434491}"/>
              </a:ext>
            </a:extLst>
          </p:cNvPr>
          <p:cNvSpPr>
            <a:spLocks noGrp="1"/>
          </p:cNvSpPr>
          <p:nvPr>
            <p:ph sz="half" idx="2"/>
          </p:nvPr>
        </p:nvSpPr>
        <p:spPr/>
        <p:txBody>
          <a:bodyPr>
            <a:normAutofit/>
          </a:bodyPr>
          <a:lstStyle/>
          <a:p>
            <a:pPr marL="514350" indent="-514350" algn="just">
              <a:buFont typeface="+mj-lt"/>
              <a:buAutoNum type="arabicPeriod" startAt="2"/>
            </a:pPr>
            <a:r>
              <a:rPr lang="es-EC" dirty="0"/>
              <a:t>Decir como se presentará visualmente nuestro gráfico.</a:t>
            </a:r>
          </a:p>
          <a:p>
            <a:pPr marL="0" indent="0" algn="just">
              <a:buNone/>
            </a:pPr>
            <a:r>
              <a:rPr lang="es-EC" dirty="0"/>
              <a:t>Para ello utilizaremos el argumento:</a:t>
            </a:r>
          </a:p>
          <a:p>
            <a:pPr marL="0" indent="0" algn="just">
              <a:buNone/>
            </a:pPr>
            <a:endParaRPr lang="es-EC" dirty="0"/>
          </a:p>
        </p:txBody>
      </p:sp>
      <p:sp>
        <p:nvSpPr>
          <p:cNvPr id="10" name="Marcador de texto 9">
            <a:extLst>
              <a:ext uri="{FF2B5EF4-FFF2-40B4-BE49-F238E27FC236}">
                <a16:creationId xmlns:a16="http://schemas.microsoft.com/office/drawing/2014/main" id="{11436147-A044-7A3C-D60E-A9C004251AF9}"/>
              </a:ext>
            </a:extLst>
          </p:cNvPr>
          <p:cNvSpPr>
            <a:spLocks noGrp="1"/>
          </p:cNvSpPr>
          <p:nvPr>
            <p:ph type="body" sz="quarter" idx="3"/>
          </p:nvPr>
        </p:nvSpPr>
        <p:spPr/>
        <p:txBody>
          <a:bodyPr/>
          <a:lstStyle/>
          <a:p>
            <a:endParaRPr lang="es-EC"/>
          </a:p>
        </p:txBody>
      </p:sp>
      <p:sp>
        <p:nvSpPr>
          <p:cNvPr id="13" name="Rectángulo 12">
            <a:extLst>
              <a:ext uri="{FF2B5EF4-FFF2-40B4-BE49-F238E27FC236}">
                <a16:creationId xmlns:a16="http://schemas.microsoft.com/office/drawing/2014/main" id="{46A64278-4D0C-9C16-D385-A6C061C534E6}"/>
              </a:ext>
            </a:extLst>
          </p:cNvPr>
          <p:cNvSpPr/>
          <p:nvPr/>
        </p:nvSpPr>
        <p:spPr>
          <a:xfrm>
            <a:off x="6228761" y="5148556"/>
            <a:ext cx="2575873" cy="582940"/>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EC"/>
          </a:p>
        </p:txBody>
      </p:sp>
      <p:cxnSp>
        <p:nvCxnSpPr>
          <p:cNvPr id="15" name="Conector recto de flecha 14">
            <a:extLst>
              <a:ext uri="{FF2B5EF4-FFF2-40B4-BE49-F238E27FC236}">
                <a16:creationId xmlns:a16="http://schemas.microsoft.com/office/drawing/2014/main" id="{97A40073-D187-9909-9D63-E2E11C54FAB2}"/>
              </a:ext>
            </a:extLst>
          </p:cNvPr>
          <p:cNvCxnSpPr>
            <a:cxnSpLocks/>
          </p:cNvCxnSpPr>
          <p:nvPr/>
        </p:nvCxnSpPr>
        <p:spPr>
          <a:xfrm flipV="1">
            <a:off x="8229600" y="4751110"/>
            <a:ext cx="744718" cy="339365"/>
          </a:xfrm>
          <a:prstGeom prst="straightConnector1">
            <a:avLst/>
          </a:prstGeom>
          <a:ln w="3810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pic>
        <p:nvPicPr>
          <p:cNvPr id="17" name="Imagen 16">
            <a:extLst>
              <a:ext uri="{FF2B5EF4-FFF2-40B4-BE49-F238E27FC236}">
                <a16:creationId xmlns:a16="http://schemas.microsoft.com/office/drawing/2014/main" id="{CCDC0FCE-6242-03E2-19B0-3095A79E14CD}"/>
              </a:ext>
            </a:extLst>
          </p:cNvPr>
          <p:cNvPicPr>
            <a:picLocks noChangeAspect="1"/>
          </p:cNvPicPr>
          <p:nvPr/>
        </p:nvPicPr>
        <p:blipFill>
          <a:blip r:embed="rId3"/>
          <a:srcRect l="1594" t="3508"/>
          <a:stretch>
            <a:fillRect/>
          </a:stretch>
        </p:blipFill>
        <p:spPr>
          <a:xfrm>
            <a:off x="836611" y="4339255"/>
            <a:ext cx="5160963" cy="1228938"/>
          </a:xfrm>
          <a:prstGeom prst="rect">
            <a:avLst/>
          </a:prstGeom>
        </p:spPr>
      </p:pic>
    </p:spTree>
    <p:extLst>
      <p:ext uri="{BB962C8B-B14F-4D97-AF65-F5344CB8AC3E}">
        <p14:creationId xmlns:p14="http://schemas.microsoft.com/office/powerpoint/2010/main" val="1815474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8BC2-B950-63AE-6A5B-EDCC26DDDE33}"/>
            </a:ext>
          </a:extLst>
        </p:cNvPr>
        <p:cNvGrpSpPr/>
        <p:nvPr/>
      </p:nvGrpSpPr>
      <p:grpSpPr>
        <a:xfrm>
          <a:off x="0" y="0"/>
          <a:ext cx="0" cy="0"/>
          <a:chOff x="0" y="0"/>
          <a:chExt cx="0" cy="0"/>
        </a:xfrm>
      </p:grpSpPr>
      <p:pic>
        <p:nvPicPr>
          <p:cNvPr id="9" name="Marcador de contenido 8">
            <a:extLst>
              <a:ext uri="{FF2B5EF4-FFF2-40B4-BE49-F238E27FC236}">
                <a16:creationId xmlns:a16="http://schemas.microsoft.com/office/drawing/2014/main" id="{1E776168-4D45-E6F8-1013-EC801E920537}"/>
              </a:ext>
            </a:extLst>
          </p:cNvPr>
          <p:cNvPicPr>
            <a:picLocks noGrp="1" noChangeAspect="1"/>
          </p:cNvPicPr>
          <p:nvPr>
            <p:ph sz="quarter" idx="4"/>
          </p:nvPr>
        </p:nvPicPr>
        <p:blipFill>
          <a:blip r:embed="rId2"/>
          <a:stretch>
            <a:fillRect/>
          </a:stretch>
        </p:blipFill>
        <p:spPr>
          <a:xfrm>
            <a:off x="6172200" y="2756276"/>
            <a:ext cx="5183188" cy="3182185"/>
          </a:xfrm>
          <a:prstGeom prst="rect">
            <a:avLst/>
          </a:prstGeom>
        </p:spPr>
      </p:pic>
      <p:sp>
        <p:nvSpPr>
          <p:cNvPr id="2" name="Título 1">
            <a:extLst>
              <a:ext uri="{FF2B5EF4-FFF2-40B4-BE49-F238E27FC236}">
                <a16:creationId xmlns:a16="http://schemas.microsoft.com/office/drawing/2014/main" id="{3A252269-708E-3D56-585B-A618558403A2}"/>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6211BECB-7E0D-6A22-23BB-314CE0D76A4E}"/>
              </a:ext>
            </a:extLst>
          </p:cNvPr>
          <p:cNvSpPr>
            <a:spLocks noGrp="1"/>
          </p:cNvSpPr>
          <p:nvPr>
            <p:ph type="body" idx="1"/>
          </p:nvPr>
        </p:nvSpPr>
        <p:spPr/>
        <p:txBody>
          <a:bodyPr>
            <a:normAutofit lnSpcReduction="10000"/>
          </a:bodyPr>
          <a:lstStyle/>
          <a:p>
            <a:r>
              <a:rPr lang="es-EC" sz="2800" dirty="0">
                <a:solidFill>
                  <a:schemeClr val="accent5">
                    <a:lumMod val="75000"/>
                  </a:schemeClr>
                </a:solidFill>
              </a:rPr>
              <a:t>Crear un </a:t>
            </a:r>
            <a:r>
              <a:rPr lang="es-EC" sz="2800" dirty="0" err="1">
                <a:solidFill>
                  <a:schemeClr val="accent5">
                    <a:lumMod val="75000"/>
                  </a:schemeClr>
                </a:solidFill>
              </a:rPr>
              <a:t>ggplot</a:t>
            </a:r>
            <a:br>
              <a:rPr lang="es-EC" sz="2800" dirty="0">
                <a:solidFill>
                  <a:schemeClr val="accent5">
                    <a:lumMod val="75000"/>
                  </a:schemeClr>
                </a:solidFill>
              </a:rPr>
            </a:b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5B9EE14B-BC82-5015-9F74-84780FD28088}"/>
              </a:ext>
            </a:extLst>
          </p:cNvPr>
          <p:cNvSpPr>
            <a:spLocks noGrp="1"/>
          </p:cNvSpPr>
          <p:nvPr>
            <p:ph sz="half" idx="2"/>
          </p:nvPr>
        </p:nvSpPr>
        <p:spPr/>
        <p:txBody>
          <a:bodyPr>
            <a:normAutofit/>
          </a:bodyPr>
          <a:lstStyle/>
          <a:p>
            <a:pPr marL="514350" indent="-514350" algn="just">
              <a:buFont typeface="+mj-lt"/>
              <a:buAutoNum type="arabicPeriod" startAt="3"/>
            </a:pPr>
            <a:r>
              <a:rPr lang="es-EC" dirty="0"/>
              <a:t>Necesitamos definir un </a:t>
            </a:r>
            <a:r>
              <a:rPr lang="es-EC" b="1" dirty="0" err="1"/>
              <a:t>geom</a:t>
            </a:r>
            <a:r>
              <a:rPr lang="es-EC" b="1" dirty="0"/>
              <a:t>: </a:t>
            </a:r>
            <a:r>
              <a:rPr lang="es-ES" dirty="0"/>
              <a:t>el objeto geométrico que utiliza un gráfico para representar datos.</a:t>
            </a:r>
            <a:endParaRPr lang="es-EC" dirty="0"/>
          </a:p>
          <a:p>
            <a:pPr marL="0" indent="0" algn="just">
              <a:buNone/>
            </a:pPr>
            <a:endParaRPr lang="es-EC" dirty="0"/>
          </a:p>
          <a:p>
            <a:pPr marL="0" indent="0" algn="just">
              <a:buNone/>
            </a:pPr>
            <a:endParaRPr lang="es-EC" dirty="0"/>
          </a:p>
        </p:txBody>
      </p:sp>
      <p:sp>
        <p:nvSpPr>
          <p:cNvPr id="10" name="Marcador de texto 9">
            <a:extLst>
              <a:ext uri="{FF2B5EF4-FFF2-40B4-BE49-F238E27FC236}">
                <a16:creationId xmlns:a16="http://schemas.microsoft.com/office/drawing/2014/main" id="{67A5A43D-0FB4-064B-E3FC-7677ACF6BF09}"/>
              </a:ext>
            </a:extLst>
          </p:cNvPr>
          <p:cNvSpPr>
            <a:spLocks noGrp="1"/>
          </p:cNvSpPr>
          <p:nvPr>
            <p:ph type="body" sz="quarter" idx="3"/>
          </p:nvPr>
        </p:nvSpPr>
        <p:spPr/>
        <p:txBody>
          <a:bodyPr/>
          <a:lstStyle/>
          <a:p>
            <a:endParaRPr lang="es-EC"/>
          </a:p>
        </p:txBody>
      </p:sp>
      <p:sp>
        <p:nvSpPr>
          <p:cNvPr id="13" name="Rectángulo 12">
            <a:extLst>
              <a:ext uri="{FF2B5EF4-FFF2-40B4-BE49-F238E27FC236}">
                <a16:creationId xmlns:a16="http://schemas.microsoft.com/office/drawing/2014/main" id="{0518BA76-8B80-A171-0ADF-5CC723A52F4E}"/>
              </a:ext>
            </a:extLst>
          </p:cNvPr>
          <p:cNvSpPr/>
          <p:nvPr/>
        </p:nvSpPr>
        <p:spPr>
          <a:xfrm>
            <a:off x="6228761" y="4119513"/>
            <a:ext cx="2651288" cy="1611983"/>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EC"/>
          </a:p>
        </p:txBody>
      </p:sp>
      <p:cxnSp>
        <p:nvCxnSpPr>
          <p:cNvPr id="15" name="Conector recto de flecha 14">
            <a:extLst>
              <a:ext uri="{FF2B5EF4-FFF2-40B4-BE49-F238E27FC236}">
                <a16:creationId xmlns:a16="http://schemas.microsoft.com/office/drawing/2014/main" id="{CAF06245-B761-8786-4E6A-71D8F4636750}"/>
              </a:ext>
            </a:extLst>
          </p:cNvPr>
          <p:cNvCxnSpPr>
            <a:cxnSpLocks/>
          </p:cNvCxnSpPr>
          <p:nvPr/>
        </p:nvCxnSpPr>
        <p:spPr>
          <a:xfrm flipV="1">
            <a:off x="8880049" y="4925504"/>
            <a:ext cx="428920" cy="251333"/>
          </a:xfrm>
          <a:prstGeom prst="straightConnector1">
            <a:avLst/>
          </a:prstGeom>
          <a:ln w="3810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pic>
        <p:nvPicPr>
          <p:cNvPr id="18" name="Imagen 17">
            <a:extLst>
              <a:ext uri="{FF2B5EF4-FFF2-40B4-BE49-F238E27FC236}">
                <a16:creationId xmlns:a16="http://schemas.microsoft.com/office/drawing/2014/main" id="{66539DE3-D3BB-8DA5-E775-64E19B20F3CF}"/>
              </a:ext>
            </a:extLst>
          </p:cNvPr>
          <p:cNvPicPr>
            <a:picLocks noChangeAspect="1"/>
          </p:cNvPicPr>
          <p:nvPr/>
        </p:nvPicPr>
        <p:blipFill>
          <a:blip r:embed="rId3"/>
          <a:stretch>
            <a:fillRect/>
          </a:stretch>
        </p:blipFill>
        <p:spPr>
          <a:xfrm>
            <a:off x="836612" y="4168774"/>
            <a:ext cx="5157787" cy="1562722"/>
          </a:xfrm>
          <a:prstGeom prst="rect">
            <a:avLst/>
          </a:prstGeom>
        </p:spPr>
      </p:pic>
    </p:spTree>
    <p:extLst>
      <p:ext uri="{BB962C8B-B14F-4D97-AF65-F5344CB8AC3E}">
        <p14:creationId xmlns:p14="http://schemas.microsoft.com/office/powerpoint/2010/main" val="286396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2C46D-325B-7166-43D1-A7B529433E74}"/>
            </a:ext>
          </a:extLst>
        </p:cNvPr>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8DA60291-CD46-F8FF-23D0-28B496D31DD0}"/>
              </a:ext>
            </a:extLst>
          </p:cNvPr>
          <p:cNvPicPr>
            <a:picLocks noGrp="1" noChangeAspect="1"/>
          </p:cNvPicPr>
          <p:nvPr>
            <p:ph sz="quarter" idx="4"/>
          </p:nvPr>
        </p:nvPicPr>
        <p:blipFill>
          <a:blip r:embed="rId2"/>
          <a:stretch>
            <a:fillRect/>
          </a:stretch>
        </p:blipFill>
        <p:spPr>
          <a:xfrm>
            <a:off x="6172200" y="2771400"/>
            <a:ext cx="5183188" cy="3151938"/>
          </a:xfrm>
          <a:prstGeom prst="rect">
            <a:avLst/>
          </a:prstGeom>
        </p:spPr>
      </p:pic>
      <p:sp>
        <p:nvSpPr>
          <p:cNvPr id="2" name="Título 1">
            <a:extLst>
              <a:ext uri="{FF2B5EF4-FFF2-40B4-BE49-F238E27FC236}">
                <a16:creationId xmlns:a16="http://schemas.microsoft.com/office/drawing/2014/main" id="{300B9680-4827-525D-0484-4067C322F4F0}"/>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E70F36E0-30B2-5DBD-C544-D4378BBC8D69}"/>
              </a:ext>
            </a:extLst>
          </p:cNvPr>
          <p:cNvSpPr>
            <a:spLocks noGrp="1"/>
          </p:cNvSpPr>
          <p:nvPr>
            <p:ph type="body" idx="1"/>
          </p:nvPr>
        </p:nvSpPr>
        <p:spPr/>
        <p:txBody>
          <a:bodyPr>
            <a:normAutofit lnSpcReduction="10000"/>
          </a:bodyPr>
          <a:lstStyle/>
          <a:p>
            <a:r>
              <a:rPr lang="es-EC" sz="2800" dirty="0">
                <a:solidFill>
                  <a:schemeClr val="accent5">
                    <a:lumMod val="75000"/>
                  </a:schemeClr>
                </a:solidFill>
              </a:rPr>
              <a:t>Añadir estética y capas</a:t>
            </a:r>
            <a:br>
              <a:rPr lang="es-EC" sz="2800" dirty="0">
                <a:solidFill>
                  <a:schemeClr val="accent5">
                    <a:lumMod val="75000"/>
                  </a:schemeClr>
                </a:solidFill>
              </a:rPr>
            </a:b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B5F05772-E361-5137-9ECC-3DD9C68682E1}"/>
              </a:ext>
            </a:extLst>
          </p:cNvPr>
          <p:cNvSpPr>
            <a:spLocks noGrp="1"/>
          </p:cNvSpPr>
          <p:nvPr>
            <p:ph sz="half" idx="2"/>
          </p:nvPr>
        </p:nvSpPr>
        <p:spPr/>
        <p:txBody>
          <a:bodyPr>
            <a:normAutofit/>
          </a:bodyPr>
          <a:lstStyle/>
          <a:p>
            <a:pPr marL="0" indent="0" algn="just">
              <a:buNone/>
            </a:pPr>
            <a:r>
              <a:rPr lang="es-ES" sz="2000" dirty="0"/>
              <a:t>Los diagramas de dispersión son útiles para mostrar la relación entre dos variables numéricas, pero siempre es una buena idea ser escéptico de cualquier relación aparente entre dos variables y preguntarse si puede haber otras variables que expliquen o cambien la naturaleza de esta relación aparente.</a:t>
            </a:r>
            <a:endParaRPr lang="es-EC" sz="2000" dirty="0"/>
          </a:p>
          <a:p>
            <a:pPr marL="0" indent="0" algn="just">
              <a:buNone/>
            </a:pPr>
            <a:endParaRPr lang="es-EC" sz="2000" dirty="0"/>
          </a:p>
        </p:txBody>
      </p:sp>
      <p:sp>
        <p:nvSpPr>
          <p:cNvPr id="10" name="Marcador de texto 9">
            <a:extLst>
              <a:ext uri="{FF2B5EF4-FFF2-40B4-BE49-F238E27FC236}">
                <a16:creationId xmlns:a16="http://schemas.microsoft.com/office/drawing/2014/main" id="{757F5684-B980-B0FE-70C6-665E6D721C39}"/>
              </a:ext>
            </a:extLst>
          </p:cNvPr>
          <p:cNvSpPr>
            <a:spLocks noGrp="1"/>
          </p:cNvSpPr>
          <p:nvPr>
            <p:ph type="body" sz="quarter" idx="3"/>
          </p:nvPr>
        </p:nvSpPr>
        <p:spPr/>
        <p:txBody>
          <a:bodyPr/>
          <a:lstStyle/>
          <a:p>
            <a:endParaRPr lang="es-EC"/>
          </a:p>
        </p:txBody>
      </p:sp>
      <p:sp>
        <p:nvSpPr>
          <p:cNvPr id="13" name="Rectángulo 12">
            <a:extLst>
              <a:ext uri="{FF2B5EF4-FFF2-40B4-BE49-F238E27FC236}">
                <a16:creationId xmlns:a16="http://schemas.microsoft.com/office/drawing/2014/main" id="{8BD69F3D-4B97-EB8A-626A-F1EAF0F6C89A}"/>
              </a:ext>
            </a:extLst>
          </p:cNvPr>
          <p:cNvSpPr/>
          <p:nvPr/>
        </p:nvSpPr>
        <p:spPr>
          <a:xfrm>
            <a:off x="6228761" y="5081047"/>
            <a:ext cx="2651288" cy="763572"/>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EC"/>
          </a:p>
        </p:txBody>
      </p:sp>
      <p:cxnSp>
        <p:nvCxnSpPr>
          <p:cNvPr id="15" name="Conector recto de flecha 14">
            <a:extLst>
              <a:ext uri="{FF2B5EF4-FFF2-40B4-BE49-F238E27FC236}">
                <a16:creationId xmlns:a16="http://schemas.microsoft.com/office/drawing/2014/main" id="{B7DC741C-B082-4F56-C413-1A02F18B04D5}"/>
              </a:ext>
            </a:extLst>
          </p:cNvPr>
          <p:cNvCxnSpPr>
            <a:cxnSpLocks/>
          </p:cNvCxnSpPr>
          <p:nvPr/>
        </p:nvCxnSpPr>
        <p:spPr>
          <a:xfrm flipV="1">
            <a:off x="8880049" y="4925504"/>
            <a:ext cx="428920" cy="251333"/>
          </a:xfrm>
          <a:prstGeom prst="straightConnector1">
            <a:avLst/>
          </a:prstGeom>
          <a:ln w="3810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pic>
        <p:nvPicPr>
          <p:cNvPr id="12" name="Imagen 11">
            <a:extLst>
              <a:ext uri="{FF2B5EF4-FFF2-40B4-BE49-F238E27FC236}">
                <a16:creationId xmlns:a16="http://schemas.microsoft.com/office/drawing/2014/main" id="{794B3D68-E88A-E2B1-7BEA-723AEB3D2E31}"/>
              </a:ext>
            </a:extLst>
          </p:cNvPr>
          <p:cNvPicPr>
            <a:picLocks noChangeAspect="1"/>
          </p:cNvPicPr>
          <p:nvPr/>
        </p:nvPicPr>
        <p:blipFill>
          <a:blip r:embed="rId3"/>
          <a:stretch>
            <a:fillRect/>
          </a:stretch>
        </p:blipFill>
        <p:spPr>
          <a:xfrm>
            <a:off x="836612" y="4732527"/>
            <a:ext cx="5153892" cy="1190811"/>
          </a:xfrm>
          <a:prstGeom prst="rect">
            <a:avLst/>
          </a:prstGeom>
        </p:spPr>
      </p:pic>
    </p:spTree>
    <p:extLst>
      <p:ext uri="{BB962C8B-B14F-4D97-AF65-F5344CB8AC3E}">
        <p14:creationId xmlns:p14="http://schemas.microsoft.com/office/powerpoint/2010/main" val="934976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FACF0-DDD9-78E9-DCF1-FE0346E61D45}"/>
            </a:ext>
          </a:extLst>
        </p:cNvPr>
        <p:cNvGrpSpPr/>
        <p:nvPr/>
      </p:nvGrpSpPr>
      <p:grpSpPr>
        <a:xfrm>
          <a:off x="0" y="0"/>
          <a:ext cx="0" cy="0"/>
          <a:chOff x="0" y="0"/>
          <a:chExt cx="0" cy="0"/>
        </a:xfrm>
      </p:grpSpPr>
      <p:pic>
        <p:nvPicPr>
          <p:cNvPr id="11" name="Marcador de contenido 4">
            <a:extLst>
              <a:ext uri="{FF2B5EF4-FFF2-40B4-BE49-F238E27FC236}">
                <a16:creationId xmlns:a16="http://schemas.microsoft.com/office/drawing/2014/main" id="{5D370007-BB36-3E89-3F28-26899537B25F}"/>
              </a:ext>
            </a:extLst>
          </p:cNvPr>
          <p:cNvPicPr>
            <a:picLocks noGrp="1" noChangeAspect="1"/>
          </p:cNvPicPr>
          <p:nvPr>
            <p:ph sz="quarter" idx="4"/>
          </p:nvPr>
        </p:nvPicPr>
        <p:blipFill>
          <a:blip r:embed="rId2"/>
          <a:stretch>
            <a:fillRect/>
          </a:stretch>
        </p:blipFill>
        <p:spPr>
          <a:xfrm>
            <a:off x="6172200" y="2757930"/>
            <a:ext cx="5183188" cy="3178878"/>
          </a:xfrm>
          <a:prstGeom prst="rect">
            <a:avLst/>
          </a:prstGeom>
        </p:spPr>
      </p:pic>
      <p:sp>
        <p:nvSpPr>
          <p:cNvPr id="2" name="Título 1">
            <a:extLst>
              <a:ext uri="{FF2B5EF4-FFF2-40B4-BE49-F238E27FC236}">
                <a16:creationId xmlns:a16="http://schemas.microsoft.com/office/drawing/2014/main" id="{D02D99D3-588A-07CA-8723-8FBF0013A874}"/>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F4846C66-9441-1BD5-D0A2-CB23465AB0EA}"/>
              </a:ext>
            </a:extLst>
          </p:cNvPr>
          <p:cNvSpPr>
            <a:spLocks noGrp="1"/>
          </p:cNvSpPr>
          <p:nvPr>
            <p:ph type="body" idx="1"/>
          </p:nvPr>
        </p:nvSpPr>
        <p:spPr/>
        <p:txBody>
          <a:bodyPr>
            <a:normAutofit lnSpcReduction="10000"/>
          </a:bodyPr>
          <a:lstStyle/>
          <a:p>
            <a:r>
              <a:rPr lang="es-EC" sz="2800" dirty="0">
                <a:solidFill>
                  <a:schemeClr val="accent5">
                    <a:lumMod val="75000"/>
                  </a:schemeClr>
                </a:solidFill>
              </a:rPr>
              <a:t>Añadir estética y capas</a:t>
            </a:r>
            <a:br>
              <a:rPr lang="es-EC" sz="2800" dirty="0">
                <a:solidFill>
                  <a:schemeClr val="accent5">
                    <a:lumMod val="75000"/>
                  </a:schemeClr>
                </a:solidFill>
              </a:rPr>
            </a:b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950BEAC2-6C2D-C847-0EF6-E44B3A5F8DC7}"/>
              </a:ext>
            </a:extLst>
          </p:cNvPr>
          <p:cNvSpPr>
            <a:spLocks noGrp="1"/>
          </p:cNvSpPr>
          <p:nvPr>
            <p:ph sz="half" idx="2"/>
          </p:nvPr>
        </p:nvSpPr>
        <p:spPr/>
        <p:txBody>
          <a:bodyPr>
            <a:normAutofit/>
          </a:bodyPr>
          <a:lstStyle/>
          <a:p>
            <a:pPr marL="0" indent="0" algn="just">
              <a:buNone/>
            </a:pPr>
            <a:r>
              <a:rPr lang="es-ES" dirty="0"/>
              <a:t>Ahora agreguemos una capa más: una curva suave que muestra la relación entre la masa corporal y la longitud de la aleta.</a:t>
            </a:r>
            <a:endParaRPr lang="es-EC" sz="2000" dirty="0"/>
          </a:p>
          <a:p>
            <a:pPr marL="0" indent="0" algn="just">
              <a:buNone/>
            </a:pPr>
            <a:endParaRPr lang="es-EC" sz="2000" dirty="0"/>
          </a:p>
        </p:txBody>
      </p:sp>
      <p:sp>
        <p:nvSpPr>
          <p:cNvPr id="10" name="Marcador de texto 9">
            <a:extLst>
              <a:ext uri="{FF2B5EF4-FFF2-40B4-BE49-F238E27FC236}">
                <a16:creationId xmlns:a16="http://schemas.microsoft.com/office/drawing/2014/main" id="{0821F0ED-4921-8D1C-3E45-2149ED85059F}"/>
              </a:ext>
            </a:extLst>
          </p:cNvPr>
          <p:cNvSpPr>
            <a:spLocks noGrp="1"/>
          </p:cNvSpPr>
          <p:nvPr>
            <p:ph type="body" sz="quarter" idx="3"/>
          </p:nvPr>
        </p:nvSpPr>
        <p:spPr/>
        <p:txBody>
          <a:bodyPr/>
          <a:lstStyle/>
          <a:p>
            <a:endParaRPr lang="es-EC"/>
          </a:p>
        </p:txBody>
      </p:sp>
      <p:pic>
        <p:nvPicPr>
          <p:cNvPr id="16" name="Imagen 15">
            <a:extLst>
              <a:ext uri="{FF2B5EF4-FFF2-40B4-BE49-F238E27FC236}">
                <a16:creationId xmlns:a16="http://schemas.microsoft.com/office/drawing/2014/main" id="{7822CFC2-311F-EDA6-149B-7E6F0EF343DB}"/>
              </a:ext>
            </a:extLst>
          </p:cNvPr>
          <p:cNvPicPr>
            <a:picLocks noChangeAspect="1"/>
          </p:cNvPicPr>
          <p:nvPr/>
        </p:nvPicPr>
        <p:blipFill>
          <a:blip r:embed="rId3"/>
          <a:stretch>
            <a:fillRect/>
          </a:stretch>
        </p:blipFill>
        <p:spPr>
          <a:xfrm>
            <a:off x="836612" y="4594410"/>
            <a:ext cx="5160963" cy="1342398"/>
          </a:xfrm>
          <a:prstGeom prst="rect">
            <a:avLst/>
          </a:prstGeom>
        </p:spPr>
      </p:pic>
    </p:spTree>
    <p:extLst>
      <p:ext uri="{BB962C8B-B14F-4D97-AF65-F5344CB8AC3E}">
        <p14:creationId xmlns:p14="http://schemas.microsoft.com/office/powerpoint/2010/main" val="117543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BD95F-EDEE-0D51-66AD-2C4F88E39B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F2BBE29-A340-62D0-314B-C57CF08B4E62}"/>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pic>
        <p:nvPicPr>
          <p:cNvPr id="5" name="Marcador de contenido 4">
            <a:extLst>
              <a:ext uri="{FF2B5EF4-FFF2-40B4-BE49-F238E27FC236}">
                <a16:creationId xmlns:a16="http://schemas.microsoft.com/office/drawing/2014/main" id="{4B044709-BEF7-4081-1D26-E9438B7B1A21}"/>
              </a:ext>
            </a:extLst>
          </p:cNvPr>
          <p:cNvPicPr>
            <a:picLocks noGrp="1" noChangeAspect="1"/>
          </p:cNvPicPr>
          <p:nvPr>
            <p:ph sz="half" idx="2"/>
          </p:nvPr>
        </p:nvPicPr>
        <p:blipFill>
          <a:blip r:embed="rId2"/>
          <a:stretch>
            <a:fillRect/>
          </a:stretch>
        </p:blipFill>
        <p:spPr>
          <a:xfrm>
            <a:off x="839788" y="1977171"/>
            <a:ext cx="5157787" cy="3434269"/>
          </a:xfrm>
          <a:prstGeom prst="rect">
            <a:avLst/>
          </a:prstGeom>
        </p:spPr>
      </p:pic>
      <p:sp>
        <p:nvSpPr>
          <p:cNvPr id="8" name="Marcador de texto 7">
            <a:extLst>
              <a:ext uri="{FF2B5EF4-FFF2-40B4-BE49-F238E27FC236}">
                <a16:creationId xmlns:a16="http://schemas.microsoft.com/office/drawing/2014/main" id="{6162C1F8-7FF3-613C-07D9-2E06B7A4BDB2}"/>
              </a:ext>
            </a:extLst>
          </p:cNvPr>
          <p:cNvSpPr>
            <a:spLocks noGrp="1"/>
          </p:cNvSpPr>
          <p:nvPr>
            <p:ph type="body" sz="quarter" idx="3"/>
          </p:nvPr>
        </p:nvSpPr>
        <p:spPr>
          <a:xfrm>
            <a:off x="3268743" y="1263184"/>
            <a:ext cx="5183188" cy="563153"/>
          </a:xfrm>
        </p:spPr>
        <p:txBody>
          <a:bodyPr/>
          <a:lstStyle/>
          <a:p>
            <a:pPr algn="ctr"/>
            <a:r>
              <a:rPr lang="es-EC" dirty="0">
                <a:solidFill>
                  <a:schemeClr val="accent5">
                    <a:lumMod val="75000"/>
                  </a:schemeClr>
                </a:solidFill>
              </a:rPr>
              <a:t>Mapear la estética</a:t>
            </a:r>
          </a:p>
        </p:txBody>
      </p:sp>
      <p:pic>
        <p:nvPicPr>
          <p:cNvPr id="11" name="Marcador de contenido 10">
            <a:extLst>
              <a:ext uri="{FF2B5EF4-FFF2-40B4-BE49-F238E27FC236}">
                <a16:creationId xmlns:a16="http://schemas.microsoft.com/office/drawing/2014/main" id="{89CBB785-BE74-F413-396D-8CC6BF54A9F3}"/>
              </a:ext>
            </a:extLst>
          </p:cNvPr>
          <p:cNvPicPr>
            <a:picLocks noGrp="1" noChangeAspect="1"/>
          </p:cNvPicPr>
          <p:nvPr>
            <p:ph sz="quarter" idx="4"/>
          </p:nvPr>
        </p:nvPicPr>
        <p:blipFill>
          <a:blip r:embed="rId3"/>
          <a:stretch>
            <a:fillRect/>
          </a:stretch>
        </p:blipFill>
        <p:spPr>
          <a:xfrm>
            <a:off x="6172200" y="1987556"/>
            <a:ext cx="5183188" cy="3414912"/>
          </a:xfrm>
          <a:prstGeom prst="rect">
            <a:avLst/>
          </a:prstGeom>
        </p:spPr>
      </p:pic>
      <p:pic>
        <p:nvPicPr>
          <p:cNvPr id="13" name="Imagen 12">
            <a:extLst>
              <a:ext uri="{FF2B5EF4-FFF2-40B4-BE49-F238E27FC236}">
                <a16:creationId xmlns:a16="http://schemas.microsoft.com/office/drawing/2014/main" id="{9E378494-6BC1-8FD3-CBEF-97A0DDD83726}"/>
              </a:ext>
            </a:extLst>
          </p:cNvPr>
          <p:cNvPicPr>
            <a:picLocks noChangeAspect="1"/>
          </p:cNvPicPr>
          <p:nvPr/>
        </p:nvPicPr>
        <p:blipFill>
          <a:blip r:embed="rId4"/>
          <a:stretch>
            <a:fillRect/>
          </a:stretch>
        </p:blipFill>
        <p:spPr>
          <a:xfrm>
            <a:off x="6280344" y="5425190"/>
            <a:ext cx="4985950" cy="1376248"/>
          </a:xfrm>
          <a:prstGeom prst="rect">
            <a:avLst/>
          </a:prstGeom>
        </p:spPr>
      </p:pic>
      <p:pic>
        <p:nvPicPr>
          <p:cNvPr id="15" name="Imagen 14">
            <a:extLst>
              <a:ext uri="{FF2B5EF4-FFF2-40B4-BE49-F238E27FC236}">
                <a16:creationId xmlns:a16="http://schemas.microsoft.com/office/drawing/2014/main" id="{0ADAA9E9-8A27-7D07-0F6B-A01C8CB8AAD3}"/>
              </a:ext>
            </a:extLst>
          </p:cNvPr>
          <p:cNvPicPr>
            <a:picLocks noChangeAspect="1"/>
          </p:cNvPicPr>
          <p:nvPr/>
        </p:nvPicPr>
        <p:blipFill>
          <a:blip r:embed="rId5"/>
          <a:stretch>
            <a:fillRect/>
          </a:stretch>
        </p:blipFill>
        <p:spPr>
          <a:xfrm>
            <a:off x="925706" y="5425190"/>
            <a:ext cx="4985950" cy="1376248"/>
          </a:xfrm>
          <a:prstGeom prst="rect">
            <a:avLst/>
          </a:prstGeom>
        </p:spPr>
      </p:pic>
    </p:spTree>
    <p:extLst>
      <p:ext uri="{BB962C8B-B14F-4D97-AF65-F5344CB8AC3E}">
        <p14:creationId xmlns:p14="http://schemas.microsoft.com/office/powerpoint/2010/main" val="1282782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85E5B-23B2-5C5C-6828-8078BA4D37C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C3DA36-6E65-3317-4D6C-57F5DB31FB55}"/>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8" name="Marcador de texto 7">
            <a:extLst>
              <a:ext uri="{FF2B5EF4-FFF2-40B4-BE49-F238E27FC236}">
                <a16:creationId xmlns:a16="http://schemas.microsoft.com/office/drawing/2014/main" id="{A209C9F5-3039-E8F5-1A0D-7A47ABD1956A}"/>
              </a:ext>
            </a:extLst>
          </p:cNvPr>
          <p:cNvSpPr>
            <a:spLocks noGrp="1"/>
          </p:cNvSpPr>
          <p:nvPr>
            <p:ph type="body" sz="quarter" idx="3"/>
          </p:nvPr>
        </p:nvSpPr>
        <p:spPr>
          <a:xfrm>
            <a:off x="3268743" y="1527140"/>
            <a:ext cx="5183188" cy="563153"/>
          </a:xfrm>
        </p:spPr>
        <p:txBody>
          <a:bodyPr>
            <a:normAutofit fontScale="92500"/>
          </a:bodyPr>
          <a:lstStyle/>
          <a:p>
            <a:pPr algn="ctr"/>
            <a:r>
              <a:rPr lang="es-EC" dirty="0">
                <a:solidFill>
                  <a:schemeClr val="accent5">
                    <a:lumMod val="75000"/>
                  </a:schemeClr>
                </a:solidFill>
              </a:rPr>
              <a:t>Mejorar las etiquetas de nuestros gráficos</a:t>
            </a:r>
          </a:p>
        </p:txBody>
      </p:sp>
      <p:pic>
        <p:nvPicPr>
          <p:cNvPr id="10" name="Marcador de contenido 9">
            <a:extLst>
              <a:ext uri="{FF2B5EF4-FFF2-40B4-BE49-F238E27FC236}">
                <a16:creationId xmlns:a16="http://schemas.microsoft.com/office/drawing/2014/main" id="{2418D533-E9D1-7D68-B547-74D502249CA8}"/>
              </a:ext>
            </a:extLst>
          </p:cNvPr>
          <p:cNvPicPr>
            <a:picLocks noGrp="1" noChangeAspect="1"/>
          </p:cNvPicPr>
          <p:nvPr>
            <p:ph sz="half" idx="2"/>
          </p:nvPr>
        </p:nvPicPr>
        <p:blipFill>
          <a:blip r:embed="rId2"/>
          <a:stretch>
            <a:fillRect/>
          </a:stretch>
        </p:blipFill>
        <p:spPr>
          <a:xfrm>
            <a:off x="839789" y="3073138"/>
            <a:ext cx="4806868" cy="2570222"/>
          </a:xfrm>
          <a:prstGeom prst="rect">
            <a:avLst/>
          </a:prstGeom>
        </p:spPr>
      </p:pic>
      <p:pic>
        <p:nvPicPr>
          <p:cNvPr id="13" name="Marcador de contenido 12">
            <a:extLst>
              <a:ext uri="{FF2B5EF4-FFF2-40B4-BE49-F238E27FC236}">
                <a16:creationId xmlns:a16="http://schemas.microsoft.com/office/drawing/2014/main" id="{6CE5E097-DF9D-1EC3-920D-39CB6FAF58DE}"/>
              </a:ext>
            </a:extLst>
          </p:cNvPr>
          <p:cNvPicPr>
            <a:picLocks noGrp="1" noChangeAspect="1"/>
          </p:cNvPicPr>
          <p:nvPr>
            <p:ph sz="quarter" idx="4"/>
          </p:nvPr>
        </p:nvPicPr>
        <p:blipFill>
          <a:blip r:embed="rId3"/>
          <a:stretch>
            <a:fillRect/>
          </a:stretch>
        </p:blipFill>
        <p:spPr>
          <a:xfrm>
            <a:off x="5871862" y="2422689"/>
            <a:ext cx="5719199" cy="3519507"/>
          </a:xfrm>
          <a:prstGeom prst="rect">
            <a:avLst/>
          </a:prstGeom>
        </p:spPr>
      </p:pic>
    </p:spTree>
    <p:extLst>
      <p:ext uri="{BB962C8B-B14F-4D97-AF65-F5344CB8AC3E}">
        <p14:creationId xmlns:p14="http://schemas.microsoft.com/office/powerpoint/2010/main" val="2096737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E4774-8DB4-482D-0B0E-855C4CDE15D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BCC684CA-7689-1499-4C1A-CB766B990FD4}"/>
              </a:ext>
            </a:extLst>
          </p:cNvPr>
          <p:cNvPicPr>
            <a:picLocks noChangeAspect="1"/>
          </p:cNvPicPr>
          <p:nvPr/>
        </p:nvPicPr>
        <p:blipFill>
          <a:blip r:embed="rId2"/>
          <a:stretch>
            <a:fillRect/>
          </a:stretch>
        </p:blipFill>
        <p:spPr>
          <a:xfrm>
            <a:off x="6368884" y="3556263"/>
            <a:ext cx="4364901" cy="2936612"/>
          </a:xfrm>
          <a:prstGeom prst="rect">
            <a:avLst/>
          </a:prstGeom>
        </p:spPr>
      </p:pic>
      <p:pic>
        <p:nvPicPr>
          <p:cNvPr id="9" name="Imagen 8">
            <a:extLst>
              <a:ext uri="{FF2B5EF4-FFF2-40B4-BE49-F238E27FC236}">
                <a16:creationId xmlns:a16="http://schemas.microsoft.com/office/drawing/2014/main" id="{5F9466FD-AB7E-DCEF-115B-8ADAA994A552}"/>
              </a:ext>
            </a:extLst>
          </p:cNvPr>
          <p:cNvPicPr>
            <a:picLocks noChangeAspect="1"/>
          </p:cNvPicPr>
          <p:nvPr/>
        </p:nvPicPr>
        <p:blipFill>
          <a:blip r:embed="rId3"/>
          <a:stretch>
            <a:fillRect/>
          </a:stretch>
        </p:blipFill>
        <p:spPr>
          <a:xfrm>
            <a:off x="871070" y="3603971"/>
            <a:ext cx="4258828" cy="2841196"/>
          </a:xfrm>
          <a:prstGeom prst="rect">
            <a:avLst/>
          </a:prstGeom>
        </p:spPr>
      </p:pic>
      <p:sp>
        <p:nvSpPr>
          <p:cNvPr id="2" name="Título 1">
            <a:extLst>
              <a:ext uri="{FF2B5EF4-FFF2-40B4-BE49-F238E27FC236}">
                <a16:creationId xmlns:a16="http://schemas.microsoft.com/office/drawing/2014/main" id="{A40CEB0C-E9CC-56F2-45A9-4E5B8E9C380B}"/>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BC8E57EE-02BA-47E5-E949-2F29161F42CB}"/>
              </a:ext>
            </a:extLst>
          </p:cNvPr>
          <p:cNvSpPr>
            <a:spLocks noGrp="1"/>
          </p:cNvSpPr>
          <p:nvPr>
            <p:ph type="body" idx="1"/>
          </p:nvPr>
        </p:nvSpPr>
        <p:spPr/>
        <p:txBody>
          <a:bodyPr>
            <a:normAutofit/>
          </a:bodyPr>
          <a:lstStyle/>
          <a:p>
            <a:br>
              <a:rPr lang="es-EC" sz="2800" dirty="0">
                <a:solidFill>
                  <a:schemeClr val="accent5">
                    <a:lumMod val="75000"/>
                  </a:schemeClr>
                </a:solidFill>
              </a:rPr>
            </a:br>
            <a:r>
              <a:rPr lang="es-EC" dirty="0">
                <a:solidFill>
                  <a:schemeClr val="accent5">
                    <a:lumMod val="75000"/>
                  </a:schemeClr>
                </a:solidFill>
              </a:rPr>
              <a:t>Variable Categórica</a:t>
            </a:r>
            <a:endParaRPr lang="es-EC" sz="2800" dirty="0">
              <a:solidFill>
                <a:schemeClr val="accent5">
                  <a:lumMod val="75000"/>
                </a:schemeClr>
              </a:solidFill>
            </a:endParaRPr>
          </a:p>
        </p:txBody>
      </p:sp>
      <p:sp>
        <p:nvSpPr>
          <p:cNvPr id="5" name="Marcador de contenido 4">
            <a:extLst>
              <a:ext uri="{FF2B5EF4-FFF2-40B4-BE49-F238E27FC236}">
                <a16:creationId xmlns:a16="http://schemas.microsoft.com/office/drawing/2014/main" id="{C53AA985-B2CA-CA86-F2EF-A96C7B2A3956}"/>
              </a:ext>
            </a:extLst>
          </p:cNvPr>
          <p:cNvSpPr>
            <a:spLocks noGrp="1"/>
          </p:cNvSpPr>
          <p:nvPr>
            <p:ph sz="half" idx="2"/>
          </p:nvPr>
        </p:nvSpPr>
        <p:spPr/>
        <p:txBody>
          <a:bodyPr>
            <a:normAutofit/>
          </a:bodyPr>
          <a:lstStyle/>
          <a:p>
            <a:pPr marL="0" indent="0" algn="just">
              <a:buNone/>
            </a:pPr>
            <a:r>
              <a:rPr lang="es-ES" dirty="0"/>
              <a:t>Si solo puede tomar uno de un pequeño conjunto de valores.</a:t>
            </a:r>
          </a:p>
          <a:p>
            <a:pPr marL="0" indent="0" algn="just">
              <a:buNone/>
            </a:pPr>
            <a:endParaRPr lang="es-EC" dirty="0"/>
          </a:p>
        </p:txBody>
      </p:sp>
      <p:sp>
        <p:nvSpPr>
          <p:cNvPr id="6" name="Marcador de texto 5">
            <a:extLst>
              <a:ext uri="{FF2B5EF4-FFF2-40B4-BE49-F238E27FC236}">
                <a16:creationId xmlns:a16="http://schemas.microsoft.com/office/drawing/2014/main" id="{20F17F7B-D965-C9A5-F684-D6933B01164C}"/>
              </a:ext>
            </a:extLst>
          </p:cNvPr>
          <p:cNvSpPr>
            <a:spLocks noGrp="1"/>
          </p:cNvSpPr>
          <p:nvPr>
            <p:ph type="body" sz="quarter" idx="3"/>
          </p:nvPr>
        </p:nvSpPr>
        <p:spPr/>
        <p:txBody>
          <a:bodyPr>
            <a:normAutofit/>
          </a:bodyPr>
          <a:lstStyle/>
          <a:p>
            <a:r>
              <a:rPr lang="es-EC" dirty="0">
                <a:solidFill>
                  <a:schemeClr val="accent5">
                    <a:lumMod val="75000"/>
                  </a:schemeClr>
                </a:solidFill>
              </a:rPr>
              <a:t>Variable Numérica</a:t>
            </a:r>
          </a:p>
        </p:txBody>
      </p:sp>
      <p:sp>
        <p:nvSpPr>
          <p:cNvPr id="7" name="Marcador de contenido 6">
            <a:extLst>
              <a:ext uri="{FF2B5EF4-FFF2-40B4-BE49-F238E27FC236}">
                <a16:creationId xmlns:a16="http://schemas.microsoft.com/office/drawing/2014/main" id="{AD15D768-940B-7651-5601-5803512318FD}"/>
              </a:ext>
            </a:extLst>
          </p:cNvPr>
          <p:cNvSpPr>
            <a:spLocks noGrp="1"/>
          </p:cNvSpPr>
          <p:nvPr>
            <p:ph sz="quarter" idx="4"/>
          </p:nvPr>
        </p:nvSpPr>
        <p:spPr>
          <a:xfrm>
            <a:off x="6172200" y="2520181"/>
            <a:ext cx="5183188" cy="3684588"/>
          </a:xfrm>
        </p:spPr>
        <p:txBody>
          <a:bodyPr>
            <a:normAutofit/>
          </a:bodyPr>
          <a:lstStyle/>
          <a:p>
            <a:pPr marL="0" indent="0">
              <a:buNone/>
            </a:pPr>
            <a:r>
              <a:rPr lang="es-ES" sz="2200" dirty="0"/>
              <a:t>Si puede tomar un amplio rango de valores numéricos, y es sensato sumar, restar o tomar promedios con esos valores.</a:t>
            </a:r>
          </a:p>
          <a:p>
            <a:pPr marL="0" indent="0">
              <a:buNone/>
            </a:pPr>
            <a:endParaRPr lang="es-ES" sz="2200" dirty="0"/>
          </a:p>
        </p:txBody>
      </p:sp>
      <p:sp>
        <p:nvSpPr>
          <p:cNvPr id="3" name="Marcador de texto 3">
            <a:extLst>
              <a:ext uri="{FF2B5EF4-FFF2-40B4-BE49-F238E27FC236}">
                <a16:creationId xmlns:a16="http://schemas.microsoft.com/office/drawing/2014/main" id="{4DE320D5-4958-78DC-77B7-DBFD0D0E5178}"/>
              </a:ext>
            </a:extLst>
          </p:cNvPr>
          <p:cNvSpPr txBox="1">
            <a:spLocks/>
          </p:cNvSpPr>
          <p:nvPr/>
        </p:nvSpPr>
        <p:spPr>
          <a:xfrm>
            <a:off x="3517106" y="1435100"/>
            <a:ext cx="5157787" cy="823912"/>
          </a:xfrm>
          <a:prstGeom prst="rect">
            <a:avLst/>
          </a:prstGeom>
        </p:spPr>
        <p:txBody>
          <a:bodyPr vert="horz" lIns="91440" tIns="45720" rIns="91440" bIns="4572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EC" sz="2800" dirty="0">
                <a:solidFill>
                  <a:schemeClr val="accent5">
                    <a:lumMod val="75000"/>
                  </a:schemeClr>
                </a:solidFill>
              </a:rPr>
              <a:t>Visualización de Distribuciones</a:t>
            </a:r>
            <a:br>
              <a:rPr lang="es-EC" sz="2800" dirty="0">
                <a:solidFill>
                  <a:schemeClr val="accent5">
                    <a:lumMod val="75000"/>
                  </a:schemeClr>
                </a:solidFill>
              </a:rPr>
            </a:br>
            <a:endParaRPr lang="es-EC" sz="2800" dirty="0">
              <a:solidFill>
                <a:schemeClr val="accent5">
                  <a:lumMod val="75000"/>
                </a:schemeClr>
              </a:solidFill>
            </a:endParaRPr>
          </a:p>
        </p:txBody>
      </p:sp>
    </p:spTree>
    <p:extLst>
      <p:ext uri="{BB962C8B-B14F-4D97-AF65-F5344CB8AC3E}">
        <p14:creationId xmlns:p14="http://schemas.microsoft.com/office/powerpoint/2010/main" val="1248339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05DE8-9AEF-9B34-5758-4B1A212FBC7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145DAB-0FFF-7AB2-2490-0D8C905273FC}"/>
              </a:ext>
            </a:extLst>
          </p:cNvPr>
          <p:cNvSpPr>
            <a:spLocks noGrp="1"/>
          </p:cNvSpPr>
          <p:nvPr>
            <p:ph type="title"/>
          </p:nvPr>
        </p:nvSpPr>
        <p:spPr>
          <a:xfrm>
            <a:off x="839788" y="302329"/>
            <a:ext cx="10515600" cy="1325563"/>
          </a:xfrm>
        </p:spPr>
        <p:txBody>
          <a:bodyPr>
            <a:normAutofit/>
          </a:bodyPr>
          <a:lstStyle/>
          <a:p>
            <a:r>
              <a:rPr lang="es-EC" sz="5000" b="1" dirty="0">
                <a:solidFill>
                  <a:schemeClr val="accent5">
                    <a:lumMod val="40000"/>
                    <a:lumOff val="60000"/>
                  </a:schemeClr>
                </a:solidFill>
              </a:rPr>
              <a:t>VISUALIZACIÓN DE DATOS</a:t>
            </a:r>
          </a:p>
        </p:txBody>
      </p:sp>
      <p:sp>
        <p:nvSpPr>
          <p:cNvPr id="13" name="Marcador de texto 12">
            <a:extLst>
              <a:ext uri="{FF2B5EF4-FFF2-40B4-BE49-F238E27FC236}">
                <a16:creationId xmlns:a16="http://schemas.microsoft.com/office/drawing/2014/main" id="{56C2F692-6C52-7BA8-C461-9812FB5433F2}"/>
              </a:ext>
            </a:extLst>
          </p:cNvPr>
          <p:cNvSpPr>
            <a:spLocks noGrp="1"/>
          </p:cNvSpPr>
          <p:nvPr>
            <p:ph type="body" idx="1"/>
          </p:nvPr>
        </p:nvSpPr>
        <p:spPr>
          <a:xfrm>
            <a:off x="839788" y="1649688"/>
            <a:ext cx="5157787" cy="516022"/>
          </a:xfrm>
        </p:spPr>
        <p:txBody>
          <a:bodyPr/>
          <a:lstStyle/>
          <a:p>
            <a:r>
              <a:rPr lang="es-EC" dirty="0">
                <a:solidFill>
                  <a:schemeClr val="accent5">
                    <a:lumMod val="75000"/>
                  </a:schemeClr>
                </a:solidFill>
              </a:rPr>
              <a:t>Gráfico de Densidad</a:t>
            </a:r>
          </a:p>
        </p:txBody>
      </p:sp>
      <p:sp>
        <p:nvSpPr>
          <p:cNvPr id="17" name="Marcador de contenido 16">
            <a:extLst>
              <a:ext uri="{FF2B5EF4-FFF2-40B4-BE49-F238E27FC236}">
                <a16:creationId xmlns:a16="http://schemas.microsoft.com/office/drawing/2014/main" id="{839F0299-9F4B-0DE9-B50A-621552052009}"/>
              </a:ext>
            </a:extLst>
          </p:cNvPr>
          <p:cNvSpPr>
            <a:spLocks noGrp="1"/>
          </p:cNvSpPr>
          <p:nvPr>
            <p:ph sz="half" idx="2"/>
          </p:nvPr>
        </p:nvSpPr>
        <p:spPr/>
        <p:txBody>
          <a:bodyPr>
            <a:normAutofit/>
          </a:bodyPr>
          <a:lstStyle/>
          <a:p>
            <a:pPr marL="0" indent="0" algn="just">
              <a:buNone/>
            </a:pPr>
            <a:r>
              <a:rPr lang="es-ES" dirty="0"/>
              <a:t>Es una visualización alternativa para las distribuciones de variables numéricas. </a:t>
            </a:r>
          </a:p>
          <a:p>
            <a:pPr marL="0" indent="0" algn="just">
              <a:buNone/>
            </a:pPr>
            <a:r>
              <a:rPr lang="es-ES" dirty="0"/>
              <a:t>Es una versión suavizada de un histograma y una alternativa práctica, particularmente para datos continuos que provienen de una distribución suave subyacente.</a:t>
            </a:r>
            <a:endParaRPr lang="es-EC" dirty="0"/>
          </a:p>
        </p:txBody>
      </p:sp>
      <p:pic>
        <p:nvPicPr>
          <p:cNvPr id="18" name="Marcador de contenido 10">
            <a:extLst>
              <a:ext uri="{FF2B5EF4-FFF2-40B4-BE49-F238E27FC236}">
                <a16:creationId xmlns:a16="http://schemas.microsoft.com/office/drawing/2014/main" id="{2E041451-6544-7CA0-C6D1-B4A2130D60BB}"/>
              </a:ext>
            </a:extLst>
          </p:cNvPr>
          <p:cNvPicPr>
            <a:picLocks noGrp="1" noChangeAspect="1"/>
          </p:cNvPicPr>
          <p:nvPr>
            <p:ph sz="quarter" idx="4"/>
          </p:nvPr>
        </p:nvPicPr>
        <p:blipFill>
          <a:blip r:embed="rId2"/>
          <a:stretch>
            <a:fillRect/>
          </a:stretch>
        </p:blipFill>
        <p:spPr>
          <a:xfrm>
            <a:off x="6363092" y="1989053"/>
            <a:ext cx="5621917" cy="3930302"/>
          </a:xfrm>
          <a:prstGeom prst="rect">
            <a:avLst/>
          </a:prstGeom>
        </p:spPr>
      </p:pic>
    </p:spTree>
    <p:extLst>
      <p:ext uri="{BB962C8B-B14F-4D97-AF65-F5344CB8AC3E}">
        <p14:creationId xmlns:p14="http://schemas.microsoft.com/office/powerpoint/2010/main" val="113438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7923B-B872-79D5-F9BC-3C827DF6DF2B}"/>
            </a:ext>
          </a:extLst>
        </p:cNvPr>
        <p:cNvGrpSpPr/>
        <p:nvPr/>
      </p:nvGrpSpPr>
      <p:grpSpPr>
        <a:xfrm>
          <a:off x="0" y="0"/>
          <a:ext cx="0" cy="0"/>
          <a:chOff x="0" y="0"/>
          <a:chExt cx="0" cy="0"/>
        </a:xfrm>
      </p:grpSpPr>
      <p:pic>
        <p:nvPicPr>
          <p:cNvPr id="2054" name="Picture 6" descr="Bar plots of penguin species by island (Biscoe, Dream, and Torgersen)">
            <a:extLst>
              <a:ext uri="{FF2B5EF4-FFF2-40B4-BE49-F238E27FC236}">
                <a16:creationId xmlns:a16="http://schemas.microsoft.com/office/drawing/2014/main" id="{5828BFB7-10CB-D94F-4AA4-083F88C96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0675" y="3556262"/>
            <a:ext cx="4786238" cy="31908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ide-by-side box plots of distributions of body masses of Adelie,  Chinstrap, and Gentoo penguins. The distribution of Adelie and  Chinstrap penguins' body masses appear to be symmetric with  medians around 3750 grams. The median body mass of Gentoo penguins  is much higher, around 5000 grams, and the distribution of the  body masses of these penguins appears to be somewhat right skewed.">
            <a:extLst>
              <a:ext uri="{FF2B5EF4-FFF2-40B4-BE49-F238E27FC236}">
                <a16:creationId xmlns:a16="http://schemas.microsoft.com/office/drawing/2014/main" id="{6A7FC650-BEE6-ED84-9DE8-10A16E404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359" y="3556263"/>
            <a:ext cx="4786238" cy="319082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BB1F273B-36BE-1E34-95EF-ACB6679AFFD8}"/>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FE51C18B-FA4E-C64D-5CB1-AFC240D72D7F}"/>
              </a:ext>
            </a:extLst>
          </p:cNvPr>
          <p:cNvSpPr>
            <a:spLocks noGrp="1"/>
          </p:cNvSpPr>
          <p:nvPr>
            <p:ph type="body" idx="1"/>
          </p:nvPr>
        </p:nvSpPr>
        <p:spPr/>
        <p:txBody>
          <a:bodyPr>
            <a:normAutofit fontScale="92500"/>
          </a:bodyPr>
          <a:lstStyle/>
          <a:p>
            <a:br>
              <a:rPr lang="es-EC" sz="2800" dirty="0">
                <a:solidFill>
                  <a:schemeClr val="accent5">
                    <a:lumMod val="75000"/>
                  </a:schemeClr>
                </a:solidFill>
              </a:rPr>
            </a:br>
            <a:r>
              <a:rPr lang="es-ES" dirty="0">
                <a:solidFill>
                  <a:schemeClr val="accent5">
                    <a:lumMod val="75000"/>
                  </a:schemeClr>
                </a:solidFill>
              </a:rPr>
              <a:t>Una Variable Numérica y una Categórica</a:t>
            </a:r>
          </a:p>
        </p:txBody>
      </p:sp>
      <p:sp>
        <p:nvSpPr>
          <p:cNvPr id="5" name="Marcador de contenido 4">
            <a:extLst>
              <a:ext uri="{FF2B5EF4-FFF2-40B4-BE49-F238E27FC236}">
                <a16:creationId xmlns:a16="http://schemas.microsoft.com/office/drawing/2014/main" id="{67F6D696-F40E-5A0A-4084-67CC1C6CCA7E}"/>
              </a:ext>
            </a:extLst>
          </p:cNvPr>
          <p:cNvSpPr>
            <a:spLocks noGrp="1"/>
          </p:cNvSpPr>
          <p:nvPr>
            <p:ph sz="half" idx="2"/>
          </p:nvPr>
        </p:nvSpPr>
        <p:spPr/>
        <p:txBody>
          <a:bodyPr>
            <a:normAutofit/>
          </a:bodyPr>
          <a:lstStyle/>
          <a:p>
            <a:pPr marL="0" indent="0" algn="just">
              <a:buNone/>
            </a:pPr>
            <a:r>
              <a:rPr lang="es-ES" dirty="0"/>
              <a:t>Podemos usar diagramas de caja uno al lado del otro.</a:t>
            </a:r>
            <a:endParaRPr lang="es-EC" dirty="0"/>
          </a:p>
        </p:txBody>
      </p:sp>
      <p:sp>
        <p:nvSpPr>
          <p:cNvPr id="6" name="Marcador de texto 5">
            <a:extLst>
              <a:ext uri="{FF2B5EF4-FFF2-40B4-BE49-F238E27FC236}">
                <a16:creationId xmlns:a16="http://schemas.microsoft.com/office/drawing/2014/main" id="{00DC0A5E-EAED-4E22-E7DD-3574A402C729}"/>
              </a:ext>
            </a:extLst>
          </p:cNvPr>
          <p:cNvSpPr>
            <a:spLocks noGrp="1"/>
          </p:cNvSpPr>
          <p:nvPr>
            <p:ph type="body" sz="quarter" idx="3"/>
          </p:nvPr>
        </p:nvSpPr>
        <p:spPr/>
        <p:txBody>
          <a:bodyPr>
            <a:normAutofit fontScale="92500"/>
          </a:bodyPr>
          <a:lstStyle/>
          <a:p>
            <a:r>
              <a:rPr lang="es-EC" dirty="0">
                <a:solidFill>
                  <a:schemeClr val="accent5">
                    <a:lumMod val="75000"/>
                  </a:schemeClr>
                </a:solidFill>
              </a:rPr>
              <a:t>Dos Variables Categóricas</a:t>
            </a:r>
          </a:p>
        </p:txBody>
      </p:sp>
      <p:sp>
        <p:nvSpPr>
          <p:cNvPr id="7" name="Marcador de contenido 6">
            <a:extLst>
              <a:ext uri="{FF2B5EF4-FFF2-40B4-BE49-F238E27FC236}">
                <a16:creationId xmlns:a16="http://schemas.microsoft.com/office/drawing/2014/main" id="{0B47A24D-F2D5-83FA-69C3-3FA8E39225C6}"/>
              </a:ext>
            </a:extLst>
          </p:cNvPr>
          <p:cNvSpPr>
            <a:spLocks noGrp="1"/>
          </p:cNvSpPr>
          <p:nvPr>
            <p:ph sz="quarter" idx="4"/>
          </p:nvPr>
        </p:nvSpPr>
        <p:spPr>
          <a:xfrm>
            <a:off x="6172200" y="2520181"/>
            <a:ext cx="5183188" cy="3684588"/>
          </a:xfrm>
        </p:spPr>
        <p:txBody>
          <a:bodyPr>
            <a:normAutofit/>
          </a:bodyPr>
          <a:lstStyle/>
          <a:p>
            <a:pPr marL="0" indent="0">
              <a:buNone/>
            </a:pPr>
            <a:r>
              <a:rPr lang="es-EC" dirty="0"/>
              <a:t>Podemos usar gráficos de barras apiladas.</a:t>
            </a:r>
            <a:endParaRPr lang="es-ES" sz="2200" dirty="0"/>
          </a:p>
        </p:txBody>
      </p:sp>
      <p:sp>
        <p:nvSpPr>
          <p:cNvPr id="3" name="Marcador de texto 3">
            <a:extLst>
              <a:ext uri="{FF2B5EF4-FFF2-40B4-BE49-F238E27FC236}">
                <a16:creationId xmlns:a16="http://schemas.microsoft.com/office/drawing/2014/main" id="{12FCBD47-C150-6F00-0AF4-DC791D907647}"/>
              </a:ext>
            </a:extLst>
          </p:cNvPr>
          <p:cNvSpPr txBox="1">
            <a:spLocks/>
          </p:cNvSpPr>
          <p:nvPr/>
        </p:nvSpPr>
        <p:spPr>
          <a:xfrm>
            <a:off x="3517106" y="1435100"/>
            <a:ext cx="5157787" cy="823912"/>
          </a:xfrm>
          <a:prstGeom prst="rect">
            <a:avLst/>
          </a:prstGeom>
        </p:spPr>
        <p:txBody>
          <a:bodyPr vert="horz" lIns="91440" tIns="45720" rIns="91440" bIns="4572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EC" sz="2800" dirty="0">
                <a:solidFill>
                  <a:schemeClr val="accent5">
                    <a:lumMod val="75000"/>
                  </a:schemeClr>
                </a:solidFill>
              </a:rPr>
              <a:t>Visualización de Relaciones</a:t>
            </a:r>
            <a:br>
              <a:rPr lang="es-EC" sz="2800" dirty="0">
                <a:solidFill>
                  <a:schemeClr val="accent5">
                    <a:lumMod val="75000"/>
                  </a:schemeClr>
                </a:solidFill>
              </a:rPr>
            </a:br>
            <a:endParaRPr lang="es-EC" sz="2800" dirty="0">
              <a:solidFill>
                <a:schemeClr val="accent5">
                  <a:lumMod val="75000"/>
                </a:schemeClr>
              </a:solidFill>
            </a:endParaRPr>
          </a:p>
        </p:txBody>
      </p:sp>
    </p:spTree>
    <p:extLst>
      <p:ext uri="{BB962C8B-B14F-4D97-AF65-F5344CB8AC3E}">
        <p14:creationId xmlns:p14="http://schemas.microsoft.com/office/powerpoint/2010/main" val="1155105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A6108-052A-9884-E2B2-52708528885B}"/>
            </a:ext>
          </a:extLst>
        </p:cNvPr>
        <p:cNvGrpSpPr/>
        <p:nvPr/>
      </p:nvGrpSpPr>
      <p:grpSpPr>
        <a:xfrm>
          <a:off x="0" y="0"/>
          <a:ext cx="0" cy="0"/>
          <a:chOff x="0" y="0"/>
          <a:chExt cx="0" cy="0"/>
        </a:xfrm>
      </p:grpSpPr>
      <p:pic>
        <p:nvPicPr>
          <p:cNvPr id="3076" name="Picture 4" descr="A scatterplot of body mass vs. flipper length of penguins. The plot  displays a positive, linear, relatively strong relationship between  these two variables.">
            <a:extLst>
              <a:ext uri="{FF2B5EF4-FFF2-40B4-BE49-F238E27FC236}">
                <a16:creationId xmlns:a16="http://schemas.microsoft.com/office/drawing/2014/main" id="{A0F3CE8E-3D63-5FC3-4A90-AC63490C0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088" y="3575050"/>
            <a:ext cx="4786238" cy="319082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 scatterplot of body mass vs. flipper length of penguins. The plot  displays a positive, linear, relatively strong relationship between  these two variables. The points are colored based on the species of the  penguins and the shapes of the points represent islands (round points are  Biscoe island, triangles are Dream island, and squared are Torgersen  island). The plot is very busy and it's difficult to distinguish the shapes of the points.">
            <a:extLst>
              <a:ext uri="{FF2B5EF4-FFF2-40B4-BE49-F238E27FC236}">
                <a16:creationId xmlns:a16="http://schemas.microsoft.com/office/drawing/2014/main" id="{A0F2EEC3-107F-696E-E43D-B538E3B21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0675" y="3429000"/>
            <a:ext cx="4786238" cy="319082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E845043A-B596-E4DA-8364-879D1EB8AAAC}"/>
              </a:ext>
            </a:extLst>
          </p:cNvPr>
          <p:cNvSpPr>
            <a:spLocks noGrp="1"/>
          </p:cNvSpPr>
          <p:nvPr>
            <p:ph type="title"/>
          </p:nvPr>
        </p:nvSpPr>
        <p:spPr/>
        <p:txBody>
          <a:bodyPr>
            <a:normAutofit/>
          </a:bodyPr>
          <a:lstStyle/>
          <a:p>
            <a:r>
              <a:rPr lang="es-EC" sz="5000" b="1" dirty="0">
                <a:solidFill>
                  <a:schemeClr val="accent5">
                    <a:lumMod val="40000"/>
                    <a:lumOff val="60000"/>
                  </a:schemeClr>
                </a:solidFill>
              </a:rPr>
              <a:t>VISUALIZACIÓN DE DATOS</a:t>
            </a:r>
          </a:p>
        </p:txBody>
      </p:sp>
      <p:sp>
        <p:nvSpPr>
          <p:cNvPr id="4" name="Marcador de texto 3">
            <a:extLst>
              <a:ext uri="{FF2B5EF4-FFF2-40B4-BE49-F238E27FC236}">
                <a16:creationId xmlns:a16="http://schemas.microsoft.com/office/drawing/2014/main" id="{7D18E10E-CC1C-9A39-81B5-12DD945B6EA0}"/>
              </a:ext>
            </a:extLst>
          </p:cNvPr>
          <p:cNvSpPr>
            <a:spLocks noGrp="1"/>
          </p:cNvSpPr>
          <p:nvPr>
            <p:ph type="body" idx="1"/>
          </p:nvPr>
        </p:nvSpPr>
        <p:spPr/>
        <p:txBody>
          <a:bodyPr>
            <a:normAutofit lnSpcReduction="10000"/>
          </a:bodyPr>
          <a:lstStyle/>
          <a:p>
            <a:br>
              <a:rPr lang="es-EC" sz="2800" dirty="0">
                <a:solidFill>
                  <a:schemeClr val="accent5">
                    <a:lumMod val="75000"/>
                  </a:schemeClr>
                </a:solidFill>
              </a:rPr>
            </a:br>
            <a:r>
              <a:rPr lang="es-ES" sz="2800" dirty="0">
                <a:solidFill>
                  <a:schemeClr val="accent5">
                    <a:lumMod val="75000"/>
                  </a:schemeClr>
                </a:solidFill>
              </a:rPr>
              <a:t>Dos</a:t>
            </a:r>
            <a:r>
              <a:rPr lang="es-ES" dirty="0">
                <a:solidFill>
                  <a:schemeClr val="accent5">
                    <a:lumMod val="75000"/>
                  </a:schemeClr>
                </a:solidFill>
              </a:rPr>
              <a:t> Variables Numéricas</a:t>
            </a:r>
          </a:p>
        </p:txBody>
      </p:sp>
      <p:sp>
        <p:nvSpPr>
          <p:cNvPr id="5" name="Marcador de contenido 4">
            <a:extLst>
              <a:ext uri="{FF2B5EF4-FFF2-40B4-BE49-F238E27FC236}">
                <a16:creationId xmlns:a16="http://schemas.microsoft.com/office/drawing/2014/main" id="{D10278B8-4587-7040-6982-6B0BA47A9355}"/>
              </a:ext>
            </a:extLst>
          </p:cNvPr>
          <p:cNvSpPr>
            <a:spLocks noGrp="1"/>
          </p:cNvSpPr>
          <p:nvPr>
            <p:ph sz="half" idx="2"/>
          </p:nvPr>
        </p:nvSpPr>
        <p:spPr/>
        <p:txBody>
          <a:bodyPr>
            <a:normAutofit/>
          </a:bodyPr>
          <a:lstStyle/>
          <a:p>
            <a:pPr marL="0" indent="0" algn="just">
              <a:buNone/>
            </a:pPr>
            <a:r>
              <a:rPr lang="es-ES" sz="2100" dirty="0"/>
              <a:t>Un diagrama de dispersión es probablemente el gráfico más utilizado para visualizar la relación entre dos variables numéricas.</a:t>
            </a:r>
            <a:endParaRPr lang="es-EC" sz="2100" dirty="0"/>
          </a:p>
        </p:txBody>
      </p:sp>
      <p:sp>
        <p:nvSpPr>
          <p:cNvPr id="6" name="Marcador de texto 5">
            <a:extLst>
              <a:ext uri="{FF2B5EF4-FFF2-40B4-BE49-F238E27FC236}">
                <a16:creationId xmlns:a16="http://schemas.microsoft.com/office/drawing/2014/main" id="{BFBDD74C-74DB-8AA1-BD24-8F8CBEE14204}"/>
              </a:ext>
            </a:extLst>
          </p:cNvPr>
          <p:cNvSpPr>
            <a:spLocks noGrp="1"/>
          </p:cNvSpPr>
          <p:nvPr>
            <p:ph type="body" sz="quarter" idx="3"/>
          </p:nvPr>
        </p:nvSpPr>
        <p:spPr/>
        <p:txBody>
          <a:bodyPr>
            <a:normAutofit lnSpcReduction="10000"/>
          </a:bodyPr>
          <a:lstStyle/>
          <a:p>
            <a:r>
              <a:rPr lang="es-EC" dirty="0">
                <a:solidFill>
                  <a:schemeClr val="accent5">
                    <a:lumMod val="75000"/>
                  </a:schemeClr>
                </a:solidFill>
              </a:rPr>
              <a:t>Tres o más Variables</a:t>
            </a:r>
          </a:p>
        </p:txBody>
      </p:sp>
      <p:sp>
        <p:nvSpPr>
          <p:cNvPr id="7" name="Marcador de contenido 6">
            <a:extLst>
              <a:ext uri="{FF2B5EF4-FFF2-40B4-BE49-F238E27FC236}">
                <a16:creationId xmlns:a16="http://schemas.microsoft.com/office/drawing/2014/main" id="{50C43D3C-0282-AB67-9193-CA12E94E60B4}"/>
              </a:ext>
            </a:extLst>
          </p:cNvPr>
          <p:cNvSpPr>
            <a:spLocks noGrp="1"/>
          </p:cNvSpPr>
          <p:nvPr>
            <p:ph sz="quarter" idx="4"/>
          </p:nvPr>
        </p:nvSpPr>
        <p:spPr>
          <a:xfrm>
            <a:off x="6172200" y="2520181"/>
            <a:ext cx="5183188" cy="3684588"/>
          </a:xfrm>
        </p:spPr>
        <p:txBody>
          <a:bodyPr>
            <a:normAutofit/>
          </a:bodyPr>
          <a:lstStyle/>
          <a:p>
            <a:pPr marL="0" indent="0">
              <a:buNone/>
            </a:pPr>
            <a:r>
              <a:rPr lang="es-EC" dirty="0"/>
              <a:t>Podemos usar gráficos de barras apiladas.</a:t>
            </a:r>
            <a:endParaRPr lang="es-ES" sz="2200" dirty="0"/>
          </a:p>
        </p:txBody>
      </p:sp>
      <p:sp>
        <p:nvSpPr>
          <p:cNvPr id="3" name="Marcador de texto 3">
            <a:extLst>
              <a:ext uri="{FF2B5EF4-FFF2-40B4-BE49-F238E27FC236}">
                <a16:creationId xmlns:a16="http://schemas.microsoft.com/office/drawing/2014/main" id="{E7B029F6-1CE2-5722-5764-34B6BE5DA6E9}"/>
              </a:ext>
            </a:extLst>
          </p:cNvPr>
          <p:cNvSpPr txBox="1">
            <a:spLocks/>
          </p:cNvSpPr>
          <p:nvPr/>
        </p:nvSpPr>
        <p:spPr>
          <a:xfrm>
            <a:off x="3517106" y="1435100"/>
            <a:ext cx="5157787" cy="823912"/>
          </a:xfrm>
          <a:prstGeom prst="rect">
            <a:avLst/>
          </a:prstGeom>
        </p:spPr>
        <p:txBody>
          <a:bodyPr vert="horz" lIns="91440" tIns="45720" rIns="91440" bIns="4572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EC" sz="2800" dirty="0">
                <a:solidFill>
                  <a:schemeClr val="accent5">
                    <a:lumMod val="75000"/>
                  </a:schemeClr>
                </a:solidFill>
              </a:rPr>
              <a:t>Visualización de Relaciones</a:t>
            </a:r>
            <a:br>
              <a:rPr lang="es-EC" sz="2800" dirty="0">
                <a:solidFill>
                  <a:schemeClr val="accent5">
                    <a:lumMod val="75000"/>
                  </a:schemeClr>
                </a:solidFill>
              </a:rPr>
            </a:br>
            <a:endParaRPr lang="es-EC" sz="2800" dirty="0">
              <a:solidFill>
                <a:schemeClr val="accent5">
                  <a:lumMod val="75000"/>
                </a:schemeClr>
              </a:solidFill>
            </a:endParaRPr>
          </a:p>
        </p:txBody>
      </p:sp>
    </p:spTree>
    <p:extLst>
      <p:ext uri="{BB962C8B-B14F-4D97-AF65-F5344CB8AC3E}">
        <p14:creationId xmlns:p14="http://schemas.microsoft.com/office/powerpoint/2010/main" val="1779434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E827A-E09A-9F19-3093-8BB574AC3F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F047BC-D37B-D110-E3C2-74AA67D9BA62}"/>
              </a:ext>
            </a:extLst>
          </p:cNvPr>
          <p:cNvSpPr>
            <a:spLocks noGrp="1"/>
          </p:cNvSpPr>
          <p:nvPr>
            <p:ph type="title"/>
          </p:nvPr>
        </p:nvSpPr>
        <p:spPr>
          <a:xfrm>
            <a:off x="839788" y="302329"/>
            <a:ext cx="10515600" cy="1325563"/>
          </a:xfrm>
        </p:spPr>
        <p:txBody>
          <a:bodyPr>
            <a:normAutofit/>
          </a:bodyPr>
          <a:lstStyle/>
          <a:p>
            <a:r>
              <a:rPr lang="es-EC" sz="5000" b="1" dirty="0">
                <a:solidFill>
                  <a:schemeClr val="accent5">
                    <a:lumMod val="40000"/>
                    <a:lumOff val="60000"/>
                  </a:schemeClr>
                </a:solidFill>
              </a:rPr>
              <a:t>VISUALIZACIÓN DE DATOS</a:t>
            </a:r>
          </a:p>
        </p:txBody>
      </p:sp>
      <p:sp>
        <p:nvSpPr>
          <p:cNvPr id="13" name="Marcador de texto 12">
            <a:extLst>
              <a:ext uri="{FF2B5EF4-FFF2-40B4-BE49-F238E27FC236}">
                <a16:creationId xmlns:a16="http://schemas.microsoft.com/office/drawing/2014/main" id="{AA11DDFD-8C44-1ECA-5FAE-C928B4AC62D8}"/>
              </a:ext>
            </a:extLst>
          </p:cNvPr>
          <p:cNvSpPr>
            <a:spLocks noGrp="1"/>
          </p:cNvSpPr>
          <p:nvPr>
            <p:ph type="body" idx="1"/>
          </p:nvPr>
        </p:nvSpPr>
        <p:spPr>
          <a:xfrm>
            <a:off x="839788" y="1649688"/>
            <a:ext cx="5157787" cy="516022"/>
          </a:xfrm>
        </p:spPr>
        <p:txBody>
          <a:bodyPr/>
          <a:lstStyle/>
          <a:p>
            <a:r>
              <a:rPr lang="es-EC" dirty="0">
                <a:solidFill>
                  <a:schemeClr val="accent5">
                    <a:lumMod val="75000"/>
                  </a:schemeClr>
                </a:solidFill>
              </a:rPr>
              <a:t>Guardas tus Gráficos</a:t>
            </a:r>
          </a:p>
        </p:txBody>
      </p:sp>
      <p:sp>
        <p:nvSpPr>
          <p:cNvPr id="17" name="Marcador de contenido 16">
            <a:extLst>
              <a:ext uri="{FF2B5EF4-FFF2-40B4-BE49-F238E27FC236}">
                <a16:creationId xmlns:a16="http://schemas.microsoft.com/office/drawing/2014/main" id="{D0F23E16-601C-FF57-AE84-E9C94007644E}"/>
              </a:ext>
            </a:extLst>
          </p:cNvPr>
          <p:cNvSpPr>
            <a:spLocks noGrp="1"/>
          </p:cNvSpPr>
          <p:nvPr>
            <p:ph sz="half" idx="2"/>
          </p:nvPr>
        </p:nvSpPr>
        <p:spPr/>
        <p:txBody>
          <a:bodyPr>
            <a:normAutofit/>
          </a:bodyPr>
          <a:lstStyle/>
          <a:p>
            <a:pPr marL="0" indent="0" algn="just">
              <a:buNone/>
            </a:pPr>
            <a:r>
              <a:rPr lang="es-ES" dirty="0"/>
              <a:t>Una vez que haya creado un gráfico, es posible que desee sacarlo de R guardándolo como una imagen que pueda usar en otro lugar. Ese es el trabajo de , que guardará el gráfico creado más recientemente en el disco: </a:t>
            </a:r>
            <a:r>
              <a:rPr lang="es-ES" dirty="0" err="1">
                <a:hlinkClick r:id="rId2"/>
              </a:rPr>
              <a:t>ggsave</a:t>
            </a:r>
            <a:r>
              <a:rPr lang="es-ES" dirty="0">
                <a:hlinkClick r:id="rId2"/>
              </a:rPr>
              <a:t>()</a:t>
            </a:r>
            <a:endParaRPr lang="es-EC" dirty="0"/>
          </a:p>
        </p:txBody>
      </p:sp>
      <p:pic>
        <p:nvPicPr>
          <p:cNvPr id="6" name="Marcador de contenido 5">
            <a:extLst>
              <a:ext uri="{FF2B5EF4-FFF2-40B4-BE49-F238E27FC236}">
                <a16:creationId xmlns:a16="http://schemas.microsoft.com/office/drawing/2014/main" id="{797FE059-55F1-9E01-8B36-197982EFC370}"/>
              </a:ext>
            </a:extLst>
          </p:cNvPr>
          <p:cNvPicPr>
            <a:picLocks noGrp="1" noChangeAspect="1"/>
          </p:cNvPicPr>
          <p:nvPr>
            <p:ph sz="quarter" idx="4"/>
          </p:nvPr>
        </p:nvPicPr>
        <p:blipFill>
          <a:blip r:embed="rId3"/>
          <a:stretch>
            <a:fillRect/>
          </a:stretch>
        </p:blipFill>
        <p:spPr>
          <a:xfrm>
            <a:off x="6194427" y="3128728"/>
            <a:ext cx="5747724" cy="821103"/>
          </a:xfrm>
          <a:prstGeom prst="rect">
            <a:avLst/>
          </a:prstGeom>
        </p:spPr>
      </p:pic>
    </p:spTree>
    <p:extLst>
      <p:ext uri="{BB962C8B-B14F-4D97-AF65-F5344CB8AC3E}">
        <p14:creationId xmlns:p14="http://schemas.microsoft.com/office/powerpoint/2010/main" val="3294045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C79829-4612-8FF1-392F-1C54CDF0F943}"/>
              </a:ext>
            </a:extLst>
          </p:cNvPr>
          <p:cNvSpPr>
            <a:spLocks noGrp="1"/>
          </p:cNvSpPr>
          <p:nvPr>
            <p:ph type="title"/>
          </p:nvPr>
        </p:nvSpPr>
        <p:spPr/>
        <p:txBody>
          <a:bodyPr>
            <a:normAutofit/>
          </a:bodyPr>
          <a:lstStyle/>
          <a:p>
            <a:r>
              <a:rPr lang="es-EC" sz="5000" b="1" dirty="0">
                <a:solidFill>
                  <a:schemeClr val="accent6">
                    <a:lumMod val="75000"/>
                  </a:schemeClr>
                </a:solidFill>
              </a:rPr>
              <a:t>FLUJOS DE TRABAJO</a:t>
            </a:r>
          </a:p>
        </p:txBody>
      </p:sp>
      <p:sp>
        <p:nvSpPr>
          <p:cNvPr id="4" name="Marcador de texto 3">
            <a:extLst>
              <a:ext uri="{FF2B5EF4-FFF2-40B4-BE49-F238E27FC236}">
                <a16:creationId xmlns:a16="http://schemas.microsoft.com/office/drawing/2014/main" id="{D2AA6DC7-8D83-E31D-9566-132A4F69473B}"/>
              </a:ext>
            </a:extLst>
          </p:cNvPr>
          <p:cNvSpPr txBox="1">
            <a:spLocks noGrp="1"/>
          </p:cNvSpPr>
          <p:nvPr>
            <p:ph idx="1"/>
          </p:nvPr>
        </p:nvSpPr>
        <p:spPr>
          <a:xfrm>
            <a:off x="838200" y="182562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dirty="0">
                <a:solidFill>
                  <a:srgbClr val="0070C0"/>
                </a:solidFill>
              </a:rPr>
              <a:t>Contenido:</a:t>
            </a:r>
          </a:p>
          <a:p>
            <a:pPr algn="just">
              <a:buFont typeface="Wingdings" panose="05000000000000000000" pitchFamily="2" charset="2"/>
              <a:buChar char="Ø"/>
            </a:pPr>
            <a:r>
              <a:rPr lang="es-ES" dirty="0"/>
              <a:t> Conceptos básicos de codificación.</a:t>
            </a:r>
          </a:p>
          <a:p>
            <a:pPr algn="just">
              <a:buFont typeface="Wingdings" panose="05000000000000000000" pitchFamily="2" charset="2"/>
              <a:buChar char="Ø"/>
            </a:pPr>
            <a:r>
              <a:rPr lang="es-ES" dirty="0"/>
              <a:t> Comentarios.</a:t>
            </a:r>
          </a:p>
          <a:p>
            <a:pPr algn="just">
              <a:buFont typeface="Wingdings" panose="05000000000000000000" pitchFamily="2" charset="2"/>
              <a:buChar char="Ø"/>
            </a:pPr>
            <a:r>
              <a:rPr lang="es-ES" dirty="0"/>
              <a:t> ¿Qué hay en un nombre?.</a:t>
            </a:r>
          </a:p>
          <a:p>
            <a:pPr algn="just">
              <a:buFont typeface="Wingdings" panose="05000000000000000000" pitchFamily="2" charset="2"/>
              <a:buChar char="Ø"/>
            </a:pPr>
            <a:r>
              <a:rPr lang="es-ES" dirty="0"/>
              <a:t> Llamar a funciones.</a:t>
            </a:r>
          </a:p>
          <a:p>
            <a:pPr algn="just">
              <a:buFont typeface="Wingdings" panose="05000000000000000000" pitchFamily="2" charset="2"/>
              <a:buChar char="Ø"/>
            </a:pPr>
            <a:r>
              <a:rPr lang="es-ES" dirty="0"/>
              <a:t> Ejercicios.</a:t>
            </a:r>
          </a:p>
          <a:p>
            <a:pPr algn="just">
              <a:buFont typeface="Wingdings" panose="05000000000000000000" pitchFamily="2" charset="2"/>
              <a:buChar char="Ø"/>
            </a:pPr>
            <a:r>
              <a:rPr lang="es-ES" dirty="0"/>
              <a:t>Resumen.</a:t>
            </a:r>
            <a:endParaRPr lang="es-EC" dirty="0"/>
          </a:p>
        </p:txBody>
      </p:sp>
    </p:spTree>
    <p:extLst>
      <p:ext uri="{BB962C8B-B14F-4D97-AF65-F5344CB8AC3E}">
        <p14:creationId xmlns:p14="http://schemas.microsoft.com/office/powerpoint/2010/main" val="3259759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B7579-1C37-46BA-5A11-005731829A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3EDE7F-938C-2DEA-1828-0CF0C6D74C59}"/>
              </a:ext>
            </a:extLst>
          </p:cNvPr>
          <p:cNvSpPr>
            <a:spLocks noGrp="1"/>
          </p:cNvSpPr>
          <p:nvPr>
            <p:ph type="title"/>
          </p:nvPr>
        </p:nvSpPr>
        <p:spPr/>
        <p:txBody>
          <a:bodyPr>
            <a:normAutofit/>
          </a:bodyPr>
          <a:lstStyle/>
          <a:p>
            <a:r>
              <a:rPr lang="es-EC" sz="5000" b="1" dirty="0">
                <a:solidFill>
                  <a:schemeClr val="accent6">
                    <a:lumMod val="40000"/>
                    <a:lumOff val="60000"/>
                  </a:schemeClr>
                </a:solidFill>
              </a:rPr>
              <a:t>FLUJOS DE TRABAJO</a:t>
            </a:r>
          </a:p>
        </p:txBody>
      </p:sp>
      <p:sp>
        <p:nvSpPr>
          <p:cNvPr id="4" name="Marcador de texto 3">
            <a:extLst>
              <a:ext uri="{FF2B5EF4-FFF2-40B4-BE49-F238E27FC236}">
                <a16:creationId xmlns:a16="http://schemas.microsoft.com/office/drawing/2014/main" id="{4898FC2D-F8C8-287C-95AD-BD9124A961C5}"/>
              </a:ext>
            </a:extLst>
          </p:cNvPr>
          <p:cNvSpPr>
            <a:spLocks noGrp="1"/>
          </p:cNvSpPr>
          <p:nvPr>
            <p:ph type="body" idx="1"/>
          </p:nvPr>
        </p:nvSpPr>
        <p:spPr/>
        <p:txBody>
          <a:bodyPr>
            <a:normAutofit/>
          </a:bodyPr>
          <a:lstStyle/>
          <a:p>
            <a:r>
              <a:rPr lang="es-EC" dirty="0">
                <a:solidFill>
                  <a:schemeClr val="accent6">
                    <a:lumMod val="75000"/>
                  </a:schemeClr>
                </a:solidFill>
              </a:rPr>
              <a:t>Conceptos Básicos de Codificación</a:t>
            </a:r>
          </a:p>
        </p:txBody>
      </p:sp>
      <p:sp>
        <p:nvSpPr>
          <p:cNvPr id="5" name="Marcador de contenido 4">
            <a:extLst>
              <a:ext uri="{FF2B5EF4-FFF2-40B4-BE49-F238E27FC236}">
                <a16:creationId xmlns:a16="http://schemas.microsoft.com/office/drawing/2014/main" id="{E1179F9D-7883-2DE6-1658-BB70A56A8137}"/>
              </a:ext>
            </a:extLst>
          </p:cNvPr>
          <p:cNvSpPr>
            <a:spLocks noGrp="1"/>
          </p:cNvSpPr>
          <p:nvPr>
            <p:ph sz="half" idx="2"/>
          </p:nvPr>
        </p:nvSpPr>
        <p:spPr/>
        <p:txBody>
          <a:bodyPr/>
          <a:lstStyle/>
          <a:p>
            <a:r>
              <a:rPr lang="es-EC" dirty="0"/>
              <a:t>Hacer cálculos matemáticos básicos.</a:t>
            </a:r>
          </a:p>
          <a:p>
            <a:r>
              <a:rPr lang="es-EC" dirty="0"/>
              <a:t>Puede crear nuevos objetos con el operador de asignación: &lt;-</a:t>
            </a:r>
          </a:p>
          <a:p>
            <a:r>
              <a:rPr lang="es-EC" dirty="0"/>
              <a:t>Puede combinar varios elementos en un vector con: c().</a:t>
            </a:r>
          </a:p>
          <a:p>
            <a:endParaRPr lang="es-EC" dirty="0"/>
          </a:p>
          <a:p>
            <a:endParaRPr lang="es-EC" dirty="0"/>
          </a:p>
        </p:txBody>
      </p:sp>
      <p:sp>
        <p:nvSpPr>
          <p:cNvPr id="6" name="Marcador de texto 5">
            <a:extLst>
              <a:ext uri="{FF2B5EF4-FFF2-40B4-BE49-F238E27FC236}">
                <a16:creationId xmlns:a16="http://schemas.microsoft.com/office/drawing/2014/main" id="{B491FC07-AF06-9399-3F9F-2AAD65DA352B}"/>
              </a:ext>
            </a:extLst>
          </p:cNvPr>
          <p:cNvSpPr>
            <a:spLocks noGrp="1"/>
          </p:cNvSpPr>
          <p:nvPr>
            <p:ph type="body" sz="quarter" idx="3"/>
          </p:nvPr>
        </p:nvSpPr>
        <p:spPr/>
        <p:txBody>
          <a:bodyPr>
            <a:normAutofit/>
          </a:bodyPr>
          <a:lstStyle/>
          <a:p>
            <a:r>
              <a:rPr lang="es-EC" sz="2800" dirty="0">
                <a:solidFill>
                  <a:schemeClr val="accent6">
                    <a:lumMod val="75000"/>
                  </a:schemeClr>
                </a:solidFill>
              </a:rPr>
              <a:t>Comentarios</a:t>
            </a:r>
          </a:p>
        </p:txBody>
      </p:sp>
      <p:sp>
        <p:nvSpPr>
          <p:cNvPr id="7" name="Marcador de contenido 6">
            <a:extLst>
              <a:ext uri="{FF2B5EF4-FFF2-40B4-BE49-F238E27FC236}">
                <a16:creationId xmlns:a16="http://schemas.microsoft.com/office/drawing/2014/main" id="{F7EF3395-62C6-CC04-0C0F-9DBF25AAE637}"/>
              </a:ext>
            </a:extLst>
          </p:cNvPr>
          <p:cNvSpPr>
            <a:spLocks noGrp="1"/>
          </p:cNvSpPr>
          <p:nvPr>
            <p:ph sz="quarter" idx="4"/>
          </p:nvPr>
        </p:nvSpPr>
        <p:spPr/>
        <p:txBody>
          <a:bodyPr/>
          <a:lstStyle/>
          <a:p>
            <a:pPr algn="just"/>
            <a:r>
              <a:rPr lang="es-EC" dirty="0"/>
              <a:t>Se puede utilizar el código # para escribir comentarios; R ignorará lo escrito pero los humanos podemos leer y conocer lo que está sucediendo en el código.</a:t>
            </a:r>
          </a:p>
        </p:txBody>
      </p:sp>
    </p:spTree>
    <p:extLst>
      <p:ext uri="{BB962C8B-B14F-4D97-AF65-F5344CB8AC3E}">
        <p14:creationId xmlns:p14="http://schemas.microsoft.com/office/powerpoint/2010/main" val="651662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12AD9-D223-2EB5-7D2C-98E4CBEBB4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66EA511-44E8-FB1A-D9A5-C6F4F185EA35}"/>
              </a:ext>
            </a:extLst>
          </p:cNvPr>
          <p:cNvSpPr>
            <a:spLocks noGrp="1"/>
          </p:cNvSpPr>
          <p:nvPr>
            <p:ph type="title"/>
          </p:nvPr>
        </p:nvSpPr>
        <p:spPr/>
        <p:txBody>
          <a:bodyPr>
            <a:normAutofit/>
          </a:bodyPr>
          <a:lstStyle/>
          <a:p>
            <a:r>
              <a:rPr lang="es-EC" sz="5000" b="1" dirty="0">
                <a:solidFill>
                  <a:schemeClr val="accent6">
                    <a:lumMod val="40000"/>
                    <a:lumOff val="60000"/>
                  </a:schemeClr>
                </a:solidFill>
              </a:rPr>
              <a:t>FLUJOS DE TRABAJO</a:t>
            </a:r>
          </a:p>
        </p:txBody>
      </p:sp>
      <p:sp>
        <p:nvSpPr>
          <p:cNvPr id="4" name="Marcador de texto 3">
            <a:extLst>
              <a:ext uri="{FF2B5EF4-FFF2-40B4-BE49-F238E27FC236}">
                <a16:creationId xmlns:a16="http://schemas.microsoft.com/office/drawing/2014/main" id="{AD0E88D0-4CC9-3781-F542-366046B2192E}"/>
              </a:ext>
            </a:extLst>
          </p:cNvPr>
          <p:cNvSpPr>
            <a:spLocks noGrp="1"/>
          </p:cNvSpPr>
          <p:nvPr>
            <p:ph type="body" idx="1"/>
          </p:nvPr>
        </p:nvSpPr>
        <p:spPr/>
        <p:txBody>
          <a:bodyPr>
            <a:normAutofit/>
          </a:bodyPr>
          <a:lstStyle/>
          <a:p>
            <a:r>
              <a:rPr lang="es-EC" sz="2800" dirty="0">
                <a:solidFill>
                  <a:schemeClr val="accent6">
                    <a:lumMod val="75000"/>
                  </a:schemeClr>
                </a:solidFill>
              </a:rPr>
              <a:t>¿Qué hay en un nombre?</a:t>
            </a:r>
          </a:p>
        </p:txBody>
      </p:sp>
      <p:sp>
        <p:nvSpPr>
          <p:cNvPr id="5" name="Marcador de contenido 4">
            <a:extLst>
              <a:ext uri="{FF2B5EF4-FFF2-40B4-BE49-F238E27FC236}">
                <a16:creationId xmlns:a16="http://schemas.microsoft.com/office/drawing/2014/main" id="{FB91181F-3EEB-26FA-0710-BAECE39040C6}"/>
              </a:ext>
            </a:extLst>
          </p:cNvPr>
          <p:cNvSpPr>
            <a:spLocks noGrp="1"/>
          </p:cNvSpPr>
          <p:nvPr>
            <p:ph sz="half" idx="2"/>
          </p:nvPr>
        </p:nvSpPr>
        <p:spPr/>
        <p:txBody>
          <a:bodyPr/>
          <a:lstStyle/>
          <a:p>
            <a:r>
              <a:rPr lang="es-EC" dirty="0"/>
              <a:t>Deben comenzar con una letra y solo pueden contener letras, números y signos.</a:t>
            </a:r>
          </a:p>
          <a:p>
            <a:pPr marL="0" indent="0">
              <a:buNone/>
            </a:pPr>
            <a:endParaRPr lang="es-EC" dirty="0"/>
          </a:p>
          <a:p>
            <a:endParaRPr lang="es-EC" dirty="0"/>
          </a:p>
        </p:txBody>
      </p:sp>
      <p:sp>
        <p:nvSpPr>
          <p:cNvPr id="6" name="Marcador de texto 5">
            <a:extLst>
              <a:ext uri="{FF2B5EF4-FFF2-40B4-BE49-F238E27FC236}">
                <a16:creationId xmlns:a16="http://schemas.microsoft.com/office/drawing/2014/main" id="{5A63296A-A4C6-DC7B-4C26-6E827F923E60}"/>
              </a:ext>
            </a:extLst>
          </p:cNvPr>
          <p:cNvSpPr>
            <a:spLocks noGrp="1"/>
          </p:cNvSpPr>
          <p:nvPr>
            <p:ph type="body" sz="quarter" idx="3"/>
          </p:nvPr>
        </p:nvSpPr>
        <p:spPr/>
        <p:txBody>
          <a:bodyPr>
            <a:normAutofit/>
          </a:bodyPr>
          <a:lstStyle/>
          <a:p>
            <a:r>
              <a:rPr lang="es-EC" sz="2800" dirty="0">
                <a:solidFill>
                  <a:schemeClr val="accent6">
                    <a:lumMod val="75000"/>
                  </a:schemeClr>
                </a:solidFill>
              </a:rPr>
              <a:t>Llamar a funciones</a:t>
            </a:r>
          </a:p>
        </p:txBody>
      </p:sp>
      <p:sp>
        <p:nvSpPr>
          <p:cNvPr id="7" name="Marcador de contenido 6">
            <a:extLst>
              <a:ext uri="{FF2B5EF4-FFF2-40B4-BE49-F238E27FC236}">
                <a16:creationId xmlns:a16="http://schemas.microsoft.com/office/drawing/2014/main" id="{58FE17F0-6A26-FB6F-565C-C5E92A9FACCD}"/>
              </a:ext>
            </a:extLst>
          </p:cNvPr>
          <p:cNvSpPr>
            <a:spLocks noGrp="1"/>
          </p:cNvSpPr>
          <p:nvPr>
            <p:ph sz="quarter" idx="4"/>
          </p:nvPr>
        </p:nvSpPr>
        <p:spPr/>
        <p:txBody>
          <a:bodyPr/>
          <a:lstStyle/>
          <a:p>
            <a:pPr marL="0" indent="0" algn="just">
              <a:buNone/>
            </a:pPr>
            <a:r>
              <a:rPr lang="es-ES" dirty="0"/>
              <a:t>R tiene una gran colección de funciones integradas que se llaman con la siguiente estructura:</a:t>
            </a:r>
          </a:p>
          <a:p>
            <a:pPr algn="just"/>
            <a:endParaRPr lang="es-ES" dirty="0"/>
          </a:p>
          <a:p>
            <a:pPr marL="0" indent="0" algn="just">
              <a:buNone/>
            </a:pPr>
            <a:endParaRPr lang="es-EC" dirty="0"/>
          </a:p>
        </p:txBody>
      </p:sp>
      <p:pic>
        <p:nvPicPr>
          <p:cNvPr id="8" name="Imagen 7">
            <a:extLst>
              <a:ext uri="{FF2B5EF4-FFF2-40B4-BE49-F238E27FC236}">
                <a16:creationId xmlns:a16="http://schemas.microsoft.com/office/drawing/2014/main" id="{A89B9D48-B962-AAA3-DF74-7368199C91B4}"/>
              </a:ext>
            </a:extLst>
          </p:cNvPr>
          <p:cNvPicPr>
            <a:picLocks noChangeAspect="1"/>
          </p:cNvPicPr>
          <p:nvPr/>
        </p:nvPicPr>
        <p:blipFill>
          <a:blip r:embed="rId2"/>
          <a:stretch>
            <a:fillRect/>
          </a:stretch>
        </p:blipFill>
        <p:spPr>
          <a:xfrm>
            <a:off x="902427" y="3917365"/>
            <a:ext cx="5032507" cy="1669136"/>
          </a:xfrm>
          <a:prstGeom prst="rect">
            <a:avLst/>
          </a:prstGeom>
        </p:spPr>
      </p:pic>
      <p:pic>
        <p:nvPicPr>
          <p:cNvPr id="10" name="Imagen 9">
            <a:extLst>
              <a:ext uri="{FF2B5EF4-FFF2-40B4-BE49-F238E27FC236}">
                <a16:creationId xmlns:a16="http://schemas.microsoft.com/office/drawing/2014/main" id="{C9A957E7-CFC4-8CD8-36FA-EA77E9342FDD}"/>
              </a:ext>
            </a:extLst>
          </p:cNvPr>
          <p:cNvPicPr>
            <a:picLocks noChangeAspect="1"/>
          </p:cNvPicPr>
          <p:nvPr/>
        </p:nvPicPr>
        <p:blipFill>
          <a:blip r:embed="rId3"/>
          <a:stretch>
            <a:fillRect/>
          </a:stretch>
        </p:blipFill>
        <p:spPr>
          <a:xfrm>
            <a:off x="6194428" y="4074695"/>
            <a:ext cx="5740898" cy="823912"/>
          </a:xfrm>
          <a:prstGeom prst="rect">
            <a:avLst/>
          </a:prstGeom>
        </p:spPr>
      </p:pic>
      <p:pic>
        <p:nvPicPr>
          <p:cNvPr id="12" name="Imagen 11">
            <a:extLst>
              <a:ext uri="{FF2B5EF4-FFF2-40B4-BE49-F238E27FC236}">
                <a16:creationId xmlns:a16="http://schemas.microsoft.com/office/drawing/2014/main" id="{056818C5-B0E8-83CC-E760-984A125BD742}"/>
              </a:ext>
            </a:extLst>
          </p:cNvPr>
          <p:cNvPicPr>
            <a:picLocks noChangeAspect="1"/>
          </p:cNvPicPr>
          <p:nvPr/>
        </p:nvPicPr>
        <p:blipFill>
          <a:blip r:embed="rId4"/>
          <a:stretch>
            <a:fillRect/>
          </a:stretch>
        </p:blipFill>
        <p:spPr>
          <a:xfrm>
            <a:off x="6194428" y="5062328"/>
            <a:ext cx="5740898" cy="1116410"/>
          </a:xfrm>
          <a:prstGeom prst="rect">
            <a:avLst/>
          </a:prstGeom>
        </p:spPr>
      </p:pic>
    </p:spTree>
    <p:extLst>
      <p:ext uri="{BB962C8B-B14F-4D97-AF65-F5344CB8AC3E}">
        <p14:creationId xmlns:p14="http://schemas.microsoft.com/office/powerpoint/2010/main" val="1752656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9BA90-EA1F-96E4-AD47-42AE6C06AB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1D1CE8-9BB4-4623-C843-514BEEF8D4F7}"/>
              </a:ext>
            </a:extLst>
          </p:cNvPr>
          <p:cNvSpPr>
            <a:spLocks noGrp="1"/>
          </p:cNvSpPr>
          <p:nvPr>
            <p:ph type="title"/>
          </p:nvPr>
        </p:nvSpPr>
        <p:spPr/>
        <p:txBody>
          <a:bodyPr>
            <a:normAutofit/>
          </a:bodyPr>
          <a:lstStyle/>
          <a:p>
            <a:r>
              <a:rPr lang="es-EC" sz="5000" b="1" dirty="0">
                <a:solidFill>
                  <a:schemeClr val="accent6">
                    <a:lumMod val="40000"/>
                    <a:lumOff val="60000"/>
                  </a:schemeClr>
                </a:solidFill>
              </a:rPr>
              <a:t>FLUJOS DE TRABAJO</a:t>
            </a:r>
          </a:p>
        </p:txBody>
      </p:sp>
      <p:sp>
        <p:nvSpPr>
          <p:cNvPr id="3" name="Marcador de contenido 2">
            <a:extLst>
              <a:ext uri="{FF2B5EF4-FFF2-40B4-BE49-F238E27FC236}">
                <a16:creationId xmlns:a16="http://schemas.microsoft.com/office/drawing/2014/main" id="{F4A57FD9-3ABF-2D85-2378-3699E70A2322}"/>
              </a:ext>
            </a:extLst>
          </p:cNvPr>
          <p:cNvSpPr>
            <a:spLocks noGrp="1"/>
          </p:cNvSpPr>
          <p:nvPr>
            <p:ph idx="1"/>
          </p:nvPr>
        </p:nvSpPr>
        <p:spPr/>
        <p:txBody>
          <a:bodyPr/>
          <a:lstStyle/>
          <a:p>
            <a:r>
              <a:rPr lang="es-ES" dirty="0"/>
              <a:t>Tenga en cuenta que la pestaña de entorno en el panel superior derecho muestra todos los objetos que ha creado:</a:t>
            </a:r>
            <a:endParaRPr lang="es-EC" dirty="0"/>
          </a:p>
        </p:txBody>
      </p:sp>
      <p:pic>
        <p:nvPicPr>
          <p:cNvPr id="4098" name="Picture 2" descr="Pestaña Entorno de RStudio que muestra r_rocks, this_is_a_really_long_name, x e y en el entorno global.">
            <a:extLst>
              <a:ext uri="{FF2B5EF4-FFF2-40B4-BE49-F238E27FC236}">
                <a16:creationId xmlns:a16="http://schemas.microsoft.com/office/drawing/2014/main" id="{8E529A2D-7E33-58FB-C260-155C553B8E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937209"/>
            <a:ext cx="10501470" cy="3374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5506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1BC74-6E5E-87DC-A94C-7808BC5F25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DD8B05-B77C-A572-A0C7-69E1CDF279CA}"/>
              </a:ext>
            </a:extLst>
          </p:cNvPr>
          <p:cNvSpPr>
            <a:spLocks noGrp="1"/>
          </p:cNvSpPr>
          <p:nvPr>
            <p:ph type="title"/>
          </p:nvPr>
        </p:nvSpPr>
        <p:spPr/>
        <p:txBody>
          <a:bodyPr>
            <a:normAutofit/>
          </a:bodyPr>
          <a:lstStyle/>
          <a:p>
            <a:r>
              <a:rPr lang="es-EC" sz="5000" b="1" dirty="0">
                <a:solidFill>
                  <a:schemeClr val="accent6">
                    <a:lumMod val="40000"/>
                    <a:lumOff val="60000"/>
                  </a:schemeClr>
                </a:solidFill>
              </a:rPr>
              <a:t>FLUJOS DE TRABAJO - Ejercicios</a:t>
            </a:r>
          </a:p>
        </p:txBody>
      </p:sp>
      <p:sp>
        <p:nvSpPr>
          <p:cNvPr id="3" name="Marcador de contenido 2">
            <a:extLst>
              <a:ext uri="{FF2B5EF4-FFF2-40B4-BE49-F238E27FC236}">
                <a16:creationId xmlns:a16="http://schemas.microsoft.com/office/drawing/2014/main" id="{E2C7F343-1A1D-E104-94C3-246574D2AAC5}"/>
              </a:ext>
            </a:extLst>
          </p:cNvPr>
          <p:cNvSpPr>
            <a:spLocks noGrp="1"/>
          </p:cNvSpPr>
          <p:nvPr>
            <p:ph idx="1"/>
          </p:nvPr>
        </p:nvSpPr>
        <p:spPr/>
        <p:txBody>
          <a:bodyPr/>
          <a:lstStyle/>
          <a:p>
            <a:r>
              <a:rPr lang="es-ES" dirty="0"/>
              <a:t>¿Por qué no funciona el siguiente código?</a:t>
            </a:r>
          </a:p>
          <a:p>
            <a:endParaRPr lang="es-ES" dirty="0"/>
          </a:p>
          <a:p>
            <a:endParaRPr lang="es-ES" dirty="0"/>
          </a:p>
          <a:p>
            <a:endParaRPr lang="es-ES" dirty="0"/>
          </a:p>
          <a:p>
            <a:r>
              <a:rPr lang="es-ES" dirty="0"/>
              <a:t>Modifique cada uno de los siguientes comandos de R para que se ejecuten correctamente:</a:t>
            </a:r>
          </a:p>
          <a:p>
            <a:endParaRPr lang="es-EC" dirty="0"/>
          </a:p>
        </p:txBody>
      </p:sp>
      <p:pic>
        <p:nvPicPr>
          <p:cNvPr id="5" name="Imagen 4">
            <a:extLst>
              <a:ext uri="{FF2B5EF4-FFF2-40B4-BE49-F238E27FC236}">
                <a16:creationId xmlns:a16="http://schemas.microsoft.com/office/drawing/2014/main" id="{2165B903-72C5-6C52-9948-8AFF49342559}"/>
              </a:ext>
            </a:extLst>
          </p:cNvPr>
          <p:cNvPicPr>
            <a:picLocks noChangeAspect="1"/>
          </p:cNvPicPr>
          <p:nvPr/>
        </p:nvPicPr>
        <p:blipFill>
          <a:blip r:embed="rId2"/>
          <a:stretch>
            <a:fillRect/>
          </a:stretch>
        </p:blipFill>
        <p:spPr>
          <a:xfrm>
            <a:off x="1165100" y="2547132"/>
            <a:ext cx="5544324" cy="990738"/>
          </a:xfrm>
          <a:prstGeom prst="rect">
            <a:avLst/>
          </a:prstGeom>
        </p:spPr>
      </p:pic>
      <p:pic>
        <p:nvPicPr>
          <p:cNvPr id="7" name="Imagen 6">
            <a:extLst>
              <a:ext uri="{FF2B5EF4-FFF2-40B4-BE49-F238E27FC236}">
                <a16:creationId xmlns:a16="http://schemas.microsoft.com/office/drawing/2014/main" id="{5A81402E-087A-6B70-BDEC-1261D38C2DD4}"/>
              </a:ext>
            </a:extLst>
          </p:cNvPr>
          <p:cNvPicPr>
            <a:picLocks noChangeAspect="1"/>
          </p:cNvPicPr>
          <p:nvPr/>
        </p:nvPicPr>
        <p:blipFill>
          <a:blip r:embed="rId3"/>
          <a:stretch>
            <a:fillRect/>
          </a:stretch>
        </p:blipFill>
        <p:spPr>
          <a:xfrm>
            <a:off x="1165100" y="4959136"/>
            <a:ext cx="5506218" cy="1533739"/>
          </a:xfrm>
          <a:prstGeom prst="rect">
            <a:avLst/>
          </a:prstGeom>
        </p:spPr>
      </p:pic>
    </p:spTree>
    <p:extLst>
      <p:ext uri="{BB962C8B-B14F-4D97-AF65-F5344CB8AC3E}">
        <p14:creationId xmlns:p14="http://schemas.microsoft.com/office/powerpoint/2010/main" val="6982358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5E592-E219-55DB-2EE1-9793B87FC5F7}"/>
            </a:ext>
          </a:extLst>
        </p:cNvPr>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4B267CC9-AF54-15B0-EAE2-0B7FC540DF1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597002" y="1131216"/>
            <a:ext cx="7033167" cy="4613153"/>
          </a:xfrm>
        </p:spPr>
      </p:pic>
    </p:spTree>
    <p:extLst>
      <p:ext uri="{BB962C8B-B14F-4D97-AF65-F5344CB8AC3E}">
        <p14:creationId xmlns:p14="http://schemas.microsoft.com/office/powerpoint/2010/main" val="395147078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E204A8D-0F57-478E-AC8D-B777912FA384}">
  <we:reference id="wa200007130" version="1.0.0.1" store="es-ES" storeType="OMEX"/>
  <we:alternateReferences>
    <we:reference id="WA200007130"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1593</TotalTime>
  <Words>1186</Words>
  <Application>Microsoft Office PowerPoint</Application>
  <PresentationFormat>Panorámica</PresentationFormat>
  <Paragraphs>143</Paragraphs>
  <Slides>28</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28</vt:i4>
      </vt:variant>
    </vt:vector>
  </HeadingPairs>
  <TitlesOfParts>
    <vt:vector size="35" baseType="lpstr">
      <vt:lpstr>Arial</vt:lpstr>
      <vt:lpstr>Arial Rounded MT Bold</vt:lpstr>
      <vt:lpstr>Bahnschrift</vt:lpstr>
      <vt:lpstr>Calibri</vt:lpstr>
      <vt:lpstr>Calibri Light</vt:lpstr>
      <vt:lpstr>Wingdings</vt:lpstr>
      <vt:lpstr>Tema de Office</vt:lpstr>
      <vt:lpstr>CLUB DE LECTURA</vt:lpstr>
      <vt:lpstr>INTRODUCCIÓN</vt:lpstr>
      <vt:lpstr>INTRODUCCIÓN</vt:lpstr>
      <vt:lpstr>INTRODUCCIÓN</vt:lpstr>
      <vt:lpstr>INTRODUCCIÓN</vt:lpstr>
      <vt:lpstr>INTRODUCCIÓN</vt:lpstr>
      <vt:lpstr>Presentación de PowerPoint</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VISUALIZACIÓN DE DATOS</vt:lpstr>
      <vt:lpstr>FLUJOS DE TRABAJO</vt:lpstr>
      <vt:lpstr>FLUJOS DE TRABAJO</vt:lpstr>
      <vt:lpstr>FLUJOS DE TRABAJO</vt:lpstr>
      <vt:lpstr>FLUJOS DE TRABAJO</vt:lpstr>
      <vt:lpstr>FLUJOS DE TRABAJO - Ejercicios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 Guaranda Pincay</dc:creator>
  <cp:lastModifiedBy>Henry Guaranda Pincay</cp:lastModifiedBy>
  <cp:revision>24</cp:revision>
  <dcterms:created xsi:type="dcterms:W3CDTF">2025-09-21T22:37:01Z</dcterms:created>
  <dcterms:modified xsi:type="dcterms:W3CDTF">2025-09-23T01:10:32Z</dcterms:modified>
</cp:coreProperties>
</file>